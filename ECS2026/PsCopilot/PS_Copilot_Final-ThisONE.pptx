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going to take a hands-on look at one of the most practical things you can do with PowerShell and Microsoft 365 Copilot -- teaching Copilot about YOUR organisation's data.
I'm Rodrigo. This session comes with a full companion markdown guide and all the PowerShell scripts, so you don't need to copy code from the screen -- everything is included.
By the end of this session you will have a working mental model and reusable code you can adapt to your own environment this week.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 what is a Copilot Connector?
By default, Microsoft 365 Copilot can only reason over content that lives inside Microsoft 365 -- Teams, SharePoint, OneDrive, Outlook. That's a lot, but most organisations have enormous amounts of valuable knowledge sitting outside M365: file servers, databases, old intranets, APIs, ticketing systems.
A Copilot Connector -- sometimes called a Graph Connector -- is the bridge. It reads content from those external sources and pushes it into the Microsoft Graph index. Once it's there, Copilot treats it exactly like native M365 content: it can find it, cite it, and reason over it in response to natural language questions.
The key insight: Copilot can only answer questions about data it can see. Connectors expand its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you care about connectors? Four reasons.
First, the data problem. Studies consistently show that around 80% of enterprise knowledge never makes it into the systems AI can see. That means Copilot is answering questions with one hand tied behind its back.
Second, once you understand the pattern, it applies everywhere. The same four steps -- register app, create connection, define schema, ingest items -- work whether you're pulling from a SQL database, a REST API, or a folder full of text files. Learn it once, apply it everywhere.
Third, you don't need to be a C# developer or an Azure architect. This is pure PowerShell. If you're in this room, you already have the skills.
Fourth, the user experience is excellent. When Copilot surfaces a connector result, it includes the item title, a clickable link back to the source, and the last-modified date. Users can verify every answer. That's the trust piece that makes adoption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connector models in the Microsoft ecosystem today.
The Synced Connector -- which is what we focus on in this session -- works like a traditional ETL pipeline. You write a script that reads data from a source, transforms it into the externalItem format, and pushes it to the Graph API. Microsoft indexes it, and from that point on Copilot can find and cite it.
The Federated Connector is newer and still in preview. Instead of indexing content, it uses the Model Context Protocol to fetch data in real time when Copilot needs it. Great for highly volatile data, but the tooling is more complex and less mature.
For today we are entirely focused on the Synced model. It's production-ready, well-documented, and you can build a working connector in a single afternoon with PowerShell.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your PowerShell connector as an ETL pipeline -- Extract, Transform, Load.
Extract: read data from wherever it lives -- a file share, a database, an API, whatever.
Transform: map each record's fields to the externalItem format. Title becomes the heading in search results, URL becomes the clickable link, and the content string is what Copilot actually reads to generate answers. This is where you decide what information you want Copilot to reason over.
Load: PUT the item to the Graph API endpoint for your connection. That's it. One HTTP call per item.
The pattern at the bottom of this slide is literally the core of every connector you will ever build. The extract block changes per data source -- the transform and load blocks are almost identical every time.
This predictability is the power of the connector model. Once you understand it for one source, you understand it for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write a single line of code, let's make sure you have what you need.
PowerShell 7 is required -- the Windows PowerShell 5.1 that ships with Windows will not work with the Microsoft Graph SDK. The install link is short: aka.ms/powershell. Once installed, run Install-Module Microsoft.Graph.
You need to be able to create an app registration in Entra ID. The AI Administrator role is sufficient -- you don't need Global Admin unless your tenant restricts app registrations.
You need an M365 tenant with Copilot licences. If you don't have one, Microsoft's Developer Program at aka.ms/m365devprogram gives you a free 25-user tenant with E5 licences -- perfect for testing.
Admin consent is the piece most people miss. The permissions we need are APPLICATION permissions, not delegated. That means the script runs as the app identity with no signed-in user. Your admin needs to grant consent once after you create the app registration -- we do this with PowerShell in the next step.
Strong recommendation: build and test in a developer tenant first. Connector operations are hard to undo -- you can't edit a schema after creation.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build it. Four steps, four scripts.
Each step only needs to run once -- except the last one, which you will schedule to run on a recurring basis to keep your index fresh.
Steps 1 through 3 are setup steps. Step 4 is the ongoing pipeline.
I'll walk through each script and explain what it does and why. The full code for all four is in the companion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create an Entra app registration. This is the identity your connector script will use to authenticate against the Graph API.
The script uses Connect-MgGraph with delegated permissions to set everything up -- but once setup is done, the connector itself runs as an application identity with no signed-in user.
Two app role assignments are required. ExternalConnection.ReadWrite.OwnedBy lets the app create and manage the connection object. ExternalItem.ReadWrite.OwnedBy lets it push and update items in the index.
Critical security point: the secret printed at the end of setup.ps1 is shown only once. Save it immediately to environment variables or Azure Key Vault. Never put it in your script file -- that's how secrets end up in source control.
Store these three values as environment variables: CLIENT_ID, CLIENT_SECRET, TENANT_ID. All subsequent scripts read from those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register the connection. This is a lightweight API call that tells Microsoft Graph that a new external data source exists.
The connection ID is the most important decision you make in this step. It must be unique within your tenant, contain no spaces or special characters, and it CANNOT be changed later. If you make a typo, you need to delete the connection and recreate everything from scratch -- including re-ingesting all items. Choose carefully and document it.
The description field is worth investing time in. Copilot uses it as a hint when deciding whether to consult this connection for a given question. A description like 'Internal wiki, SOPs and how-to documents for IT and Operations' helps Copilot surface results at the right moments.
The connect-to-graph.ps1 helper at the top uses client credential flow -- application identity, no user interaction. Dot-source it at the top of every subsequent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where most connector problems originate -- so pay close attention.
The schema defines every property your items will have. Once you submit it, Microsoft provisions the index for that connection. This provisioning takes anywhere from 30 seconds to several minutes -- hence the polling loop.
The three labels you absolutely must set are title, url, and iconUrl. These map your custom property names to well-known Microsoft Search fields. Without them, your items will be in the index but will render incorrectly or not appear in Copilot answers at all.
The most important warning: the schema CANNOT be modified after creation. You cannot add, remove, or rename properties. If you need to change the schema, you must delete the entire connection -- losing all indexed items -- and start from Step 2. Always prototype your schema in a test tenant before running against production.
Also note that the content property has isRetrievable set to false. That's intentional -- the content field can be very large and you don't want it returned in every search query result. It's searchable (Copilot can reason over it) but not retrieved (it doesn't come back in result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core loop you will run on a schedule to keep your connector fresh. Let's understand the four fields every externalItem must have.
The item ID must be unique within the connection and must be URL-safe. I recommend prefixing with a type name -- 'article_', 'defect_', 'file_' -- so you can tell at a glance what kind of item it is and avoid accidental collisions across item types.
Properties must match your schema exactly. Any date-time values must be ISO 8601 UTC -- use .ToString('o') in PowerShell to get this right. If a date is formatted incorrectly the PUT will succeed but the item will index incorrectly.
The content field is what makes or breaks your connector. Copilot reads this field to generate answers. If you put in a one-line summary, you'll get one-line answers. If you put in the full text of the document including metadata context, you'll get rich, accurate answers with citations. Invest time in making this field as informative as possible.
The ACL controls visibility. The example here uses 'everyone' which means any signed-in user can see it. In the next slide we'll look at more granular ACL patterns.
Note the use of PUT not POST -- PUT is idempotent, so running the same ingest script twice won't create duplicates. It just updates existing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setup is the same regardless of where your data lives. What changes is only the EXTRACT section -- the first few lines that read data from the source.
Let me show you three concrete examples: a local file share, a REST API, and a SQL database. After these three you will have seen enough variation to adapt the pattern to virtually any source you encounter.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connector: a folder of text or markdown files. This is a great starting point for testing because you control the data entirely.
Get-ChildItem with -Recurse and -Include handles nested folder structures automatically. Add as many file extensions as you need.
The item ID transformation is important. URLs and file names often contain characters that are invalid in item IDs. The UrlEncode trick replaces percent signs with underscores to keep it alphanumeric.
For production deployments, replace the file:/// URL with a real HTTPS link -- a SharePoint page, an intranet URL, or a CDN link. Copilot opens these links when it cites the item, so they need to work for your users.
The 200ms sleep prevents hitting the Graph API rate limit. The API allows 25 concurrent writes but sustained high-rate ingest can trigger throttling. A small sleep keeps things smooth.
Content quality tip: for markdown files, the raw content is already well-structured and makes excellent Copilot material. For plain text, consider prepending metadata context -- 'Category: HR. Last reviewed: 2024. Owner: Rodrigo.' -- before the main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APIs are extremely common in enterprise environments. Ticketing systems, CRM exports, internal knowledge bases, product catalogues -- they almost all expose JSON over HTTP.
The key discipline here is pagination. Never assume a single API call returns all records. Most APIs cap responses at 50 to 100 items. The while loop pattern shown here handles any API that uses page numbers -- adapt hasNextPage to whatever your API uses: nextPageToken, cursor, total pages, whatever.
The content construction on this slide combines the article title and body into a single string. That combination gives Copilot more context than the body alone -- when Copilot cites the item, the title reinforces what the item is about.
For authentication, most internal APIs use an API key in a header. Some use OAuth tokens, basic auth, or HMAC signatures. PowerShell's Invoke-RestMethod handles all of these -- just adjust the Headers hashtable.
This same pattern works with no code changes for ServiceNow articles, Confluence pages, Jira tickets, Salesforce knowledge base records -- anything with a REST endpoint and a JSON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databases are often where the most valuable structured data in an organisation lives -- knowledge articles, product specifications, defect records, policies.
The key technical points for SQL connectors:
Always cast your reader values explicitly. $reader['Column'] returns an object type -- PowerShell sometimes handles the implicit cast, but explicit casts like [string] and [datetime] prevent subtle bugs with null values or unexpected types.
DateTimes must be converted to ISO 8601 UTC format. SQL DateTime values are often in local time -- the .ToUniversalTime() call before .ToString('o') ensures you're always storing UTC.
Close the reader AND the connection in a finally block or at the end of the script. Leaving connections open causes issues with subsequent runs.
Filter in the query itself -- WHERE IsPublished = 1, WHERE Status != 'Deleted'. Don't ingest draft or deleted records. Not only does it waste API calls, it means users might see internal drafts in their Copilot answers.
This pattern works with any ADO.NET-compatible database. For Oracle use Oracle.ManagedDataAccess. For PostgreSQL use Npgsql. For MySQL use MySql.Data. The code structure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ACL -- Access Control List -- on each externalItem determines who can see that item in Microsoft Search and Copilot results. This is the security boundary for your connector.
Four ACL patterns cover most real-world use cases.
Everyone is appropriate for content that all employees should be able to find -- public knowledge base articles, company policies, product documentation.
Entra Group restricts an item to members of a specific security group. You need the group's Object ID from Entra, not its display name. This is the right pattern for department-specific content -- clinical protocols visible only to clinical staff, for example.
User-level ACLs are precise but expensive to maintain. Use them when individual document ownership matters -- but consider whether a group model is simpler.
The deny-guests pattern is useful when you want all internal employees to see content but want to explicitly exclude external collaborators or guest users. The deny entry overrides the everyone grant for the externalGuests identity.
For systems with their own permission models -- Salesforce, ServiceNow, SharePoint -- Microsoft provides an external groups API that lets you create virtual groups mapping to your source system's permissions. That's an advanced topic beyond today's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do after your first successful ingest: enable inline results in the Admin Center, and set up a schedule.
The Admin Center step is the most commonly missed configuration. After ingest, your items will appear in Microsoft Search -- but they will NOT appear inline in Copilot chat answers until you explicitly enable 'Show results inline' for your connection in the All vertical. This is a one-time admin step. Without it, the connector works but users get no Copilot benefit.
For scheduling, you have three main options. Windows Task Scheduler is the simplest if your script runs on an always-on server. Azure Automation Runbooks are the cloud-native option and integrate cleanly with Azure Key Vault for secrets. Azure DevOps or GitHub Actions pipelines are ideal if your connector scripts live in source control -- you get versioning, PR reviews, and audit history for free.
For scheduling strategy: a full crawl every week ensures nothing drifts out of sync. A daily incremental run using a LastModified filter keeps content fresh without the cost of re-ingesting everything. The combination of the two is what most production connectors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six real-world scenarios to make this concrete. These are based on actual patterns I have seen organisations implement -- industry, data source, and Copilot use case all vary, but the PowerShell code is structurally identical across all of them.
For each scenario I will show you the business problem, the data source, the ACL pattern, and the key section of the ingest script. Pay attention to how the content field is constructed in each one -- that's where the Copilot value is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healthcare. This is one of the most common connector use cases I encounter.
The problem: clinical protocols exist as Word documents on a legacy file server. During patient care, nurses are spending time they don't have navigating UNC paths to find the right document. Copilot is in the tenant but has no idea the file server exists.
Two things worth calling out in this code.
First, the .docx handling. Word documents are actually ZIP files containing XML. This code opens the ZIP, reads the document.xml entry, and extracts the text content -- with no additional modules needed. It is a bit verbose but self-contained.
Second, the ACL. This is using a group-based ACL restricted to the Clinical Staff security group. This is critical for patient safety -- you do not want clinical protocols surfacing to administrative staff or external users. Always match your connector ACL to the security model of the source data.
The Copilot prompt at the bottom of the info card is a real example of what nurses can ask once the connector is live. That's the value proposition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construction. A custom .NET application backed by SQL Server -- a very common enterprise pattern.
The classic problem: the application has a good UI but Copilot has never heard of it. Project managers are juggling emails, Teams chats, and the defect portal simultaneously. They can't ask Copilot 'what are the critical defects on Riverside Apartments' because Copilot doesn't know the defect database exists.
Notice how the SQL query joins across three tables to produce a rich, contextual result. The title field includes the severity and project name in brackets -- this makes the item much easier to identify in search results without opening it.
The content field is a structured block that reads like a summary: project, defect number, severity, status, assignee, and full description. Copilot can answer questions like 'who owns the critical defects on this project' or 'how many high-severity defects are open across all projects' because all the information is in that content field.
The WHERE clause filters out closed defects. For a defect tracker you only want open items in the index -- closed defects are historical noise that reduces answer quality. You might want a separate 'archive' connection for historical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retail. This one demonstrates a particularly powerful use of the content field.
The business problem: customer service staff are constantly switching between Outlook, where customer questions arrive, and an internal portal, where product data lives. For a grocery retailer the most critical questions involve allergens -- 'does this product contain peanuts' is not just a customer service question, it's a safety question.
The key design decision in this connector is what goes in the content field. Notice it includes the full ingredients list, the allergens array joined as a comma-separated string, and the product description. That specific combination means a support agent can ask 'does the sourdough contain sesame' inside an Outlook email draft and get an accurate, citable answer without leaving the compose window.
Because Copilot is accessible inside Outlook through the copilot button, this connector turns the product catalogue into an always-available assistant for customer service staff. The ROI here is measurable: faster reply times, fewer errors, no tab-switching.
Note the pagination loop -- product catalogues can have tens of thousands of items. The 80ms sleep per item is appropriate for a large catalogue; tune based on your tenant's rate limit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4: higher education. A classic legacy system problem -- the content is valuable, the system is old, migration is not an option.
The creative solution here is the JSON export endpoint. Many legacy CMSs have some kind of data export -- CSV, XML, JSON feed. If your legacy system has ANY programmatic way to get data out, you can build a connector around it. You don't need an API. A scheduled export to a shared folder, a database query, a webhook -- any of these work.
Notice the content structure: the question and answer are stored explicitly as 'Q:' and 'A:' prefixed strings. This is intentional. Copilot performs better when the content format gives it clear signals about what is a question versus an answer. Including the department and category at the top also helps Copilot understand the context of the FAQ.
The tags array joined as a comma-separated string adds additional vocabulary for search matching -- a FAQ about VPN access might have tags like 'remote', 'network', 'IT support' that catch queries the question text alone wouldn't match.
For a university, the practical impact is reducing the workload on student services advisors who answer the same questions hundreds of times per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manufacturing. This demonstrates the IoT and operational technology use case.
The problem: machine fault history is locked in a specialist dashboard. Technicians on the shop floor use mobile Teams but they have to walk back to a desktop or call the control room to look up fault history. With this connector, they can ask Copilot in Teams on their mobile phone.
The nested loop pattern -- iterate machines, then iterate faults per machine -- is a common pattern when an API is resource-centric rather than flat. You'll see this in ticketing systems, CRM APIs, any system with a parent-child data model.
The content field includes machine name, plant area, error code, fault description, resolution steps, who resolved it, and downtime minutes. This gives Copilot everything it needs to answer questions about fault patterns, resolution approaches, and machine reliability history.
A practical enhancement for production: add an 'isResolved' boolean property to the schema. That lets users ask 'show me all unresolved faults on Line 3 machines' with a filter query rather than relying on Copilot to parse status from the content text.
This is also a good example of where incremental ingestion pays off -- fault events only happen occasionally, so you can check the IoT API for new events since the last run rather than re-ingesting everything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6: HR. This one is relevant to almost every organisation regardless of industry.
The pattern here combines two sources in a single connector: a SQLite database for metadata and ownership, and a file share for the actual document content. This hybrid approach is common when content and metadata live in different places.
The ACL pattern is the deny-guests pattern from the ACL slide -- all internal employees can see HR policies, but external collaborators and guests should not. That's a simple two-entry ACL: grant everyone, deny externalGuests.
The graceful fallback in the content construction is worth noting: if the actual policy file exists, use it; otherwise fall back to the Summary column from the database. This means the connector continues to function even if some files are missing or haven't been exported yet.
The business impact is significant: HR teams commonly report that answering repetitive policy questions -- leave entitlements, expense claims, grievance procedures -- consumes a disproportionate amount of their time. A connector that makes those policies instantly available to Copilot can dramatically reduce that inbox load.
PSSQLite is a lightweight PowerShell module for SQLite. If your organisation uses SQLite for any tooling or local databases, this module is worth knowing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proof that the pattern works across completely different industries and data sources.
Look at the right column -- the value column. Every single one of these represents employees spending less time switching between tools and more time doing their actual jobs. That's the Copilot value proposition at the connector level: bring knowledge to where people work.
And look at the bottom callout: the only thing that changes across all six implementations is the EXTRACT section -- the first few lines that read from the source. The transform logic, the Push-ItemToGraph function, and the Graph API call are structurally identical in all of them.
When you go back to your organisation this week, I want you to pick your single highest-value data source -- the one where 'if only Copilot knew about this, it would save us hours a week' -- and start building. The four-step setup takes about an hour. The ingest loop for a simple source takes another hour. You can have a working connector in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the most impactful best practices and the most common problems and their fixes.
On the best practices side, the three labels -- title, url, iconUrl -- are non-negotiable. Skip any one of them and your items will either not appear or appear in a broken state. Always check the labels section of your schema.
Content quality is where most connectors underperform. Developers tend to put a one-line summary in the content field and wonder why Copilot gives thin answers. The content field is Copilot's reading material -- treat it like you're writing a briefing document, not a tweet.
On troubleshooting: the most common support question I see is 'my connector works in Search but not in Copilot.' Nine times out of ten it's the missing 'Show results inline' step in the Admin Center. That setting is on slide 17 -- make a note of it.
The 403 error on first run almost always means admin consent wasn't granted. Go to Entra ID, find your app registration, go to API permissions, and click 'Grant admin consent for [tenant]'.
Schema provisioning legitimately takes time. Do not cancel and restart -- that will put you in a worse state. The polling loop in the schema script handles this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four things to remember.
One: you do not need to be a cloud architect or a C# developer to build a Copilot connector. Pure PowerShell is sufficient, and if you can write a foreach loop, you have everything you need.
Two: the four-step pattern is universal. App registration, connection, schema, ingest. Memorise those four steps and you can build any connector.
Three: invest in the content field. The quality of Copilot's answers is directly proportional to the richness of the content you index. Think about what information a person would need to answer a question about each item and put that in the content field.
Four: security is per item through the ACL. Start with 'everyone' for testing, then tighten the ACL to match your source system's permissions before going to production.
The companion markdown guide has all the code from this session plus six more scenarios and a full troubleshooting section. The link is on the title slide.
Thank you. Let's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F6CD18"/>
          </a:solidFill>
          <a:ln w="12700">
            <a:solidFill>
              <a:srgbClr val="F6CD18"/>
            </a:solidFill>
            <a:prstDash val="solid"/>
          </a:ln>
        </p:spPr>
      </p:sp>
      <p:sp>
        <p:nvSpPr>
          <p:cNvPr id="3" name="Shape 1"/>
          <p:cNvSpPr/>
          <p:nvPr/>
        </p:nvSpPr>
        <p:spPr>
          <a:xfrm>
            <a:off x="457200" y="384048"/>
            <a:ext cx="50292" cy="4114800"/>
          </a:xfrm>
          <a:prstGeom prst="rect">
            <a:avLst/>
          </a:prstGeom>
          <a:solidFill>
            <a:srgbClr val="F6CD18"/>
          </a:solidFill>
          <a:ln w="12700">
            <a:solidFill>
              <a:srgbClr val="F6CD18"/>
            </a:solidFill>
            <a:prstDash val="solid"/>
          </a:ln>
        </p:spPr>
      </p:sp>
      <p:sp>
        <p:nvSpPr>
          <p:cNvPr id="4" name="Text 2"/>
          <p:cNvSpPr/>
          <p:nvPr/>
        </p:nvSpPr>
        <p:spPr>
          <a:xfrm>
            <a:off x="685800" y="475488"/>
            <a:ext cx="8229600" cy="292608"/>
          </a:xfrm>
          <a:prstGeom prst="rect">
            <a:avLst/>
          </a:prstGeom>
          <a:noFill/>
          <a:ln/>
        </p:spPr>
        <p:txBody>
          <a:bodyPr wrap="square" lIns="0" tIns="0" rIns="0" bIns="0" rtlCol="0" anchor="ctr"/>
          <a:lstStyle/>
          <a:p>
            <a:pPr indent="0" marL="0">
              <a:buNone/>
            </a:pPr>
            <a:r>
              <a:rPr lang="en-US" sz="950" spc="300" kern="0" dirty="0">
                <a:solidFill>
                  <a:srgbClr val="7ACED7"/>
                </a:solidFill>
                <a:latin typeface="Calibri" pitchFamily="34" charset="0"/>
                <a:ea typeface="Calibri" pitchFamily="34" charset="-122"/>
                <a:cs typeface="Calibri" pitchFamily="34" charset="-120"/>
              </a:rPr>
              <a:t>POWERSHELL  |  MICROSOFT COPILOT  |  GRAPH CONNECTORS</a:t>
            </a:r>
            <a:endParaRPr lang="en-US" sz="950" dirty="0"/>
          </a:p>
        </p:txBody>
      </p:sp>
      <p:sp>
        <p:nvSpPr>
          <p:cNvPr id="5" name="Text 3"/>
          <p:cNvSpPr/>
          <p:nvPr/>
        </p:nvSpPr>
        <p:spPr>
          <a:xfrm>
            <a:off x="685800" y="841248"/>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PowerShell Meets Copilot</a:t>
            </a:r>
            <a:endParaRPr lang="en-US" sz="4600" dirty="0"/>
          </a:p>
        </p:txBody>
      </p:sp>
      <p:sp>
        <p:nvSpPr>
          <p:cNvPr id="6" name="Text 4"/>
          <p:cNvSpPr/>
          <p:nvPr/>
        </p:nvSpPr>
        <p:spPr>
          <a:xfrm>
            <a:off x="685800" y="1901952"/>
            <a:ext cx="8229600" cy="658368"/>
          </a:xfrm>
          <a:prstGeom prst="rect">
            <a:avLst/>
          </a:prstGeom>
          <a:noFill/>
          <a:ln/>
        </p:spPr>
        <p:txBody>
          <a:bodyPr wrap="square" lIns="0" tIns="0" rIns="0" bIns="0" rtlCol="0" anchor="ctr"/>
          <a:lstStyle/>
          <a:p>
            <a:pPr indent="0" marL="0">
              <a:buNone/>
            </a:pPr>
            <a:r>
              <a:rPr lang="en-US" sz="2700" dirty="0">
                <a:solidFill>
                  <a:srgbClr val="F6CD18"/>
                </a:solidFill>
                <a:latin typeface="Calibri Light" pitchFamily="34" charset="0"/>
                <a:ea typeface="Calibri Light" pitchFamily="34" charset="-122"/>
                <a:cs typeface="Calibri Light" pitchFamily="34" charset="-120"/>
              </a:rPr>
              <a:t>Feeding AI with Your Own Data</a:t>
            </a:r>
            <a:endParaRPr lang="en-US" sz="2700" dirty="0"/>
          </a:p>
        </p:txBody>
      </p:sp>
      <p:sp>
        <p:nvSpPr>
          <p:cNvPr id="7" name="Text 5"/>
          <p:cNvSpPr/>
          <p:nvPr/>
        </p:nvSpPr>
        <p:spPr>
          <a:xfrm>
            <a:off x="685800" y="2743200"/>
            <a:ext cx="7772400" cy="822960"/>
          </a:xfrm>
          <a:prstGeom prst="rect">
            <a:avLst/>
          </a:prstGeom>
          <a:noFill/>
          <a:ln/>
        </p:spPr>
        <p:txBody>
          <a:bodyPr wrap="square" lIns="0" tIns="0" rIns="0" bIns="0" rtlCol="0" anchor="ctr"/>
          <a:lstStyle/>
          <a:p>
            <a:pPr indent="0" marL="0">
              <a:buNone/>
            </a:pPr>
            <a:r>
              <a:rPr lang="en-US" sz="1250" dirty="0">
                <a:solidFill>
                  <a:srgbClr val="8A9BB5"/>
                </a:solidFill>
                <a:latin typeface="Calibri Light" pitchFamily="34" charset="0"/>
                <a:ea typeface="Calibri Light" pitchFamily="34" charset="-122"/>
                <a:cs typeface="Calibri Light" pitchFamily="34" charset="-120"/>
              </a:rPr>
              <a:t>A complete PowerShell guide to building Microsoft Graph Connectors that push</a:t>
            </a:r>
            <a:endParaRPr lang="en-US" sz="1250" dirty="0"/>
          </a:p>
          <a:p>
            <a:pPr indent="0" marL="0">
              <a:buNone/>
            </a:pPr>
            <a:r>
              <a:rPr lang="en-US" sz="1250" dirty="0">
                <a:solidFill>
                  <a:srgbClr val="8A9BB5"/>
                </a:solidFill>
                <a:latin typeface="Calibri Light" pitchFamily="34" charset="0"/>
                <a:ea typeface="Calibri Light" pitchFamily="34" charset="-122"/>
                <a:cs typeface="Calibri Light" pitchFamily="34" charset="-120"/>
              </a:rPr>
              <a:t>external files, APIs and databases into Microsoft Search so Copilot can find,</a:t>
            </a:r>
            <a:endParaRPr lang="en-US" sz="1250" dirty="0"/>
          </a:p>
          <a:p>
            <a:pPr indent="0" marL="0">
              <a:buNone/>
            </a:pPr>
            <a:r>
              <a:rPr lang="en-US" sz="1250" dirty="0">
                <a:solidFill>
                  <a:srgbClr val="8A9BB5"/>
                </a:solidFill>
                <a:latin typeface="Calibri Light" pitchFamily="34" charset="0"/>
                <a:ea typeface="Calibri Light" pitchFamily="34" charset="-122"/>
                <a:cs typeface="Calibri Light" pitchFamily="34" charset="-120"/>
              </a:rPr>
              <a:t>reason over and cite your organisation's data.</a:t>
            </a:r>
            <a:endParaRPr lang="en-US" sz="1250" dirty="0"/>
          </a:p>
        </p:txBody>
      </p:sp>
      <p:sp>
        <p:nvSpPr>
          <p:cNvPr id="8" name="Shape 6"/>
          <p:cNvSpPr/>
          <p:nvPr/>
        </p:nvSpPr>
        <p:spPr>
          <a:xfrm>
            <a:off x="0" y="4754880"/>
            <a:ext cx="9144000" cy="388620"/>
          </a:xfrm>
          <a:prstGeom prst="rect">
            <a:avLst/>
          </a:prstGeom>
          <a:solidFill>
            <a:srgbClr val="0D1520"/>
          </a:solidFill>
          <a:ln w="12700">
            <a:solidFill>
              <a:srgbClr val="0D1520"/>
            </a:solidFill>
            <a:prstDash val="solid"/>
          </a:ln>
        </p:spPr>
      </p:sp>
      <p:sp>
        <p:nvSpPr>
          <p:cNvPr id="9" name="Shape 7"/>
          <p:cNvSpPr/>
          <p:nvPr/>
        </p:nvSpPr>
        <p:spPr>
          <a:xfrm>
            <a:off x="0" y="4754880"/>
            <a:ext cx="9144000" cy="27432"/>
          </a:xfrm>
          <a:prstGeom prst="rect">
            <a:avLst/>
          </a:prstGeom>
          <a:solidFill>
            <a:srgbClr val="F6CD18"/>
          </a:solidFill>
          <a:ln w="12700">
            <a:solidFill>
              <a:srgbClr val="F6CD18"/>
            </a:solidFill>
            <a:prstDash val="solid"/>
          </a:ln>
        </p:spPr>
      </p:sp>
      <p:sp>
        <p:nvSpPr>
          <p:cNvPr id="10" name="Text 8"/>
          <p:cNvSpPr/>
          <p:nvPr/>
        </p:nvSpPr>
        <p:spPr>
          <a:xfrm>
            <a:off x="274320" y="4791456"/>
            <a:ext cx="8595360" cy="347472"/>
          </a:xfrm>
          <a:prstGeom prst="rect">
            <a:avLst/>
          </a:prstGeom>
          <a:noFill/>
          <a:ln/>
        </p:spPr>
        <p:txBody>
          <a:bodyPr wrap="square" lIns="0" tIns="0" rIns="0" bIns="0" rtlCol="0" anchor="ctr"/>
          <a:lstStyle/>
          <a:p>
            <a:pPr algn="ctr" indent="0" marL="0">
              <a:buNone/>
            </a:pPr>
            <a:r>
              <a:rPr lang="en-US" sz="1000" dirty="0">
                <a:solidFill>
                  <a:srgbClr val="8A9BB5"/>
                </a:solidFill>
                <a:latin typeface="Calibri" pitchFamily="34" charset="0"/>
                <a:ea typeface="Calibri" pitchFamily="34" charset="-122"/>
                <a:cs typeface="Calibri" pitchFamily="34" charset="-120"/>
              </a:rPr>
              <a:t>Microsoft Community Days  |  April 2026  |  Full companion guide included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WHAT IS A COPILOT CONNECTOR?</a:t>
            </a:r>
            <a:endParaRPr lang="en-US" sz="1100" dirty="0"/>
          </a:p>
        </p:txBody>
      </p:sp>
      <p:sp>
        <p:nvSpPr>
          <p:cNvPr id="5" name="Text 3"/>
          <p:cNvSpPr/>
          <p:nvPr/>
        </p:nvSpPr>
        <p:spPr>
          <a:xfrm>
            <a:off x="457200" y="749808"/>
            <a:ext cx="8321040" cy="56692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bridge that brings ANY external content into the Microsoft Graph index -- making it visible to Copilot, Microsoft Search, and every M365 app.</a:t>
            </a:r>
            <a:endParaRPr lang="en-US" sz="1350" dirty="0"/>
          </a:p>
        </p:txBody>
      </p:sp>
      <p:sp>
        <p:nvSpPr>
          <p:cNvPr id="6" name="Shape 4"/>
          <p:cNvSpPr/>
          <p:nvPr/>
        </p:nvSpPr>
        <p:spPr>
          <a:xfrm>
            <a:off x="365760" y="1444752"/>
            <a:ext cx="3931920" cy="3429000"/>
          </a:xfrm>
          <a:prstGeom prst="rect">
            <a:avLst/>
          </a:prstGeom>
          <a:solidFill>
            <a:srgbClr val="111B2D"/>
          </a:solidFill>
          <a:ln w="12700">
            <a:solidFill>
              <a:srgbClr val="1E3050"/>
            </a:solidFill>
            <a:prstDash val="solid"/>
          </a:ln>
        </p:spPr>
      </p:sp>
      <p:sp>
        <p:nvSpPr>
          <p:cNvPr id="7" name="Shape 5"/>
          <p:cNvSpPr/>
          <p:nvPr/>
        </p:nvSpPr>
        <p:spPr>
          <a:xfrm>
            <a:off x="365760" y="1444752"/>
            <a:ext cx="3931920" cy="50292"/>
          </a:xfrm>
          <a:prstGeom prst="rect">
            <a:avLst/>
          </a:prstGeom>
          <a:solidFill>
            <a:srgbClr val="4A5A72"/>
          </a:solidFill>
          <a:ln w="12700">
            <a:solidFill>
              <a:srgbClr val="4A5A72"/>
            </a:solidFill>
            <a:prstDash val="solid"/>
          </a:ln>
        </p:spPr>
      </p:sp>
      <p:sp>
        <p:nvSpPr>
          <p:cNvPr id="8" name="Text 6"/>
          <p:cNvSpPr/>
          <p:nvPr/>
        </p:nvSpPr>
        <p:spPr>
          <a:xfrm>
            <a:off x="502920" y="1527048"/>
            <a:ext cx="3657600" cy="320040"/>
          </a:xfrm>
          <a:prstGeom prst="rect">
            <a:avLst/>
          </a:prstGeom>
          <a:noFill/>
          <a:ln/>
        </p:spPr>
        <p:txBody>
          <a:bodyPr wrap="square" lIns="0" tIns="0" rIns="0" bIns="0" rtlCol="0" anchor="ctr"/>
          <a:lstStyle/>
          <a:p>
            <a:pPr indent="0" marL="0">
              <a:buNone/>
            </a:pPr>
            <a:r>
              <a:rPr lang="en-US" sz="1200" b="1" dirty="0">
                <a:solidFill>
                  <a:srgbClr val="8A9BB5"/>
                </a:solidFill>
                <a:latin typeface="Calibri" pitchFamily="34" charset="0"/>
                <a:ea typeface="Calibri" pitchFamily="34" charset="-122"/>
                <a:cs typeface="Calibri" pitchFamily="34" charset="-120"/>
              </a:rPr>
              <a:t>What Copilot sees by default</a:t>
            </a:r>
            <a:endParaRPr lang="en-US" sz="1200" dirty="0"/>
          </a:p>
        </p:txBody>
      </p:sp>
      <p:sp>
        <p:nvSpPr>
          <p:cNvPr id="9" name="Shape 7"/>
          <p:cNvSpPr/>
          <p:nvPr/>
        </p:nvSpPr>
        <p:spPr>
          <a:xfrm>
            <a:off x="502920" y="1938528"/>
            <a:ext cx="256032" cy="256032"/>
          </a:xfrm>
          <a:prstGeom prst="rect">
            <a:avLst/>
          </a:prstGeom>
          <a:solidFill>
            <a:srgbClr val="4A5A72"/>
          </a:solidFill>
          <a:ln w="12700">
            <a:solidFill>
              <a:srgbClr val="4A5A72"/>
            </a:solidFill>
            <a:prstDash val="solid"/>
          </a:ln>
        </p:spPr>
      </p:sp>
      <p:sp>
        <p:nvSpPr>
          <p:cNvPr id="10" name="Text 8"/>
          <p:cNvSpPr/>
          <p:nvPr/>
        </p:nvSpPr>
        <p:spPr>
          <a:xfrm>
            <a:off x="850392" y="1920240"/>
            <a:ext cx="3246120" cy="292608"/>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Teams conversations</a:t>
            </a:r>
            <a:endParaRPr lang="en-US" sz="1200" dirty="0"/>
          </a:p>
        </p:txBody>
      </p:sp>
      <p:sp>
        <p:nvSpPr>
          <p:cNvPr id="11" name="Shape 9"/>
          <p:cNvSpPr/>
          <p:nvPr/>
        </p:nvSpPr>
        <p:spPr>
          <a:xfrm>
            <a:off x="502920" y="2414016"/>
            <a:ext cx="256032" cy="256032"/>
          </a:xfrm>
          <a:prstGeom prst="rect">
            <a:avLst/>
          </a:prstGeom>
          <a:solidFill>
            <a:srgbClr val="4A5A72"/>
          </a:solidFill>
          <a:ln w="12700">
            <a:solidFill>
              <a:srgbClr val="4A5A72"/>
            </a:solidFill>
            <a:prstDash val="solid"/>
          </a:ln>
        </p:spPr>
      </p:sp>
      <p:sp>
        <p:nvSpPr>
          <p:cNvPr id="12" name="Text 10"/>
          <p:cNvSpPr/>
          <p:nvPr/>
        </p:nvSpPr>
        <p:spPr>
          <a:xfrm>
            <a:off x="850392" y="2395728"/>
            <a:ext cx="3246120" cy="292608"/>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SharePoint sites</a:t>
            </a:r>
            <a:endParaRPr lang="en-US" sz="1200" dirty="0"/>
          </a:p>
        </p:txBody>
      </p:sp>
      <p:sp>
        <p:nvSpPr>
          <p:cNvPr id="13" name="Shape 11"/>
          <p:cNvSpPr/>
          <p:nvPr/>
        </p:nvSpPr>
        <p:spPr>
          <a:xfrm>
            <a:off x="502920" y="2889504"/>
            <a:ext cx="256032" cy="256032"/>
          </a:xfrm>
          <a:prstGeom prst="rect">
            <a:avLst/>
          </a:prstGeom>
          <a:solidFill>
            <a:srgbClr val="4A5A72"/>
          </a:solidFill>
          <a:ln w="12700">
            <a:solidFill>
              <a:srgbClr val="4A5A72"/>
            </a:solidFill>
            <a:prstDash val="solid"/>
          </a:ln>
        </p:spPr>
      </p:sp>
      <p:sp>
        <p:nvSpPr>
          <p:cNvPr id="14" name="Text 12"/>
          <p:cNvSpPr/>
          <p:nvPr/>
        </p:nvSpPr>
        <p:spPr>
          <a:xfrm>
            <a:off x="850392" y="2871216"/>
            <a:ext cx="3246120" cy="292608"/>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OneDrive files</a:t>
            </a:r>
            <a:endParaRPr lang="en-US" sz="1200" dirty="0"/>
          </a:p>
        </p:txBody>
      </p:sp>
      <p:sp>
        <p:nvSpPr>
          <p:cNvPr id="15" name="Shape 13"/>
          <p:cNvSpPr/>
          <p:nvPr/>
        </p:nvSpPr>
        <p:spPr>
          <a:xfrm>
            <a:off x="502920" y="3364992"/>
            <a:ext cx="256032" cy="256032"/>
          </a:xfrm>
          <a:prstGeom prst="rect">
            <a:avLst/>
          </a:prstGeom>
          <a:solidFill>
            <a:srgbClr val="4A5A72"/>
          </a:solidFill>
          <a:ln w="12700">
            <a:solidFill>
              <a:srgbClr val="4A5A72"/>
            </a:solidFill>
            <a:prstDash val="solid"/>
          </a:ln>
        </p:spPr>
      </p:sp>
      <p:sp>
        <p:nvSpPr>
          <p:cNvPr id="16" name="Text 14"/>
          <p:cNvSpPr/>
          <p:nvPr/>
        </p:nvSpPr>
        <p:spPr>
          <a:xfrm>
            <a:off x="850392" y="3346704"/>
            <a:ext cx="3246120" cy="292608"/>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Outlook emails &amp; calendar</a:t>
            </a:r>
            <a:endParaRPr lang="en-US" sz="1200" dirty="0"/>
          </a:p>
        </p:txBody>
      </p:sp>
      <p:sp>
        <p:nvSpPr>
          <p:cNvPr id="17" name="Shape 15"/>
          <p:cNvSpPr/>
          <p:nvPr/>
        </p:nvSpPr>
        <p:spPr>
          <a:xfrm>
            <a:off x="502920" y="3840480"/>
            <a:ext cx="256032" cy="256032"/>
          </a:xfrm>
          <a:prstGeom prst="rect">
            <a:avLst/>
          </a:prstGeom>
          <a:solidFill>
            <a:srgbClr val="4A5A72"/>
          </a:solidFill>
          <a:ln w="12700">
            <a:solidFill>
              <a:srgbClr val="4A5A72"/>
            </a:solidFill>
            <a:prstDash val="solid"/>
          </a:ln>
        </p:spPr>
      </p:sp>
      <p:sp>
        <p:nvSpPr>
          <p:cNvPr id="18" name="Text 16"/>
          <p:cNvSpPr/>
          <p:nvPr/>
        </p:nvSpPr>
        <p:spPr>
          <a:xfrm>
            <a:off x="850392" y="3822192"/>
            <a:ext cx="3246120" cy="292608"/>
          </a:xfrm>
          <a:prstGeom prst="rect">
            <a:avLst/>
          </a:prstGeom>
          <a:noFill/>
          <a:ln/>
        </p:spPr>
        <p:txBody>
          <a:bodyPr wrap="square" lIns="0" tIns="0" rIns="0" bIns="0" rtlCol="0" anchor="ctr"/>
          <a:lstStyle/>
          <a:p>
            <a:pPr indent="0" marL="0">
              <a:buNone/>
            </a:pPr>
            <a:r>
              <a:rPr lang="en-US" sz="1200" dirty="0">
                <a:solidFill>
                  <a:srgbClr val="8A9BB5"/>
                </a:solidFill>
                <a:latin typeface="Calibri" pitchFamily="34" charset="0"/>
                <a:ea typeface="Calibri" pitchFamily="34" charset="-122"/>
                <a:cs typeface="Calibri" pitchFamily="34" charset="-120"/>
              </a:rPr>
              <a:t>M365 apps (Word, Excel, Loop...)</a:t>
            </a:r>
            <a:endParaRPr lang="en-US" sz="1200" dirty="0"/>
          </a:p>
        </p:txBody>
      </p:sp>
      <p:sp>
        <p:nvSpPr>
          <p:cNvPr id="19" name="Shape 17"/>
          <p:cNvSpPr/>
          <p:nvPr/>
        </p:nvSpPr>
        <p:spPr>
          <a:xfrm>
            <a:off x="4370832" y="3017520"/>
            <a:ext cx="411480" cy="50292"/>
          </a:xfrm>
          <a:prstGeom prst="rect">
            <a:avLst/>
          </a:prstGeom>
          <a:solidFill>
            <a:srgbClr val="F6CD18"/>
          </a:solidFill>
          <a:ln w="12700">
            <a:solidFill>
              <a:srgbClr val="F6CD18"/>
            </a:solidFill>
            <a:prstDash val="solid"/>
          </a:ln>
        </p:spPr>
      </p:sp>
      <p:sp>
        <p:nvSpPr>
          <p:cNvPr id="20" name="Shape 18"/>
          <p:cNvSpPr/>
          <p:nvPr/>
        </p:nvSpPr>
        <p:spPr>
          <a:xfrm>
            <a:off x="4370832" y="2743200"/>
            <a:ext cx="50292" cy="566928"/>
          </a:xfrm>
          <a:prstGeom prst="rect">
            <a:avLst/>
          </a:prstGeom>
          <a:solidFill>
            <a:srgbClr val="F6CD18"/>
          </a:solidFill>
          <a:ln w="12700">
            <a:solidFill>
              <a:srgbClr val="F6CD18"/>
            </a:solidFill>
            <a:prstDash val="solid"/>
          </a:ln>
        </p:spPr>
      </p:sp>
      <p:sp>
        <p:nvSpPr>
          <p:cNvPr id="21" name="Text 19"/>
          <p:cNvSpPr/>
          <p:nvPr/>
        </p:nvSpPr>
        <p:spPr>
          <a:xfrm>
            <a:off x="4279392" y="3337560"/>
            <a:ext cx="594360" cy="274320"/>
          </a:xfrm>
          <a:prstGeom prst="rect">
            <a:avLst/>
          </a:prstGeom>
          <a:noFill/>
          <a:ln/>
        </p:spPr>
        <p:txBody>
          <a:bodyPr wrap="square" lIns="0" tIns="0" rIns="0" bIns="0" rtlCol="0" anchor="ctr"/>
          <a:lstStyle/>
          <a:p>
            <a:pPr algn="ctr" indent="0" marL="0">
              <a:buNone/>
            </a:pPr>
            <a:r>
              <a:rPr lang="en-US" sz="850" b="1" dirty="0">
                <a:solidFill>
                  <a:srgbClr val="F6CD18"/>
                </a:solidFill>
                <a:latin typeface="Calibri" pitchFamily="34" charset="0"/>
                <a:ea typeface="Calibri" pitchFamily="34" charset="-122"/>
                <a:cs typeface="Calibri" pitchFamily="34" charset="-120"/>
              </a:rPr>
              <a:t>Connector</a:t>
            </a:r>
            <a:endParaRPr lang="en-US" sz="850" dirty="0"/>
          </a:p>
        </p:txBody>
      </p:sp>
      <p:sp>
        <p:nvSpPr>
          <p:cNvPr id="22" name="Shape 20"/>
          <p:cNvSpPr/>
          <p:nvPr/>
        </p:nvSpPr>
        <p:spPr>
          <a:xfrm>
            <a:off x="4864608" y="1444752"/>
            <a:ext cx="3913632" cy="3429000"/>
          </a:xfrm>
          <a:prstGeom prst="rect">
            <a:avLst/>
          </a:prstGeom>
          <a:solidFill>
            <a:srgbClr val="111B2D"/>
          </a:solidFill>
          <a:ln w="19050">
            <a:solidFill>
              <a:srgbClr val="F6CD18"/>
            </a:solidFill>
            <a:prstDash val="solid"/>
          </a:ln>
        </p:spPr>
      </p:sp>
      <p:sp>
        <p:nvSpPr>
          <p:cNvPr id="23" name="Shape 21"/>
          <p:cNvSpPr/>
          <p:nvPr/>
        </p:nvSpPr>
        <p:spPr>
          <a:xfrm>
            <a:off x="4864608" y="1444752"/>
            <a:ext cx="3913632" cy="50292"/>
          </a:xfrm>
          <a:prstGeom prst="rect">
            <a:avLst/>
          </a:prstGeom>
          <a:solidFill>
            <a:srgbClr val="F6CD18"/>
          </a:solidFill>
          <a:ln w="12700">
            <a:solidFill>
              <a:srgbClr val="F6CD18"/>
            </a:solidFill>
            <a:prstDash val="solid"/>
          </a:ln>
        </p:spPr>
      </p:sp>
      <p:sp>
        <p:nvSpPr>
          <p:cNvPr id="24" name="Text 22"/>
          <p:cNvSpPr/>
          <p:nvPr/>
        </p:nvSpPr>
        <p:spPr>
          <a:xfrm>
            <a:off x="5001768" y="1527048"/>
            <a:ext cx="3657600" cy="320040"/>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What a Connector unlocks</a:t>
            </a:r>
            <a:endParaRPr lang="en-US" sz="1200" dirty="0"/>
          </a:p>
        </p:txBody>
      </p:sp>
      <p:sp>
        <p:nvSpPr>
          <p:cNvPr id="25" name="Shape 23"/>
          <p:cNvSpPr/>
          <p:nvPr/>
        </p:nvSpPr>
        <p:spPr>
          <a:xfrm>
            <a:off x="5001768" y="1938528"/>
            <a:ext cx="256032" cy="256032"/>
          </a:xfrm>
          <a:prstGeom prst="ellipse">
            <a:avLst/>
          </a:prstGeom>
          <a:solidFill>
            <a:srgbClr val="F6CD18"/>
          </a:solidFill>
          <a:ln w="12700">
            <a:solidFill>
              <a:srgbClr val="F6CD18"/>
            </a:solidFill>
            <a:prstDash val="solid"/>
          </a:ln>
        </p:spPr>
      </p:sp>
      <p:sp>
        <p:nvSpPr>
          <p:cNvPr id="26" name="Text 24"/>
          <p:cNvSpPr/>
          <p:nvPr/>
        </p:nvSpPr>
        <p:spPr>
          <a:xfrm>
            <a:off x="5349240" y="1920240"/>
            <a:ext cx="32918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File servers &amp; network shares</a:t>
            </a:r>
            <a:endParaRPr lang="en-US" sz="1200" dirty="0"/>
          </a:p>
        </p:txBody>
      </p:sp>
      <p:sp>
        <p:nvSpPr>
          <p:cNvPr id="27" name="Shape 25"/>
          <p:cNvSpPr/>
          <p:nvPr/>
        </p:nvSpPr>
        <p:spPr>
          <a:xfrm>
            <a:off x="5001768" y="2414016"/>
            <a:ext cx="256032" cy="256032"/>
          </a:xfrm>
          <a:prstGeom prst="ellipse">
            <a:avLst/>
          </a:prstGeom>
          <a:solidFill>
            <a:srgbClr val="F6CD18"/>
          </a:solidFill>
          <a:ln w="12700">
            <a:solidFill>
              <a:srgbClr val="F6CD18"/>
            </a:solidFill>
            <a:prstDash val="solid"/>
          </a:ln>
        </p:spPr>
      </p:sp>
      <p:sp>
        <p:nvSpPr>
          <p:cNvPr id="28" name="Text 26"/>
          <p:cNvSpPr/>
          <p:nvPr/>
        </p:nvSpPr>
        <p:spPr>
          <a:xfrm>
            <a:off x="5349240" y="2395728"/>
            <a:ext cx="32918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Internal REST APIs</a:t>
            </a:r>
            <a:endParaRPr lang="en-US" sz="1200" dirty="0"/>
          </a:p>
        </p:txBody>
      </p:sp>
      <p:sp>
        <p:nvSpPr>
          <p:cNvPr id="29" name="Shape 27"/>
          <p:cNvSpPr/>
          <p:nvPr/>
        </p:nvSpPr>
        <p:spPr>
          <a:xfrm>
            <a:off x="5001768" y="2889504"/>
            <a:ext cx="256032" cy="256032"/>
          </a:xfrm>
          <a:prstGeom prst="ellipse">
            <a:avLst/>
          </a:prstGeom>
          <a:solidFill>
            <a:srgbClr val="F6CD18"/>
          </a:solidFill>
          <a:ln w="12700">
            <a:solidFill>
              <a:srgbClr val="F6CD18"/>
            </a:solidFill>
            <a:prstDash val="solid"/>
          </a:ln>
        </p:spPr>
      </p:sp>
      <p:sp>
        <p:nvSpPr>
          <p:cNvPr id="30" name="Text 28"/>
          <p:cNvSpPr/>
          <p:nvPr/>
        </p:nvSpPr>
        <p:spPr>
          <a:xfrm>
            <a:off x="5349240" y="2871216"/>
            <a:ext cx="32918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SQL / Oracle databases</a:t>
            </a:r>
            <a:endParaRPr lang="en-US" sz="1200" dirty="0"/>
          </a:p>
        </p:txBody>
      </p:sp>
      <p:sp>
        <p:nvSpPr>
          <p:cNvPr id="31" name="Shape 29"/>
          <p:cNvSpPr/>
          <p:nvPr/>
        </p:nvSpPr>
        <p:spPr>
          <a:xfrm>
            <a:off x="5001768" y="3364992"/>
            <a:ext cx="256032" cy="256032"/>
          </a:xfrm>
          <a:prstGeom prst="ellipse">
            <a:avLst/>
          </a:prstGeom>
          <a:solidFill>
            <a:srgbClr val="F6CD18"/>
          </a:solidFill>
          <a:ln w="12700">
            <a:solidFill>
              <a:srgbClr val="F6CD18"/>
            </a:solidFill>
            <a:prstDash val="solid"/>
          </a:ln>
        </p:spPr>
      </p:sp>
      <p:sp>
        <p:nvSpPr>
          <p:cNvPr id="32" name="Text 30"/>
          <p:cNvSpPr/>
          <p:nvPr/>
        </p:nvSpPr>
        <p:spPr>
          <a:xfrm>
            <a:off x="5349240" y="3346704"/>
            <a:ext cx="32918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Legacy intranets &amp; wikis</a:t>
            </a:r>
            <a:endParaRPr lang="en-US" sz="1200" dirty="0"/>
          </a:p>
        </p:txBody>
      </p:sp>
      <p:sp>
        <p:nvSpPr>
          <p:cNvPr id="33" name="Shape 31"/>
          <p:cNvSpPr/>
          <p:nvPr/>
        </p:nvSpPr>
        <p:spPr>
          <a:xfrm>
            <a:off x="5001768" y="3840480"/>
            <a:ext cx="256032" cy="256032"/>
          </a:xfrm>
          <a:prstGeom prst="ellipse">
            <a:avLst/>
          </a:prstGeom>
          <a:solidFill>
            <a:srgbClr val="F6CD18"/>
          </a:solidFill>
          <a:ln w="12700">
            <a:solidFill>
              <a:srgbClr val="F6CD18"/>
            </a:solidFill>
            <a:prstDash val="solid"/>
          </a:ln>
        </p:spPr>
      </p:sp>
      <p:sp>
        <p:nvSpPr>
          <p:cNvPr id="34" name="Text 32"/>
          <p:cNvSpPr/>
          <p:nvPr/>
        </p:nvSpPr>
        <p:spPr>
          <a:xfrm>
            <a:off x="5349240" y="3822192"/>
            <a:ext cx="329184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IoT systems, CRM, ERP, ticketing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WHY COPILOT CONNECTORS MATTER</a:t>
            </a:r>
            <a:endParaRPr lang="en-US" sz="1100" dirty="0"/>
          </a:p>
        </p:txBody>
      </p:sp>
      <p:sp>
        <p:nvSpPr>
          <p:cNvPr id="5" name="Text 3"/>
          <p:cNvSpPr/>
          <p:nvPr/>
        </p:nvSpPr>
        <p:spPr>
          <a:xfrm>
            <a:off x="457200" y="749808"/>
            <a:ext cx="832104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Most enterprise knowledge is invisible to AI. Connectors change that.</a:t>
            </a:r>
            <a:endParaRPr lang="en-US" sz="1400" dirty="0"/>
          </a:p>
        </p:txBody>
      </p:sp>
      <p:sp>
        <p:nvSpPr>
          <p:cNvPr id="6" name="Shape 4"/>
          <p:cNvSpPr/>
          <p:nvPr/>
        </p:nvSpPr>
        <p:spPr>
          <a:xfrm>
            <a:off x="365760" y="1298448"/>
            <a:ext cx="4069080" cy="169164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7" name="Shape 5"/>
          <p:cNvSpPr/>
          <p:nvPr/>
        </p:nvSpPr>
        <p:spPr>
          <a:xfrm>
            <a:off x="365760" y="1298448"/>
            <a:ext cx="50292" cy="1691640"/>
          </a:xfrm>
          <a:prstGeom prst="rect">
            <a:avLst/>
          </a:prstGeom>
          <a:solidFill>
            <a:srgbClr val="EE2659"/>
          </a:solidFill>
          <a:ln w="12700">
            <a:solidFill>
              <a:srgbClr val="EE2659"/>
            </a:solidFill>
            <a:prstDash val="solid"/>
          </a:ln>
        </p:spPr>
      </p:sp>
      <p:sp>
        <p:nvSpPr>
          <p:cNvPr id="8" name="Text 6"/>
          <p:cNvSpPr/>
          <p:nvPr/>
        </p:nvSpPr>
        <p:spPr>
          <a:xfrm>
            <a:off x="521208" y="1389888"/>
            <a:ext cx="3749040" cy="475488"/>
          </a:xfrm>
          <a:prstGeom prst="rect">
            <a:avLst/>
          </a:prstGeom>
          <a:noFill/>
          <a:ln/>
        </p:spPr>
        <p:txBody>
          <a:bodyPr wrap="square" lIns="0" tIns="0" rIns="0" bIns="0" rtlCol="0" anchor="ctr"/>
          <a:lstStyle/>
          <a:p>
            <a:pPr indent="0" marL="0">
              <a:buNone/>
            </a:pPr>
            <a:r>
              <a:rPr lang="en-US" sz="2800" b="1" dirty="0">
                <a:solidFill>
                  <a:srgbClr val="EE2659"/>
                </a:solidFill>
                <a:latin typeface="Calibri" pitchFamily="34" charset="0"/>
                <a:ea typeface="Calibri" pitchFamily="34" charset="-122"/>
                <a:cs typeface="Calibri" pitchFamily="34" charset="-120"/>
              </a:rPr>
              <a:t>~80%</a:t>
            </a:r>
            <a:endParaRPr lang="en-US" sz="2800" dirty="0"/>
          </a:p>
        </p:txBody>
      </p:sp>
      <p:sp>
        <p:nvSpPr>
          <p:cNvPr id="9" name="Text 7"/>
          <p:cNvSpPr/>
          <p:nvPr/>
        </p:nvSpPr>
        <p:spPr>
          <a:xfrm>
            <a:off x="521208" y="1865376"/>
            <a:ext cx="374904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of enterprise data never reaches your AI tools</a:t>
            </a:r>
            <a:endParaRPr lang="en-US" sz="1150" dirty="0"/>
          </a:p>
        </p:txBody>
      </p:sp>
      <p:sp>
        <p:nvSpPr>
          <p:cNvPr id="10" name="Text 8"/>
          <p:cNvSpPr/>
          <p:nvPr/>
        </p:nvSpPr>
        <p:spPr>
          <a:xfrm>
            <a:off x="521208" y="2185416"/>
            <a:ext cx="3749040" cy="685800"/>
          </a:xfrm>
          <a:prstGeom prst="rect">
            <a:avLst/>
          </a:prstGeom>
          <a:noFill/>
          <a:ln/>
        </p:spPr>
        <p:txBody>
          <a:bodyPr wrap="square" lIns="0" tIns="0" rIns="0" bIns="0" rtlCol="0" anchor="ctr"/>
          <a:lstStyle/>
          <a:p>
            <a:pPr indent="0" marL="0">
              <a:buNone/>
            </a:pPr>
            <a:r>
              <a:rPr lang="en-US" sz="1000" dirty="0">
                <a:solidFill>
                  <a:srgbClr val="8A9BB5"/>
                </a:solidFill>
                <a:latin typeface="Calibri" pitchFamily="34" charset="0"/>
                <a:ea typeface="Calibri" pitchFamily="34" charset="-122"/>
                <a:cs typeface="Calibri" pitchFamily="34" charset="-120"/>
              </a:rPr>
              <a:t>Files on shares, rows in databases, pages on legacy intranets -- invisible to Copilot without a connector.</a:t>
            </a:r>
            <a:endParaRPr lang="en-US" sz="1000" dirty="0"/>
          </a:p>
        </p:txBody>
      </p:sp>
      <p:sp>
        <p:nvSpPr>
          <p:cNvPr id="11" name="Shape 9"/>
          <p:cNvSpPr/>
          <p:nvPr/>
        </p:nvSpPr>
        <p:spPr>
          <a:xfrm>
            <a:off x="4681728" y="1298448"/>
            <a:ext cx="4069080" cy="169164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12" name="Shape 10"/>
          <p:cNvSpPr/>
          <p:nvPr/>
        </p:nvSpPr>
        <p:spPr>
          <a:xfrm>
            <a:off x="4681728" y="1298448"/>
            <a:ext cx="50292" cy="1691640"/>
          </a:xfrm>
          <a:prstGeom prst="rect">
            <a:avLst/>
          </a:prstGeom>
          <a:solidFill>
            <a:srgbClr val="F6CD18"/>
          </a:solidFill>
          <a:ln w="12700">
            <a:solidFill>
              <a:srgbClr val="F6CD18"/>
            </a:solidFill>
            <a:prstDash val="solid"/>
          </a:ln>
        </p:spPr>
      </p:sp>
      <p:sp>
        <p:nvSpPr>
          <p:cNvPr id="13" name="Text 11"/>
          <p:cNvSpPr/>
          <p:nvPr/>
        </p:nvSpPr>
        <p:spPr>
          <a:xfrm>
            <a:off x="4837176" y="1389888"/>
            <a:ext cx="3749040" cy="475488"/>
          </a:xfrm>
          <a:prstGeom prst="rect">
            <a:avLst/>
          </a:prstGeom>
          <a:noFill/>
          <a:ln/>
        </p:spPr>
        <p:txBody>
          <a:bodyPr wrap="square" lIns="0" tIns="0" rIns="0" bIns="0" rtlCol="0" anchor="ctr"/>
          <a:lstStyle/>
          <a:p>
            <a:pPr indent="0" marL="0">
              <a:buNone/>
            </a:pPr>
            <a:r>
              <a:rPr lang="en-US" sz="2800" b="1" dirty="0">
                <a:solidFill>
                  <a:srgbClr val="F6CD18"/>
                </a:solidFill>
                <a:latin typeface="Calibri" pitchFamily="34" charset="0"/>
                <a:ea typeface="Calibri" pitchFamily="34" charset="-122"/>
                <a:cs typeface="Calibri" pitchFamily="34" charset="-120"/>
              </a:rPr>
              <a:t>1 pattern</a:t>
            </a:r>
            <a:endParaRPr lang="en-US" sz="2800" dirty="0"/>
          </a:p>
        </p:txBody>
      </p:sp>
      <p:sp>
        <p:nvSpPr>
          <p:cNvPr id="14" name="Text 12"/>
          <p:cNvSpPr/>
          <p:nvPr/>
        </p:nvSpPr>
        <p:spPr>
          <a:xfrm>
            <a:off x="4837176" y="1865376"/>
            <a:ext cx="374904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covers every data source you will ever connect</a:t>
            </a:r>
            <a:endParaRPr lang="en-US" sz="1150" dirty="0"/>
          </a:p>
        </p:txBody>
      </p:sp>
      <p:sp>
        <p:nvSpPr>
          <p:cNvPr id="15" name="Text 13"/>
          <p:cNvSpPr/>
          <p:nvPr/>
        </p:nvSpPr>
        <p:spPr>
          <a:xfrm>
            <a:off x="4837176" y="2185416"/>
            <a:ext cx="3749040" cy="685800"/>
          </a:xfrm>
          <a:prstGeom prst="rect">
            <a:avLst/>
          </a:prstGeom>
          <a:noFill/>
          <a:ln/>
        </p:spPr>
        <p:txBody>
          <a:bodyPr wrap="square" lIns="0" tIns="0" rIns="0" bIns="0" rtlCol="0" anchor="ctr"/>
          <a:lstStyle/>
          <a:p>
            <a:pPr indent="0" marL="0">
              <a:buNone/>
            </a:pPr>
            <a:r>
              <a:rPr lang="en-US" sz="1000" dirty="0">
                <a:solidFill>
                  <a:srgbClr val="8A9BB5"/>
                </a:solidFill>
                <a:latin typeface="Calibri" pitchFamily="34" charset="0"/>
                <a:ea typeface="Calibri" pitchFamily="34" charset="-122"/>
                <a:cs typeface="Calibri" pitchFamily="34" charset="-120"/>
              </a:rPr>
              <a:t>Register App &gt; Create Connection &gt; Define Schema &gt; Ingest Items. The same four steps whether it's SQL, REST or files.</a:t>
            </a:r>
            <a:endParaRPr lang="en-US" sz="1000" dirty="0"/>
          </a:p>
        </p:txBody>
      </p:sp>
      <p:sp>
        <p:nvSpPr>
          <p:cNvPr id="16" name="Shape 14"/>
          <p:cNvSpPr/>
          <p:nvPr/>
        </p:nvSpPr>
        <p:spPr>
          <a:xfrm>
            <a:off x="365760" y="3127248"/>
            <a:ext cx="4069080" cy="169164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17" name="Shape 15"/>
          <p:cNvSpPr/>
          <p:nvPr/>
        </p:nvSpPr>
        <p:spPr>
          <a:xfrm>
            <a:off x="365760" y="3127248"/>
            <a:ext cx="50292" cy="1691640"/>
          </a:xfrm>
          <a:prstGeom prst="rect">
            <a:avLst/>
          </a:prstGeom>
          <a:solidFill>
            <a:srgbClr val="7ACED7"/>
          </a:solidFill>
          <a:ln w="12700">
            <a:solidFill>
              <a:srgbClr val="7ACED7"/>
            </a:solidFill>
            <a:prstDash val="solid"/>
          </a:ln>
        </p:spPr>
      </p:sp>
      <p:sp>
        <p:nvSpPr>
          <p:cNvPr id="18" name="Text 16"/>
          <p:cNvSpPr/>
          <p:nvPr/>
        </p:nvSpPr>
        <p:spPr>
          <a:xfrm>
            <a:off x="521208" y="3218688"/>
            <a:ext cx="3749040" cy="475488"/>
          </a:xfrm>
          <a:prstGeom prst="rect">
            <a:avLst/>
          </a:prstGeom>
          <a:noFill/>
          <a:ln/>
        </p:spPr>
        <p:txBody>
          <a:bodyPr wrap="square" lIns="0" tIns="0" rIns="0" bIns="0" rtlCol="0" anchor="ctr"/>
          <a:lstStyle/>
          <a:p>
            <a:pPr indent="0" marL="0">
              <a:buNone/>
            </a:pPr>
            <a:r>
              <a:rPr lang="en-US" sz="2800" b="1" dirty="0">
                <a:solidFill>
                  <a:srgbClr val="7ACED7"/>
                </a:solidFill>
                <a:latin typeface="Calibri" pitchFamily="34" charset="0"/>
                <a:ea typeface="Calibri" pitchFamily="34" charset="-122"/>
                <a:cs typeface="Calibri" pitchFamily="34" charset="-120"/>
              </a:rPr>
              <a:t>No C#</a:t>
            </a:r>
            <a:endParaRPr lang="en-US" sz="2800" dirty="0"/>
          </a:p>
        </p:txBody>
      </p:sp>
      <p:sp>
        <p:nvSpPr>
          <p:cNvPr id="19" name="Text 17"/>
          <p:cNvSpPr/>
          <p:nvPr/>
        </p:nvSpPr>
        <p:spPr>
          <a:xfrm>
            <a:off x="521208" y="3694176"/>
            <a:ext cx="374904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no Azure Functions, no custom middleware required</a:t>
            </a:r>
            <a:endParaRPr lang="en-US" sz="1150" dirty="0"/>
          </a:p>
        </p:txBody>
      </p:sp>
      <p:sp>
        <p:nvSpPr>
          <p:cNvPr id="20" name="Text 18"/>
          <p:cNvSpPr/>
          <p:nvPr/>
        </p:nvSpPr>
        <p:spPr>
          <a:xfrm>
            <a:off x="521208" y="4014216"/>
            <a:ext cx="3749040" cy="685800"/>
          </a:xfrm>
          <a:prstGeom prst="rect">
            <a:avLst/>
          </a:prstGeom>
          <a:noFill/>
          <a:ln/>
        </p:spPr>
        <p:txBody>
          <a:bodyPr wrap="square" lIns="0" tIns="0" rIns="0" bIns="0" rtlCol="0" anchor="ctr"/>
          <a:lstStyle/>
          <a:p>
            <a:pPr indent="0" marL="0">
              <a:buNone/>
            </a:pPr>
            <a:r>
              <a:rPr lang="en-US" sz="1000" dirty="0">
                <a:solidFill>
                  <a:srgbClr val="8A9BB5"/>
                </a:solidFill>
                <a:latin typeface="Calibri" pitchFamily="34" charset="0"/>
                <a:ea typeface="Calibri" pitchFamily="34" charset="-122"/>
                <a:cs typeface="Calibri" pitchFamily="34" charset="-120"/>
              </a:rPr>
              <a:t>Pure PowerShell and the Microsoft Graph SDK. If you can write a foreach loop, you can build a connector today.</a:t>
            </a:r>
            <a:endParaRPr lang="en-US" sz="1000" dirty="0"/>
          </a:p>
        </p:txBody>
      </p:sp>
      <p:sp>
        <p:nvSpPr>
          <p:cNvPr id="21" name="Shape 19"/>
          <p:cNvSpPr/>
          <p:nvPr/>
        </p:nvSpPr>
        <p:spPr>
          <a:xfrm>
            <a:off x="4681728" y="3127248"/>
            <a:ext cx="4069080" cy="169164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22" name="Shape 20"/>
          <p:cNvSpPr/>
          <p:nvPr/>
        </p:nvSpPr>
        <p:spPr>
          <a:xfrm>
            <a:off x="4681728" y="3127248"/>
            <a:ext cx="50292" cy="1691640"/>
          </a:xfrm>
          <a:prstGeom prst="rect">
            <a:avLst/>
          </a:prstGeom>
          <a:solidFill>
            <a:srgbClr val="3DD68C"/>
          </a:solidFill>
          <a:ln w="12700">
            <a:solidFill>
              <a:srgbClr val="3DD68C"/>
            </a:solidFill>
            <a:prstDash val="solid"/>
          </a:ln>
        </p:spPr>
      </p:sp>
      <p:sp>
        <p:nvSpPr>
          <p:cNvPr id="23" name="Text 21"/>
          <p:cNvSpPr/>
          <p:nvPr/>
        </p:nvSpPr>
        <p:spPr>
          <a:xfrm>
            <a:off x="4837176" y="3218688"/>
            <a:ext cx="3749040" cy="475488"/>
          </a:xfrm>
          <a:prstGeom prst="rect">
            <a:avLst/>
          </a:prstGeom>
          <a:noFill/>
          <a:ln/>
        </p:spPr>
        <p:txBody>
          <a:bodyPr wrap="square" lIns="0" tIns="0" rIns="0" bIns="0" rtlCol="0" anchor="ctr"/>
          <a:lstStyle/>
          <a:p>
            <a:pPr indent="0" marL="0">
              <a:buNone/>
            </a:pPr>
            <a:r>
              <a:rPr lang="en-US" sz="2800" b="1" dirty="0">
                <a:solidFill>
                  <a:srgbClr val="3DD68C"/>
                </a:solidFill>
                <a:latin typeface="Calibri" pitchFamily="34" charset="0"/>
                <a:ea typeface="Calibri" pitchFamily="34" charset="-122"/>
                <a:cs typeface="Calibri" pitchFamily="34" charset="-120"/>
              </a:rPr>
              <a:t>Real-time</a:t>
            </a:r>
            <a:endParaRPr lang="en-US" sz="2800" dirty="0"/>
          </a:p>
        </p:txBody>
      </p:sp>
      <p:sp>
        <p:nvSpPr>
          <p:cNvPr id="24" name="Text 22"/>
          <p:cNvSpPr/>
          <p:nvPr/>
        </p:nvSpPr>
        <p:spPr>
          <a:xfrm>
            <a:off x="4837176" y="3694176"/>
            <a:ext cx="3749040" cy="3200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citations with source links in every Copilot answer</a:t>
            </a:r>
            <a:endParaRPr lang="en-US" sz="1150" dirty="0"/>
          </a:p>
        </p:txBody>
      </p:sp>
      <p:sp>
        <p:nvSpPr>
          <p:cNvPr id="25" name="Text 23"/>
          <p:cNvSpPr/>
          <p:nvPr/>
        </p:nvSpPr>
        <p:spPr>
          <a:xfrm>
            <a:off x="4837176" y="4014216"/>
            <a:ext cx="3749040" cy="685800"/>
          </a:xfrm>
          <a:prstGeom prst="rect">
            <a:avLst/>
          </a:prstGeom>
          <a:noFill/>
          <a:ln/>
        </p:spPr>
        <p:txBody>
          <a:bodyPr wrap="square" lIns="0" tIns="0" rIns="0" bIns="0" rtlCol="0" anchor="ctr"/>
          <a:lstStyle/>
          <a:p>
            <a:pPr indent="0" marL="0">
              <a:buNone/>
            </a:pPr>
            <a:r>
              <a:rPr lang="en-US" sz="1000" dirty="0">
                <a:solidFill>
                  <a:srgbClr val="8A9BB5"/>
                </a:solidFill>
                <a:latin typeface="Calibri" pitchFamily="34" charset="0"/>
                <a:ea typeface="Calibri" pitchFamily="34" charset="-122"/>
                <a:cs typeface="Calibri" pitchFamily="34" charset="-120"/>
              </a:rPr>
              <a:t>Copilot surfaces indexed items with clickable links and the last-modified date -- users can verify every answer instantly.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TWO CONNECTOR MODELS</a:t>
            </a:r>
            <a:endParaRPr lang="en-US" sz="1100" dirty="0"/>
          </a:p>
        </p:txBody>
      </p:sp>
      <p:sp>
        <p:nvSpPr>
          <p:cNvPr id="5" name="Text 3"/>
          <p:cNvSpPr/>
          <p:nvPr/>
        </p:nvSpPr>
        <p:spPr>
          <a:xfrm>
            <a:off x="457200" y="749808"/>
            <a:ext cx="8321040" cy="6400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Microsoft 365 Copilot only knows what it can index. Choose your connector model based on your data freshness needs.</a:t>
            </a:r>
            <a:endParaRPr lang="en-US" sz="1350" dirty="0"/>
          </a:p>
        </p:txBody>
      </p:sp>
      <p:sp>
        <p:nvSpPr>
          <p:cNvPr id="6" name="Shape 4"/>
          <p:cNvSpPr/>
          <p:nvPr/>
        </p:nvSpPr>
        <p:spPr>
          <a:xfrm>
            <a:off x="365760" y="1572768"/>
            <a:ext cx="4133088" cy="3063240"/>
          </a:xfrm>
          <a:prstGeom prst="rect">
            <a:avLst/>
          </a:prstGeom>
          <a:solidFill>
            <a:srgbClr val="111B2D"/>
          </a:solidFill>
          <a:ln w="19050">
            <a:solidFill>
              <a:srgbClr val="7ACED7"/>
            </a:solidFill>
            <a:prstDash val="solid"/>
          </a:ln>
          <a:effectLst>
            <a:outerShdw sx="100000" sy="100000" kx="0" ky="0" algn="bl" rotWithShape="0" blurRad="177800" dist="50800" dir="8100000">
              <a:srgbClr val="000000">
                <a:alpha val="35000"/>
              </a:srgbClr>
            </a:outerShdw>
          </a:effectLst>
        </p:spPr>
      </p:sp>
      <p:sp>
        <p:nvSpPr>
          <p:cNvPr id="7" name="Shape 5"/>
          <p:cNvSpPr/>
          <p:nvPr/>
        </p:nvSpPr>
        <p:spPr>
          <a:xfrm>
            <a:off x="365760" y="1572768"/>
            <a:ext cx="4133088" cy="457200"/>
          </a:xfrm>
          <a:prstGeom prst="rect">
            <a:avLst/>
          </a:prstGeom>
          <a:solidFill>
            <a:srgbClr val="0D1520"/>
          </a:solidFill>
          <a:ln w="19050">
            <a:solidFill>
              <a:srgbClr val="7ACED7"/>
            </a:solidFill>
            <a:prstDash val="solid"/>
          </a:ln>
        </p:spPr>
      </p:sp>
      <p:sp>
        <p:nvSpPr>
          <p:cNvPr id="8" name="Shape 6"/>
          <p:cNvSpPr/>
          <p:nvPr/>
        </p:nvSpPr>
        <p:spPr>
          <a:xfrm>
            <a:off x="365760" y="1572768"/>
            <a:ext cx="4133088" cy="36576"/>
          </a:xfrm>
          <a:prstGeom prst="rect">
            <a:avLst/>
          </a:prstGeom>
          <a:solidFill>
            <a:srgbClr val="7ACED7"/>
          </a:solidFill>
          <a:ln w="12700">
            <a:solidFill>
              <a:srgbClr val="7ACED7"/>
            </a:solidFill>
            <a:prstDash val="solid"/>
          </a:ln>
        </p:spPr>
      </p:sp>
      <p:sp>
        <p:nvSpPr>
          <p:cNvPr id="9" name="Text 7"/>
          <p:cNvSpPr/>
          <p:nvPr/>
        </p:nvSpPr>
        <p:spPr>
          <a:xfrm>
            <a:off x="502920" y="1591056"/>
            <a:ext cx="3840480" cy="420624"/>
          </a:xfrm>
          <a:prstGeom prst="rect">
            <a:avLst/>
          </a:prstGeom>
          <a:noFill/>
          <a:ln/>
        </p:spPr>
        <p:txBody>
          <a:bodyPr wrap="square" lIns="0" tIns="0" rIns="0" bIns="0" rtlCol="0" anchor="ctr"/>
          <a:lstStyle/>
          <a:p>
            <a:pPr indent="0" marL="0">
              <a:buNone/>
            </a:pPr>
            <a:r>
              <a:rPr lang="en-US" sz="1400" b="1" dirty="0">
                <a:solidFill>
                  <a:srgbClr val="7ACED7"/>
                </a:solidFill>
                <a:latin typeface="Calibri" pitchFamily="34" charset="0"/>
                <a:ea typeface="Calibri" pitchFamily="34" charset="-122"/>
                <a:cs typeface="Calibri" pitchFamily="34" charset="-120"/>
              </a:rPr>
              <a:t>Synced Connector</a:t>
            </a:r>
            <a:endParaRPr lang="en-US" sz="1400" dirty="0"/>
          </a:p>
        </p:txBody>
      </p:sp>
      <p:sp>
        <p:nvSpPr>
          <p:cNvPr id="10" name="Text 8"/>
          <p:cNvSpPr/>
          <p:nvPr/>
        </p:nvSpPr>
        <p:spPr>
          <a:xfrm>
            <a:off x="502920" y="2084832"/>
            <a:ext cx="3840480" cy="239572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Content is ingested and indexed into Microsoft Graph.</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Best for: Files, wikis, databases, LOB apps</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How: ETL script =&gt; externalItem =&gt; Graph API =&gt; Index</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This is what we build today with PowerShell</a:t>
            </a:r>
            <a:endParaRPr lang="en-US" sz="1200" dirty="0"/>
          </a:p>
        </p:txBody>
      </p:sp>
      <p:sp>
        <p:nvSpPr>
          <p:cNvPr id="11" name="Shape 9"/>
          <p:cNvSpPr/>
          <p:nvPr/>
        </p:nvSpPr>
        <p:spPr>
          <a:xfrm>
            <a:off x="4709160" y="1572768"/>
            <a:ext cx="4133088" cy="3063240"/>
          </a:xfrm>
          <a:prstGeom prst="rect">
            <a:avLst/>
          </a:prstGeom>
          <a:solidFill>
            <a:srgbClr val="111B2D"/>
          </a:solidFill>
          <a:ln w="19050">
            <a:solidFill>
              <a:srgbClr val="9B6DFF"/>
            </a:solidFill>
            <a:prstDash val="solid"/>
          </a:ln>
          <a:effectLst>
            <a:outerShdw sx="100000" sy="100000" kx="0" ky="0" algn="bl" rotWithShape="0" blurRad="177800" dist="50800" dir="8100000">
              <a:srgbClr val="000000">
                <a:alpha val="35000"/>
              </a:srgbClr>
            </a:outerShdw>
          </a:effectLst>
        </p:spPr>
      </p:sp>
      <p:sp>
        <p:nvSpPr>
          <p:cNvPr id="12" name="Shape 10"/>
          <p:cNvSpPr/>
          <p:nvPr/>
        </p:nvSpPr>
        <p:spPr>
          <a:xfrm>
            <a:off x="4709160" y="1572768"/>
            <a:ext cx="4133088" cy="457200"/>
          </a:xfrm>
          <a:prstGeom prst="rect">
            <a:avLst/>
          </a:prstGeom>
          <a:solidFill>
            <a:srgbClr val="0D1520"/>
          </a:solidFill>
          <a:ln w="19050">
            <a:solidFill>
              <a:srgbClr val="9B6DFF"/>
            </a:solidFill>
            <a:prstDash val="solid"/>
          </a:ln>
        </p:spPr>
      </p:sp>
      <p:sp>
        <p:nvSpPr>
          <p:cNvPr id="13" name="Shape 11"/>
          <p:cNvSpPr/>
          <p:nvPr/>
        </p:nvSpPr>
        <p:spPr>
          <a:xfrm>
            <a:off x="4709160" y="1572768"/>
            <a:ext cx="4133088" cy="36576"/>
          </a:xfrm>
          <a:prstGeom prst="rect">
            <a:avLst/>
          </a:prstGeom>
          <a:solidFill>
            <a:srgbClr val="9B6DFF"/>
          </a:solidFill>
          <a:ln w="12700">
            <a:solidFill>
              <a:srgbClr val="9B6DFF"/>
            </a:solidFill>
            <a:prstDash val="solid"/>
          </a:ln>
        </p:spPr>
      </p:sp>
      <p:sp>
        <p:nvSpPr>
          <p:cNvPr id="14" name="Text 12"/>
          <p:cNvSpPr/>
          <p:nvPr/>
        </p:nvSpPr>
        <p:spPr>
          <a:xfrm>
            <a:off x="4846320" y="1591056"/>
            <a:ext cx="3840480" cy="420624"/>
          </a:xfrm>
          <a:prstGeom prst="rect">
            <a:avLst/>
          </a:prstGeom>
          <a:noFill/>
          <a:ln/>
        </p:spPr>
        <p:txBody>
          <a:bodyPr wrap="square" lIns="0" tIns="0" rIns="0" bIns="0" rtlCol="0" anchor="ctr"/>
          <a:lstStyle/>
          <a:p>
            <a:pPr indent="0" marL="0">
              <a:buNone/>
            </a:pPr>
            <a:r>
              <a:rPr lang="en-US" sz="1400" b="1" dirty="0">
                <a:solidFill>
                  <a:srgbClr val="9B6DFF"/>
                </a:solidFill>
                <a:latin typeface="Calibri" pitchFamily="34" charset="0"/>
                <a:ea typeface="Calibri" pitchFamily="34" charset="-122"/>
                <a:cs typeface="Calibri" pitchFamily="34" charset="-120"/>
              </a:rPr>
              <a:t>Federated Connector (preview)</a:t>
            </a:r>
            <a:endParaRPr lang="en-US" sz="1400" dirty="0"/>
          </a:p>
        </p:txBody>
      </p:sp>
      <p:sp>
        <p:nvSpPr>
          <p:cNvPr id="15" name="Text 13"/>
          <p:cNvSpPr/>
          <p:nvPr/>
        </p:nvSpPr>
        <p:spPr>
          <a:xfrm>
            <a:off x="4846320" y="2084832"/>
            <a:ext cx="3840480" cy="239572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Content fetched in real time via MCP.</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Nothing stored in Microsoft Graph.</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Best for: Live data where freshness is critical</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How: MCP server &lt;=&gt; Copilot runtime (no indexing)</a:t>
            </a:r>
            <a:endParaRPr lang="en-US" sz="1200" dirty="0"/>
          </a:p>
          <a:p>
            <a:pPr indent="0" marL="0">
              <a:buNone/>
            </a:pP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Emerging model -- not covered in this session</a:t>
            </a:r>
            <a:endParaRPr lang="en-US" sz="1200" dirty="0"/>
          </a:p>
        </p:txBody>
      </p:sp>
      <p:sp>
        <p:nvSpPr>
          <p:cNvPr id="16" name="Text 14"/>
          <p:cNvSpPr/>
          <p:nvPr/>
        </p:nvSpPr>
        <p:spPr>
          <a:xfrm>
            <a:off x="4279392" y="2651760"/>
            <a:ext cx="594360" cy="502920"/>
          </a:xfrm>
          <a:prstGeom prst="rect">
            <a:avLst/>
          </a:prstGeom>
          <a:noFill/>
          <a:ln/>
        </p:spPr>
        <p:txBody>
          <a:bodyPr wrap="square" lIns="0" tIns="0" rIns="0" bIns="0" rtlCol="0" anchor="ctr"/>
          <a:lstStyle/>
          <a:p>
            <a:pPr algn="ctr" indent="0" marL="0">
              <a:buNone/>
            </a:pPr>
            <a:r>
              <a:rPr lang="en-US" sz="1800" b="1" dirty="0">
                <a:solidFill>
                  <a:srgbClr val="8A9BB5"/>
                </a:solidFill>
                <a:latin typeface="Calibri" pitchFamily="34" charset="0"/>
                <a:ea typeface="Calibri" pitchFamily="34" charset="-122"/>
                <a:cs typeface="Calibri" pitchFamily="34" charset="-120"/>
              </a:rPr>
              <a:t>VS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HOW IT WORKS: THE BIG PICTURE</a:t>
            </a:r>
            <a:endParaRPr lang="en-US" sz="1100" dirty="0"/>
          </a:p>
        </p:txBody>
      </p:sp>
      <p:sp>
        <p:nvSpPr>
          <p:cNvPr id="5" name="Text 3"/>
          <p:cNvSpPr/>
          <p:nvPr/>
        </p:nvSpPr>
        <p:spPr>
          <a:xfrm>
            <a:off x="457200" y="749808"/>
            <a:ext cx="8229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Your PowerShell script is an ETL pipeline connecting any data source to Copilot</a:t>
            </a:r>
            <a:endParaRPr lang="en-US" sz="1500" dirty="0"/>
          </a:p>
        </p:txBody>
      </p:sp>
      <p:sp>
        <p:nvSpPr>
          <p:cNvPr id="6" name="Shape 4"/>
          <p:cNvSpPr/>
          <p:nvPr/>
        </p:nvSpPr>
        <p:spPr>
          <a:xfrm>
            <a:off x="228600" y="1298448"/>
            <a:ext cx="1536192" cy="1874520"/>
          </a:xfrm>
          <a:prstGeom prst="rect">
            <a:avLst/>
          </a:prstGeom>
          <a:solidFill>
            <a:srgbClr val="111B2D"/>
          </a:solidFill>
          <a:ln w="19050">
            <a:solidFill>
              <a:srgbClr val="EE2659"/>
            </a:solidFill>
            <a:prstDash val="solid"/>
          </a:ln>
        </p:spPr>
      </p:sp>
      <p:sp>
        <p:nvSpPr>
          <p:cNvPr id="7" name="Shape 5"/>
          <p:cNvSpPr/>
          <p:nvPr/>
        </p:nvSpPr>
        <p:spPr>
          <a:xfrm>
            <a:off x="228600" y="1298448"/>
            <a:ext cx="1536192" cy="50292"/>
          </a:xfrm>
          <a:prstGeom prst="rect">
            <a:avLst/>
          </a:prstGeom>
          <a:solidFill>
            <a:srgbClr val="EE2659"/>
          </a:solidFill>
          <a:ln w="12700">
            <a:solidFill>
              <a:srgbClr val="EE2659"/>
            </a:solidFill>
            <a:prstDash val="solid"/>
          </a:ln>
        </p:spPr>
      </p:sp>
      <p:sp>
        <p:nvSpPr>
          <p:cNvPr id="8" name="Text 6"/>
          <p:cNvSpPr/>
          <p:nvPr/>
        </p:nvSpPr>
        <p:spPr>
          <a:xfrm>
            <a:off x="228600" y="1426464"/>
            <a:ext cx="1536192" cy="594360"/>
          </a:xfrm>
          <a:prstGeom prst="rect">
            <a:avLst/>
          </a:prstGeom>
          <a:noFill/>
          <a:ln/>
        </p:spPr>
        <p:txBody>
          <a:bodyPr wrap="square" lIns="0" tIns="0" rIns="0" bIns="0" rtlCol="0" anchor="ctr"/>
          <a:lstStyle/>
          <a:p>
            <a:pPr algn="ctr" indent="0" marL="0">
              <a:buNone/>
            </a:pPr>
            <a:r>
              <a:rPr lang="en-US" sz="1150" b="1" dirty="0">
                <a:solidFill>
                  <a:srgbClr val="EE2659"/>
                </a:solidFill>
                <a:latin typeface="Calibri" pitchFamily="34" charset="0"/>
                <a:ea typeface="Calibri" pitchFamily="34" charset="-122"/>
                <a:cs typeface="Calibri" pitchFamily="34" charset="-120"/>
              </a:rPr>
              <a:t>External</a:t>
            </a:r>
            <a:endParaRPr lang="en-US" sz="1150" dirty="0"/>
          </a:p>
          <a:p>
            <a:pPr algn="ctr" indent="0" marL="0">
              <a:buNone/>
            </a:pPr>
            <a:r>
              <a:rPr lang="en-US" sz="1150" b="1" dirty="0">
                <a:solidFill>
                  <a:srgbClr val="EE2659"/>
                </a:solidFill>
                <a:latin typeface="Calibri" pitchFamily="34" charset="0"/>
                <a:ea typeface="Calibri" pitchFamily="34" charset="-122"/>
                <a:cs typeface="Calibri" pitchFamily="34" charset="-120"/>
              </a:rPr>
              <a:t>Sources</a:t>
            </a:r>
            <a:endParaRPr lang="en-US" sz="1150" dirty="0"/>
          </a:p>
        </p:txBody>
      </p:sp>
      <p:sp>
        <p:nvSpPr>
          <p:cNvPr id="9" name="Text 7"/>
          <p:cNvSpPr/>
          <p:nvPr/>
        </p:nvSpPr>
        <p:spPr>
          <a:xfrm>
            <a:off x="228600" y="2084832"/>
            <a:ext cx="1536192" cy="868680"/>
          </a:xfrm>
          <a:prstGeom prst="rect">
            <a:avLst/>
          </a:prstGeom>
          <a:noFill/>
          <a:ln/>
        </p:spPr>
        <p:txBody>
          <a:bodyPr wrap="square" lIns="0" tIns="0" rIns="0" bIns="0" rtlCol="0" anchor="ctr"/>
          <a:lstStyle/>
          <a:p>
            <a:pPr algn="ctr" indent="0" marL="0">
              <a:buNone/>
            </a:pPr>
            <a:r>
              <a:rPr lang="en-US" sz="950" dirty="0">
                <a:solidFill>
                  <a:srgbClr val="8A9BB5"/>
                </a:solidFill>
                <a:latin typeface="Calibri Light" pitchFamily="34" charset="0"/>
                <a:ea typeface="Calibri Light" pitchFamily="34" charset="-122"/>
                <a:cs typeface="Calibri Light" pitchFamily="34" charset="-120"/>
              </a:rPr>
              <a:t>Local files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REST APIs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SQL DBs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Custom apps</a:t>
            </a:r>
            <a:endParaRPr lang="en-US" sz="950" dirty="0"/>
          </a:p>
        </p:txBody>
      </p:sp>
      <p:sp>
        <p:nvSpPr>
          <p:cNvPr id="10" name="Shape 8"/>
          <p:cNvSpPr/>
          <p:nvPr/>
        </p:nvSpPr>
        <p:spPr>
          <a:xfrm>
            <a:off x="1993392" y="1298448"/>
            <a:ext cx="1536192" cy="1874520"/>
          </a:xfrm>
          <a:prstGeom prst="rect">
            <a:avLst/>
          </a:prstGeom>
          <a:solidFill>
            <a:srgbClr val="111B2D"/>
          </a:solidFill>
          <a:ln w="19050">
            <a:solidFill>
              <a:srgbClr val="F6CD18"/>
            </a:solidFill>
            <a:prstDash val="solid"/>
          </a:ln>
        </p:spPr>
      </p:sp>
      <p:sp>
        <p:nvSpPr>
          <p:cNvPr id="11" name="Shape 9"/>
          <p:cNvSpPr/>
          <p:nvPr/>
        </p:nvSpPr>
        <p:spPr>
          <a:xfrm>
            <a:off x="1993392" y="1298448"/>
            <a:ext cx="1536192" cy="50292"/>
          </a:xfrm>
          <a:prstGeom prst="rect">
            <a:avLst/>
          </a:prstGeom>
          <a:solidFill>
            <a:srgbClr val="F6CD18"/>
          </a:solidFill>
          <a:ln w="12700">
            <a:solidFill>
              <a:srgbClr val="F6CD18"/>
            </a:solidFill>
            <a:prstDash val="solid"/>
          </a:ln>
        </p:spPr>
      </p:sp>
      <p:sp>
        <p:nvSpPr>
          <p:cNvPr id="12" name="Text 10"/>
          <p:cNvSpPr/>
          <p:nvPr/>
        </p:nvSpPr>
        <p:spPr>
          <a:xfrm>
            <a:off x="1993392" y="1426464"/>
            <a:ext cx="1536192" cy="594360"/>
          </a:xfrm>
          <a:prstGeom prst="rect">
            <a:avLst/>
          </a:prstGeom>
          <a:noFill/>
          <a:ln/>
        </p:spPr>
        <p:txBody>
          <a:bodyPr wrap="square" lIns="0" tIns="0" rIns="0" bIns="0" rtlCol="0" anchor="ctr"/>
          <a:lstStyle/>
          <a:p>
            <a:pPr algn="ctr" indent="0" marL="0">
              <a:buNone/>
            </a:pPr>
            <a:r>
              <a:rPr lang="en-US" sz="1150" b="1" dirty="0">
                <a:solidFill>
                  <a:srgbClr val="F6CD18"/>
                </a:solidFill>
                <a:latin typeface="Calibri" pitchFamily="34" charset="0"/>
                <a:ea typeface="Calibri" pitchFamily="34" charset="-122"/>
                <a:cs typeface="Calibri" pitchFamily="34" charset="-120"/>
              </a:rPr>
              <a:t>Extract</a:t>
            </a:r>
            <a:endParaRPr lang="en-US" sz="1150" dirty="0"/>
          </a:p>
        </p:txBody>
      </p:sp>
      <p:sp>
        <p:nvSpPr>
          <p:cNvPr id="13" name="Text 11"/>
          <p:cNvSpPr/>
          <p:nvPr/>
        </p:nvSpPr>
        <p:spPr>
          <a:xfrm>
            <a:off x="1993392" y="2084832"/>
            <a:ext cx="1536192" cy="868680"/>
          </a:xfrm>
          <a:prstGeom prst="rect">
            <a:avLst/>
          </a:prstGeom>
          <a:noFill/>
          <a:ln/>
        </p:spPr>
        <p:txBody>
          <a:bodyPr wrap="square" lIns="0" tIns="0" rIns="0" bIns="0" rtlCol="0" anchor="ctr"/>
          <a:lstStyle/>
          <a:p>
            <a:pPr algn="ctr" indent="0" marL="0">
              <a:buNone/>
            </a:pPr>
            <a:r>
              <a:rPr lang="en-US" sz="950" dirty="0">
                <a:solidFill>
                  <a:srgbClr val="8A9BB5"/>
                </a:solidFill>
                <a:latin typeface="Calibri Light" pitchFamily="34" charset="0"/>
                <a:ea typeface="Calibri Light" pitchFamily="34" charset="-122"/>
                <a:cs typeface="Calibri Light" pitchFamily="34" charset="-120"/>
              </a:rPr>
              <a:t>Read data</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from source</a:t>
            </a:r>
            <a:endParaRPr lang="en-US" sz="950" dirty="0"/>
          </a:p>
        </p:txBody>
      </p:sp>
      <p:sp>
        <p:nvSpPr>
          <p:cNvPr id="14" name="Shape 12"/>
          <p:cNvSpPr/>
          <p:nvPr/>
        </p:nvSpPr>
        <p:spPr>
          <a:xfrm>
            <a:off x="1755648" y="2157984"/>
            <a:ext cx="237744" cy="36576"/>
          </a:xfrm>
          <a:prstGeom prst="rect">
            <a:avLst/>
          </a:prstGeom>
          <a:solidFill>
            <a:srgbClr val="4A5A72"/>
          </a:solidFill>
          <a:ln w="12700">
            <a:solidFill>
              <a:srgbClr val="4A5A72"/>
            </a:solidFill>
            <a:prstDash val="solid"/>
          </a:ln>
        </p:spPr>
      </p:sp>
      <p:sp>
        <p:nvSpPr>
          <p:cNvPr id="15" name="Shape 13"/>
          <p:cNvSpPr/>
          <p:nvPr/>
        </p:nvSpPr>
        <p:spPr>
          <a:xfrm>
            <a:off x="3758184" y="1298448"/>
            <a:ext cx="1536192" cy="1874520"/>
          </a:xfrm>
          <a:prstGeom prst="rect">
            <a:avLst/>
          </a:prstGeom>
          <a:solidFill>
            <a:srgbClr val="111B2D"/>
          </a:solidFill>
          <a:ln w="19050">
            <a:solidFill>
              <a:srgbClr val="9B6DFF"/>
            </a:solidFill>
            <a:prstDash val="solid"/>
          </a:ln>
        </p:spPr>
      </p:sp>
      <p:sp>
        <p:nvSpPr>
          <p:cNvPr id="16" name="Shape 14"/>
          <p:cNvSpPr/>
          <p:nvPr/>
        </p:nvSpPr>
        <p:spPr>
          <a:xfrm>
            <a:off x="3758184" y="1298448"/>
            <a:ext cx="1536192" cy="50292"/>
          </a:xfrm>
          <a:prstGeom prst="rect">
            <a:avLst/>
          </a:prstGeom>
          <a:solidFill>
            <a:srgbClr val="9B6DFF"/>
          </a:solidFill>
          <a:ln w="12700">
            <a:solidFill>
              <a:srgbClr val="9B6DFF"/>
            </a:solidFill>
            <a:prstDash val="solid"/>
          </a:ln>
        </p:spPr>
      </p:sp>
      <p:sp>
        <p:nvSpPr>
          <p:cNvPr id="17" name="Text 15"/>
          <p:cNvSpPr/>
          <p:nvPr/>
        </p:nvSpPr>
        <p:spPr>
          <a:xfrm>
            <a:off x="3758184" y="1426464"/>
            <a:ext cx="1536192" cy="594360"/>
          </a:xfrm>
          <a:prstGeom prst="rect">
            <a:avLst/>
          </a:prstGeom>
          <a:noFill/>
          <a:ln/>
        </p:spPr>
        <p:txBody>
          <a:bodyPr wrap="square" lIns="0" tIns="0" rIns="0" bIns="0" rtlCol="0" anchor="ctr"/>
          <a:lstStyle/>
          <a:p>
            <a:pPr algn="ctr" indent="0" marL="0">
              <a:buNone/>
            </a:pPr>
            <a:r>
              <a:rPr lang="en-US" sz="1150" b="1" dirty="0">
                <a:solidFill>
                  <a:srgbClr val="9B6DFF"/>
                </a:solidFill>
                <a:latin typeface="Calibri" pitchFamily="34" charset="0"/>
                <a:ea typeface="Calibri" pitchFamily="34" charset="-122"/>
                <a:cs typeface="Calibri" pitchFamily="34" charset="-120"/>
              </a:rPr>
              <a:t>Transform</a:t>
            </a:r>
            <a:endParaRPr lang="en-US" sz="1150" dirty="0"/>
          </a:p>
        </p:txBody>
      </p:sp>
      <p:sp>
        <p:nvSpPr>
          <p:cNvPr id="18" name="Text 16"/>
          <p:cNvSpPr/>
          <p:nvPr/>
        </p:nvSpPr>
        <p:spPr>
          <a:xfrm>
            <a:off x="3758184" y="2084832"/>
            <a:ext cx="1536192" cy="868680"/>
          </a:xfrm>
          <a:prstGeom prst="rect">
            <a:avLst/>
          </a:prstGeom>
          <a:noFill/>
          <a:ln/>
        </p:spPr>
        <p:txBody>
          <a:bodyPr wrap="square" lIns="0" tIns="0" rIns="0" bIns="0" rtlCol="0" anchor="ctr"/>
          <a:lstStyle/>
          <a:p>
            <a:pPr algn="ctr" indent="0" marL="0">
              <a:buNone/>
            </a:pPr>
            <a:r>
              <a:rPr lang="en-US" sz="950" dirty="0">
                <a:solidFill>
                  <a:srgbClr val="8A9BB5"/>
                </a:solidFill>
                <a:latin typeface="Calibri Light" pitchFamily="34" charset="0"/>
                <a:ea typeface="Calibri Light" pitchFamily="34" charset="-122"/>
                <a:cs typeface="Calibri Light" pitchFamily="34" charset="-120"/>
              </a:rPr>
              <a:t>Map fields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Format dates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Build URLs</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Set IDs</a:t>
            </a:r>
            <a:endParaRPr lang="en-US" sz="950" dirty="0"/>
          </a:p>
        </p:txBody>
      </p:sp>
      <p:sp>
        <p:nvSpPr>
          <p:cNvPr id="19" name="Shape 17"/>
          <p:cNvSpPr/>
          <p:nvPr/>
        </p:nvSpPr>
        <p:spPr>
          <a:xfrm>
            <a:off x="3520440" y="2157984"/>
            <a:ext cx="237744" cy="36576"/>
          </a:xfrm>
          <a:prstGeom prst="rect">
            <a:avLst/>
          </a:prstGeom>
          <a:solidFill>
            <a:srgbClr val="4A5A72"/>
          </a:solidFill>
          <a:ln w="12700">
            <a:solidFill>
              <a:srgbClr val="4A5A72"/>
            </a:solidFill>
            <a:prstDash val="solid"/>
          </a:ln>
        </p:spPr>
      </p:sp>
      <p:sp>
        <p:nvSpPr>
          <p:cNvPr id="20" name="Shape 18"/>
          <p:cNvSpPr/>
          <p:nvPr/>
        </p:nvSpPr>
        <p:spPr>
          <a:xfrm>
            <a:off x="5522976" y="1298448"/>
            <a:ext cx="1536192" cy="1874520"/>
          </a:xfrm>
          <a:prstGeom prst="rect">
            <a:avLst/>
          </a:prstGeom>
          <a:solidFill>
            <a:srgbClr val="111B2D"/>
          </a:solidFill>
          <a:ln w="19050">
            <a:solidFill>
              <a:srgbClr val="7ACED7"/>
            </a:solidFill>
            <a:prstDash val="solid"/>
          </a:ln>
        </p:spPr>
      </p:sp>
      <p:sp>
        <p:nvSpPr>
          <p:cNvPr id="21" name="Shape 19"/>
          <p:cNvSpPr/>
          <p:nvPr/>
        </p:nvSpPr>
        <p:spPr>
          <a:xfrm>
            <a:off x="5522976" y="1298448"/>
            <a:ext cx="1536192" cy="50292"/>
          </a:xfrm>
          <a:prstGeom prst="rect">
            <a:avLst/>
          </a:prstGeom>
          <a:solidFill>
            <a:srgbClr val="7ACED7"/>
          </a:solidFill>
          <a:ln w="12700">
            <a:solidFill>
              <a:srgbClr val="7ACED7"/>
            </a:solidFill>
            <a:prstDash val="solid"/>
          </a:ln>
        </p:spPr>
      </p:sp>
      <p:sp>
        <p:nvSpPr>
          <p:cNvPr id="22" name="Text 20"/>
          <p:cNvSpPr/>
          <p:nvPr/>
        </p:nvSpPr>
        <p:spPr>
          <a:xfrm>
            <a:off x="5522976" y="1426464"/>
            <a:ext cx="1536192" cy="594360"/>
          </a:xfrm>
          <a:prstGeom prst="rect">
            <a:avLst/>
          </a:prstGeom>
          <a:noFill/>
          <a:ln/>
        </p:spPr>
        <p:txBody>
          <a:bodyPr wrap="square" lIns="0" tIns="0" rIns="0" bIns="0" rtlCol="0" anchor="ctr"/>
          <a:lstStyle/>
          <a:p>
            <a:pPr algn="ctr" indent="0" marL="0">
              <a:buNone/>
            </a:pPr>
            <a:r>
              <a:rPr lang="en-US" sz="1150" b="1" dirty="0">
                <a:solidFill>
                  <a:srgbClr val="7ACED7"/>
                </a:solidFill>
                <a:latin typeface="Calibri" pitchFamily="34" charset="0"/>
                <a:ea typeface="Calibri" pitchFamily="34" charset="-122"/>
                <a:cs typeface="Calibri" pitchFamily="34" charset="-120"/>
              </a:rPr>
              <a:t>Load</a:t>
            </a:r>
            <a:endParaRPr lang="en-US" sz="1150" dirty="0"/>
          </a:p>
        </p:txBody>
      </p:sp>
      <p:sp>
        <p:nvSpPr>
          <p:cNvPr id="23" name="Text 21"/>
          <p:cNvSpPr/>
          <p:nvPr/>
        </p:nvSpPr>
        <p:spPr>
          <a:xfrm>
            <a:off x="5522976" y="2084832"/>
            <a:ext cx="1536192" cy="868680"/>
          </a:xfrm>
          <a:prstGeom prst="rect">
            <a:avLst/>
          </a:prstGeom>
          <a:noFill/>
          <a:ln/>
        </p:spPr>
        <p:txBody>
          <a:bodyPr wrap="square" lIns="0" tIns="0" rIns="0" bIns="0" rtlCol="0" anchor="ctr"/>
          <a:lstStyle/>
          <a:p>
            <a:pPr algn="ctr" indent="0" marL="0">
              <a:buNone/>
            </a:pPr>
            <a:r>
              <a:rPr lang="en-US" sz="950" dirty="0">
                <a:solidFill>
                  <a:srgbClr val="8A9BB5"/>
                </a:solidFill>
                <a:latin typeface="Calibri Light" pitchFamily="34" charset="0"/>
                <a:ea typeface="Calibri Light" pitchFamily="34" charset="-122"/>
                <a:cs typeface="Calibri Light" pitchFamily="34" charset="-120"/>
              </a:rPr>
              <a:t>PUT externalItem</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to Graph API</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with ACL</a:t>
            </a:r>
            <a:endParaRPr lang="en-US" sz="950" dirty="0"/>
          </a:p>
        </p:txBody>
      </p:sp>
      <p:sp>
        <p:nvSpPr>
          <p:cNvPr id="24" name="Shape 22"/>
          <p:cNvSpPr/>
          <p:nvPr/>
        </p:nvSpPr>
        <p:spPr>
          <a:xfrm>
            <a:off x="5285232" y="2157984"/>
            <a:ext cx="237744" cy="36576"/>
          </a:xfrm>
          <a:prstGeom prst="rect">
            <a:avLst/>
          </a:prstGeom>
          <a:solidFill>
            <a:srgbClr val="4A5A72"/>
          </a:solidFill>
          <a:ln w="12700">
            <a:solidFill>
              <a:srgbClr val="4A5A72"/>
            </a:solidFill>
            <a:prstDash val="solid"/>
          </a:ln>
        </p:spPr>
      </p:sp>
      <p:sp>
        <p:nvSpPr>
          <p:cNvPr id="25" name="Shape 23"/>
          <p:cNvSpPr/>
          <p:nvPr/>
        </p:nvSpPr>
        <p:spPr>
          <a:xfrm>
            <a:off x="7287768" y="1298448"/>
            <a:ext cx="1536192" cy="1874520"/>
          </a:xfrm>
          <a:prstGeom prst="rect">
            <a:avLst/>
          </a:prstGeom>
          <a:solidFill>
            <a:srgbClr val="111B2D"/>
          </a:solidFill>
          <a:ln w="19050">
            <a:solidFill>
              <a:srgbClr val="3DD68C"/>
            </a:solidFill>
            <a:prstDash val="solid"/>
          </a:ln>
        </p:spPr>
      </p:sp>
      <p:sp>
        <p:nvSpPr>
          <p:cNvPr id="26" name="Shape 24"/>
          <p:cNvSpPr/>
          <p:nvPr/>
        </p:nvSpPr>
        <p:spPr>
          <a:xfrm>
            <a:off x="7287768" y="1298448"/>
            <a:ext cx="1536192" cy="50292"/>
          </a:xfrm>
          <a:prstGeom prst="rect">
            <a:avLst/>
          </a:prstGeom>
          <a:solidFill>
            <a:srgbClr val="3DD68C"/>
          </a:solidFill>
          <a:ln w="12700">
            <a:solidFill>
              <a:srgbClr val="3DD68C"/>
            </a:solidFill>
            <a:prstDash val="solid"/>
          </a:ln>
        </p:spPr>
      </p:sp>
      <p:sp>
        <p:nvSpPr>
          <p:cNvPr id="27" name="Text 25"/>
          <p:cNvSpPr/>
          <p:nvPr/>
        </p:nvSpPr>
        <p:spPr>
          <a:xfrm>
            <a:off x="7287768" y="1426464"/>
            <a:ext cx="1536192" cy="594360"/>
          </a:xfrm>
          <a:prstGeom prst="rect">
            <a:avLst/>
          </a:prstGeom>
          <a:noFill/>
          <a:ln/>
        </p:spPr>
        <p:txBody>
          <a:bodyPr wrap="square" lIns="0" tIns="0" rIns="0" bIns="0" rtlCol="0" anchor="ctr"/>
          <a:lstStyle/>
          <a:p>
            <a:pPr algn="ctr" indent="0" marL="0">
              <a:buNone/>
            </a:pPr>
            <a:r>
              <a:rPr lang="en-US" sz="1150" b="1" dirty="0">
                <a:solidFill>
                  <a:srgbClr val="3DD68C"/>
                </a:solidFill>
                <a:latin typeface="Calibri" pitchFamily="34" charset="0"/>
                <a:ea typeface="Calibri" pitchFamily="34" charset="-122"/>
                <a:cs typeface="Calibri" pitchFamily="34" charset="-120"/>
              </a:rPr>
              <a:t>Microsoft</a:t>
            </a:r>
            <a:endParaRPr lang="en-US" sz="1150" dirty="0"/>
          </a:p>
          <a:p>
            <a:pPr algn="ctr" indent="0" marL="0">
              <a:buNone/>
            </a:pPr>
            <a:r>
              <a:rPr lang="en-US" sz="1150" b="1" dirty="0">
                <a:solidFill>
                  <a:srgbClr val="3DD68C"/>
                </a:solidFill>
                <a:latin typeface="Calibri" pitchFamily="34" charset="0"/>
                <a:ea typeface="Calibri" pitchFamily="34" charset="-122"/>
                <a:cs typeface="Calibri" pitchFamily="34" charset="-120"/>
              </a:rPr>
              <a:t>Graph Index</a:t>
            </a:r>
            <a:endParaRPr lang="en-US" sz="1150" dirty="0"/>
          </a:p>
        </p:txBody>
      </p:sp>
      <p:sp>
        <p:nvSpPr>
          <p:cNvPr id="28" name="Text 26"/>
          <p:cNvSpPr/>
          <p:nvPr/>
        </p:nvSpPr>
        <p:spPr>
          <a:xfrm>
            <a:off x="7287768" y="2084832"/>
            <a:ext cx="1536192" cy="868680"/>
          </a:xfrm>
          <a:prstGeom prst="rect">
            <a:avLst/>
          </a:prstGeom>
          <a:noFill/>
          <a:ln/>
        </p:spPr>
        <p:txBody>
          <a:bodyPr wrap="square" lIns="0" tIns="0" rIns="0" bIns="0" rtlCol="0" anchor="ctr"/>
          <a:lstStyle/>
          <a:p>
            <a:pPr algn="ctr" indent="0" marL="0">
              <a:buNone/>
            </a:pPr>
            <a:r>
              <a:rPr lang="en-US" sz="950" dirty="0">
                <a:solidFill>
                  <a:srgbClr val="8A9BB5"/>
                </a:solidFill>
                <a:latin typeface="Calibri Light" pitchFamily="34" charset="0"/>
                <a:ea typeface="Calibri Light" pitchFamily="34" charset="-122"/>
                <a:cs typeface="Calibri Light" pitchFamily="34" charset="-120"/>
              </a:rPr>
              <a:t>Microsoft Search</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Copilot Chat</a:t>
            </a:r>
            <a:endParaRPr lang="en-US" sz="950" dirty="0"/>
          </a:p>
          <a:p>
            <a:pPr algn="ctr" indent="0" marL="0">
              <a:buNone/>
            </a:pPr>
            <a:r>
              <a:rPr lang="en-US" sz="950" dirty="0">
                <a:solidFill>
                  <a:srgbClr val="8A9BB5"/>
                </a:solidFill>
                <a:latin typeface="Calibri Light" pitchFamily="34" charset="0"/>
                <a:ea typeface="Calibri Light" pitchFamily="34" charset="-122"/>
                <a:cs typeface="Calibri Light" pitchFamily="34" charset="-120"/>
              </a:rPr>
              <a:t>M365 Apps</a:t>
            </a:r>
            <a:endParaRPr lang="en-US" sz="950" dirty="0"/>
          </a:p>
        </p:txBody>
      </p:sp>
      <p:sp>
        <p:nvSpPr>
          <p:cNvPr id="29" name="Shape 27"/>
          <p:cNvSpPr/>
          <p:nvPr/>
        </p:nvSpPr>
        <p:spPr>
          <a:xfrm>
            <a:off x="365760" y="3310128"/>
            <a:ext cx="8366760" cy="1536192"/>
          </a:xfrm>
          <a:prstGeom prst="rect">
            <a:avLst/>
          </a:prstGeom>
          <a:solidFill>
            <a:srgbClr val="060C16"/>
          </a:solidFill>
          <a:ln w="12700">
            <a:solidFill>
              <a:srgbClr val="1E3050"/>
            </a:solidFill>
            <a:prstDash val="solid"/>
          </a:ln>
        </p:spPr>
      </p:sp>
      <p:sp>
        <p:nvSpPr>
          <p:cNvPr id="30" name="Text 28"/>
          <p:cNvSpPr/>
          <p:nvPr/>
        </p:nvSpPr>
        <p:spPr>
          <a:xfrm>
            <a:off x="493776" y="3401568"/>
            <a:ext cx="8147304" cy="1353312"/>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 The same 3-line pattern repeats for EVERY data source:</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foreach ($item in $sourceData) {</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    $props   = @{ title = $item.Title; url = $item.Url; lastModified = $item.Date.ToString("o"); author = $item.Owner }</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    $content = "$($item.Title)</a:t>
            </a:r>
            <a:endParaRPr lang="en-US" sz="950" dirty="0"/>
          </a:p>
          <a:p>
            <a:pPr indent="0" marL="0">
              <a:buNone/>
            </a:pP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$($item.Body)"</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    Push-ItemToGraph -ConnectionId $connId -ItemId "item_$($item.Id)" -Properties $props -Content $content</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PREREQUISITES</a:t>
            </a:r>
            <a:endParaRPr lang="en-US" sz="1100" dirty="0"/>
          </a:p>
        </p:txBody>
      </p:sp>
      <p:sp>
        <p:nvSpPr>
          <p:cNvPr id="5" name="Text 3"/>
          <p:cNvSpPr/>
          <p:nvPr/>
        </p:nvSpPr>
        <p:spPr>
          <a:xfrm>
            <a:off x="457200" y="749808"/>
            <a:ext cx="8229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What you need before writing a single line of connector code</a:t>
            </a:r>
            <a:endParaRPr lang="en-US" sz="1500" dirty="0"/>
          </a:p>
        </p:txBody>
      </p:sp>
      <p:sp>
        <p:nvSpPr>
          <p:cNvPr id="6" name="Shape 4"/>
          <p:cNvSpPr/>
          <p:nvPr/>
        </p:nvSpPr>
        <p:spPr>
          <a:xfrm>
            <a:off x="365760" y="1298448"/>
            <a:ext cx="4069080" cy="166420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7" name="Shape 5"/>
          <p:cNvSpPr/>
          <p:nvPr/>
        </p:nvSpPr>
        <p:spPr>
          <a:xfrm>
            <a:off x="365760" y="1298448"/>
            <a:ext cx="50292" cy="1664208"/>
          </a:xfrm>
          <a:prstGeom prst="rect">
            <a:avLst/>
          </a:prstGeom>
          <a:solidFill>
            <a:srgbClr val="7ACED7"/>
          </a:solidFill>
          <a:ln w="12700">
            <a:solidFill>
              <a:srgbClr val="7ACED7"/>
            </a:solidFill>
            <a:prstDash val="solid"/>
          </a:ln>
        </p:spPr>
      </p:sp>
      <p:sp>
        <p:nvSpPr>
          <p:cNvPr id="8" name="Text 6"/>
          <p:cNvSpPr/>
          <p:nvPr/>
        </p:nvSpPr>
        <p:spPr>
          <a:xfrm>
            <a:off x="521208" y="1389888"/>
            <a:ext cx="3794760" cy="347472"/>
          </a:xfrm>
          <a:prstGeom prst="rect">
            <a:avLst/>
          </a:prstGeom>
          <a:noFill/>
          <a:ln/>
        </p:spPr>
        <p:txBody>
          <a:bodyPr wrap="square" lIns="0" tIns="0" rIns="0" bIns="0" rtlCol="0" anchor="ctr"/>
          <a:lstStyle/>
          <a:p>
            <a:pPr indent="0" marL="0">
              <a:buNone/>
            </a:pPr>
            <a:r>
              <a:rPr lang="en-US" sz="1300" b="1" dirty="0">
                <a:solidFill>
                  <a:srgbClr val="7ACED7"/>
                </a:solidFill>
                <a:latin typeface="Calibri" pitchFamily="34" charset="0"/>
                <a:ea typeface="Calibri" pitchFamily="34" charset="-122"/>
                <a:cs typeface="Calibri" pitchFamily="34" charset="-120"/>
              </a:rPr>
              <a:t>PowerShell 7+</a:t>
            </a:r>
            <a:endParaRPr lang="en-US" sz="1300" dirty="0"/>
          </a:p>
        </p:txBody>
      </p:sp>
      <p:sp>
        <p:nvSpPr>
          <p:cNvPr id="9" name="Text 7"/>
          <p:cNvSpPr/>
          <p:nvPr/>
        </p:nvSpPr>
        <p:spPr>
          <a:xfrm>
            <a:off x="521208" y="1783080"/>
            <a:ext cx="3794760" cy="10789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Install from https://aka.ms/powershell</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Install-Module Microsoft.Graph -Scope CurrentUser</a:t>
            </a:r>
            <a:endParaRPr lang="en-US" sz="1150" dirty="0"/>
          </a:p>
        </p:txBody>
      </p:sp>
      <p:sp>
        <p:nvSpPr>
          <p:cNvPr id="10" name="Shape 8"/>
          <p:cNvSpPr/>
          <p:nvPr/>
        </p:nvSpPr>
        <p:spPr>
          <a:xfrm>
            <a:off x="4681728" y="1298448"/>
            <a:ext cx="4069080" cy="166420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11" name="Shape 9"/>
          <p:cNvSpPr/>
          <p:nvPr/>
        </p:nvSpPr>
        <p:spPr>
          <a:xfrm>
            <a:off x="4681728" y="1298448"/>
            <a:ext cx="50292" cy="1664208"/>
          </a:xfrm>
          <a:prstGeom prst="rect">
            <a:avLst/>
          </a:prstGeom>
          <a:solidFill>
            <a:srgbClr val="9B6DFF"/>
          </a:solidFill>
          <a:ln w="12700">
            <a:solidFill>
              <a:srgbClr val="9B6DFF"/>
            </a:solidFill>
            <a:prstDash val="solid"/>
          </a:ln>
        </p:spPr>
      </p:sp>
      <p:sp>
        <p:nvSpPr>
          <p:cNvPr id="12" name="Text 10"/>
          <p:cNvSpPr/>
          <p:nvPr/>
        </p:nvSpPr>
        <p:spPr>
          <a:xfrm>
            <a:off x="4837176" y="1389888"/>
            <a:ext cx="3794760" cy="347472"/>
          </a:xfrm>
          <a:prstGeom prst="rect">
            <a:avLst/>
          </a:prstGeom>
          <a:noFill/>
          <a:ln/>
        </p:spPr>
        <p:txBody>
          <a:bodyPr wrap="square" lIns="0" tIns="0" rIns="0" bIns="0" rtlCol="0" anchor="ctr"/>
          <a:lstStyle/>
          <a:p>
            <a:pPr indent="0" marL="0">
              <a:buNone/>
            </a:pPr>
            <a:r>
              <a:rPr lang="en-US" sz="1300" b="1" dirty="0">
                <a:solidFill>
                  <a:srgbClr val="9B6DFF"/>
                </a:solidFill>
                <a:latin typeface="Calibri" pitchFamily="34" charset="0"/>
                <a:ea typeface="Calibri" pitchFamily="34" charset="-122"/>
                <a:cs typeface="Calibri" pitchFamily="34" charset="-120"/>
              </a:rPr>
              <a:t>Entra ID Permissions</a:t>
            </a:r>
            <a:endParaRPr lang="en-US" sz="1300" dirty="0"/>
          </a:p>
        </p:txBody>
      </p:sp>
      <p:sp>
        <p:nvSpPr>
          <p:cNvPr id="13" name="Text 11"/>
          <p:cNvSpPr/>
          <p:nvPr/>
        </p:nvSpPr>
        <p:spPr>
          <a:xfrm>
            <a:off x="4837176" y="1783080"/>
            <a:ext cx="3794760" cy="10789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AI Administrator (or Global Admin) role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to create app registrations and grant consent</a:t>
            </a:r>
            <a:endParaRPr lang="en-US" sz="1150" dirty="0"/>
          </a:p>
        </p:txBody>
      </p:sp>
      <p:sp>
        <p:nvSpPr>
          <p:cNvPr id="14" name="Shape 12"/>
          <p:cNvSpPr/>
          <p:nvPr/>
        </p:nvSpPr>
        <p:spPr>
          <a:xfrm>
            <a:off x="365760" y="3127248"/>
            <a:ext cx="4069080" cy="166420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15" name="Shape 13"/>
          <p:cNvSpPr/>
          <p:nvPr/>
        </p:nvSpPr>
        <p:spPr>
          <a:xfrm>
            <a:off x="365760" y="3127248"/>
            <a:ext cx="50292" cy="1664208"/>
          </a:xfrm>
          <a:prstGeom prst="rect">
            <a:avLst/>
          </a:prstGeom>
          <a:solidFill>
            <a:srgbClr val="3DD68C"/>
          </a:solidFill>
          <a:ln w="12700">
            <a:solidFill>
              <a:srgbClr val="3DD68C"/>
            </a:solidFill>
            <a:prstDash val="solid"/>
          </a:ln>
        </p:spPr>
      </p:sp>
      <p:sp>
        <p:nvSpPr>
          <p:cNvPr id="16" name="Text 14"/>
          <p:cNvSpPr/>
          <p:nvPr/>
        </p:nvSpPr>
        <p:spPr>
          <a:xfrm>
            <a:off x="521208" y="3218688"/>
            <a:ext cx="3794760" cy="347472"/>
          </a:xfrm>
          <a:prstGeom prst="rect">
            <a:avLst/>
          </a:prstGeom>
          <a:noFill/>
          <a:ln/>
        </p:spPr>
        <p:txBody>
          <a:bodyPr wrap="square" lIns="0" tIns="0" rIns="0" bIns="0" rtlCol="0" anchor="ctr"/>
          <a:lstStyle/>
          <a:p>
            <a:pPr indent="0" marL="0">
              <a:buNone/>
            </a:pPr>
            <a:r>
              <a:rPr lang="en-US" sz="1300" b="1" dirty="0">
                <a:solidFill>
                  <a:srgbClr val="3DD68C"/>
                </a:solidFill>
                <a:latin typeface="Calibri" pitchFamily="34" charset="0"/>
                <a:ea typeface="Calibri" pitchFamily="34" charset="-122"/>
                <a:cs typeface="Calibri" pitchFamily="34" charset="-120"/>
              </a:rPr>
              <a:t>Microsoft 365 Tenant</a:t>
            </a:r>
            <a:endParaRPr lang="en-US" sz="1300" dirty="0"/>
          </a:p>
        </p:txBody>
      </p:sp>
      <p:sp>
        <p:nvSpPr>
          <p:cNvPr id="17" name="Text 15"/>
          <p:cNvSpPr/>
          <p:nvPr/>
        </p:nvSpPr>
        <p:spPr>
          <a:xfrm>
            <a:off x="521208" y="3611880"/>
            <a:ext cx="3794760" cy="10789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Any M365 tenant with Copilot licences</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Developer tenant at aka.ms/m365devprogram is fine</a:t>
            </a:r>
            <a:endParaRPr lang="en-US" sz="1150" dirty="0"/>
          </a:p>
        </p:txBody>
      </p:sp>
      <p:sp>
        <p:nvSpPr>
          <p:cNvPr id="18" name="Shape 16"/>
          <p:cNvSpPr/>
          <p:nvPr/>
        </p:nvSpPr>
        <p:spPr>
          <a:xfrm>
            <a:off x="4681728" y="3127248"/>
            <a:ext cx="4069080" cy="166420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19" name="Shape 17"/>
          <p:cNvSpPr/>
          <p:nvPr/>
        </p:nvSpPr>
        <p:spPr>
          <a:xfrm>
            <a:off x="4681728" y="3127248"/>
            <a:ext cx="50292" cy="1664208"/>
          </a:xfrm>
          <a:prstGeom prst="rect">
            <a:avLst/>
          </a:prstGeom>
          <a:solidFill>
            <a:srgbClr val="F6CD18"/>
          </a:solidFill>
          <a:ln w="12700">
            <a:solidFill>
              <a:srgbClr val="F6CD18"/>
            </a:solidFill>
            <a:prstDash val="solid"/>
          </a:ln>
        </p:spPr>
      </p:sp>
      <p:sp>
        <p:nvSpPr>
          <p:cNvPr id="20" name="Text 18"/>
          <p:cNvSpPr/>
          <p:nvPr/>
        </p:nvSpPr>
        <p:spPr>
          <a:xfrm>
            <a:off x="4837176" y="3218688"/>
            <a:ext cx="3794760" cy="347472"/>
          </a:xfrm>
          <a:prstGeom prst="rect">
            <a:avLst/>
          </a:prstGeom>
          <a:noFill/>
          <a:ln/>
        </p:spPr>
        <p:txBody>
          <a:bodyPr wrap="square" lIns="0" tIns="0" rIns="0" bIns="0" rtlCol="0" anchor="ctr"/>
          <a:lstStyle/>
          <a:p>
            <a:pPr indent="0" marL="0">
              <a:buNone/>
            </a:pPr>
            <a:r>
              <a:rPr lang="en-US" sz="1300" b="1" dirty="0">
                <a:solidFill>
                  <a:srgbClr val="F6CD18"/>
                </a:solidFill>
                <a:latin typeface="Calibri" pitchFamily="34" charset="0"/>
                <a:ea typeface="Calibri" pitchFamily="34" charset="-122"/>
                <a:cs typeface="Calibri" pitchFamily="34" charset="-120"/>
              </a:rPr>
              <a:t>Admin Consent</a:t>
            </a:r>
            <a:endParaRPr lang="en-US" sz="1300" dirty="0"/>
          </a:p>
        </p:txBody>
      </p:sp>
      <p:sp>
        <p:nvSpPr>
          <p:cNvPr id="21" name="Text 19"/>
          <p:cNvSpPr/>
          <p:nvPr/>
        </p:nvSpPr>
        <p:spPr>
          <a:xfrm>
            <a:off x="4837176" y="3611880"/>
            <a:ext cx="3794760" cy="107899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Application-level permissions (not delegated)</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ExternalConnection.ReadWrite.OwnedBy</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ExternalItem.ReadWrite.OwnedBy</a:t>
            </a:r>
            <a:endParaRPr lang="en-US" sz="1150" dirty="0"/>
          </a:p>
        </p:txBody>
      </p:sp>
      <p:sp>
        <p:nvSpPr>
          <p:cNvPr id="22" name="Text 20"/>
          <p:cNvSpPr/>
          <p:nvPr/>
        </p:nvSpPr>
        <p:spPr>
          <a:xfrm>
            <a:off x="457200" y="4773168"/>
            <a:ext cx="8229600" cy="246888"/>
          </a:xfrm>
          <a:prstGeom prst="rect">
            <a:avLst/>
          </a:prstGeom>
          <a:noFill/>
          <a:ln/>
        </p:spPr>
        <p:txBody>
          <a:bodyPr wrap="square" lIns="0" tIns="0" rIns="0" bIns="0" rtlCol="0" anchor="ctr"/>
          <a:lstStyle/>
          <a:p>
            <a:pPr indent="0" marL="0">
              <a:buNone/>
            </a:pPr>
            <a:r>
              <a:rPr lang="en-US" sz="1050" i="1" dirty="0">
                <a:solidFill>
                  <a:srgbClr val="8A9BB5"/>
                </a:solidFill>
                <a:latin typeface="Calibri" pitchFamily="34" charset="0"/>
                <a:ea typeface="Calibri" pitchFamily="34" charset="-122"/>
                <a:cs typeface="Calibri" pitchFamily="34" charset="-120"/>
              </a:rPr>
              <a:t>Tip: Use a developer M365 tenant during testing -- mistakes won't affect production users.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4297680" cy="5143500"/>
          </a:xfrm>
          <a:prstGeom prst="rect">
            <a:avLst/>
          </a:prstGeom>
          <a:solidFill>
            <a:srgbClr val="080E1A"/>
          </a:solidFill>
          <a:ln w="12700">
            <a:solidFill>
              <a:srgbClr val="080E1A"/>
            </a:solidFill>
            <a:prstDash val="solid"/>
          </a:ln>
        </p:spPr>
      </p:sp>
      <p:sp>
        <p:nvSpPr>
          <p:cNvPr id="3" name="Shape 1"/>
          <p:cNvSpPr/>
          <p:nvPr/>
        </p:nvSpPr>
        <p:spPr>
          <a:xfrm>
            <a:off x="4297680" y="0"/>
            <a:ext cx="36576" cy="5143500"/>
          </a:xfrm>
          <a:prstGeom prst="rect">
            <a:avLst/>
          </a:prstGeom>
          <a:solidFill>
            <a:srgbClr val="F6CD18"/>
          </a:solidFill>
          <a:ln w="12700">
            <a:solidFill>
              <a:srgbClr val="F6CD18"/>
            </a:solidFill>
            <a:prstDash val="solid"/>
          </a:ln>
        </p:spPr>
      </p:sp>
      <p:sp>
        <p:nvSpPr>
          <p:cNvPr id="4" name="Text 2"/>
          <p:cNvSpPr/>
          <p:nvPr/>
        </p:nvSpPr>
        <p:spPr>
          <a:xfrm>
            <a:off x="365760" y="777240"/>
            <a:ext cx="3749040" cy="868680"/>
          </a:xfrm>
          <a:prstGeom prst="rect">
            <a:avLst/>
          </a:prstGeom>
          <a:noFill/>
          <a:ln/>
        </p:spPr>
        <p:txBody>
          <a:bodyPr wrap="square" lIns="0" tIns="0" rIns="0" bIns="0" rtlCol="0" anchor="ctr"/>
          <a:lstStyle/>
          <a:p>
            <a:pPr indent="0" marL="0">
              <a:buNone/>
            </a:pPr>
            <a:r>
              <a:rPr lang="en-US" sz="4800" b="1" dirty="0">
                <a:solidFill>
                  <a:srgbClr val="F6CD18"/>
                </a:solidFill>
                <a:latin typeface="Calibri" pitchFamily="34" charset="0"/>
                <a:ea typeface="Calibri" pitchFamily="34" charset="-122"/>
                <a:cs typeface="Calibri" pitchFamily="34" charset="-120"/>
              </a:rPr>
              <a:t>BUILD IT</a:t>
            </a:r>
            <a:endParaRPr lang="en-US" sz="4800" dirty="0"/>
          </a:p>
        </p:txBody>
      </p:sp>
      <p:sp>
        <p:nvSpPr>
          <p:cNvPr id="5" name="Text 3"/>
          <p:cNvSpPr/>
          <p:nvPr/>
        </p:nvSpPr>
        <p:spPr>
          <a:xfrm>
            <a:off x="365760" y="1691640"/>
            <a:ext cx="3749040" cy="18288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STEP BY</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STEP</a:t>
            </a:r>
            <a:endParaRPr lang="en-US" sz="4800" dirty="0"/>
          </a:p>
        </p:txBody>
      </p:sp>
      <p:sp>
        <p:nvSpPr>
          <p:cNvPr id="6" name="Shape 4"/>
          <p:cNvSpPr/>
          <p:nvPr/>
        </p:nvSpPr>
        <p:spPr>
          <a:xfrm>
            <a:off x="4572000" y="1207008"/>
            <a:ext cx="402336" cy="402336"/>
          </a:xfrm>
          <a:prstGeom prst="ellipse">
            <a:avLst/>
          </a:prstGeom>
          <a:solidFill>
            <a:srgbClr val="F6CD18"/>
          </a:solidFill>
          <a:ln w="12700">
            <a:solidFill>
              <a:srgbClr val="F6CD18"/>
            </a:solidFill>
            <a:prstDash val="solid"/>
          </a:ln>
        </p:spPr>
      </p:sp>
      <p:sp>
        <p:nvSpPr>
          <p:cNvPr id="7" name="Text 5"/>
          <p:cNvSpPr/>
          <p:nvPr/>
        </p:nvSpPr>
        <p:spPr>
          <a:xfrm>
            <a:off x="4572000" y="1207008"/>
            <a:ext cx="402336" cy="402336"/>
          </a:xfrm>
          <a:prstGeom prst="rect">
            <a:avLst/>
          </a:prstGeom>
          <a:noFill/>
          <a:ln/>
        </p:spPr>
        <p:txBody>
          <a:bodyPr wrap="square" lIns="0" tIns="0" rIns="0" bIns="0" rtlCol="0" anchor="ctr"/>
          <a:lstStyle/>
          <a:p>
            <a:pPr algn="ctr" indent="0" marL="0">
              <a:buNone/>
            </a:pPr>
            <a:r>
              <a:rPr lang="en-US" sz="1400" b="1" dirty="0">
                <a:solidFill>
                  <a:srgbClr val="0A0F1A"/>
                </a:solidFill>
              </a:rPr>
              <a:t>1</a:t>
            </a:r>
            <a:endParaRPr lang="en-US" sz="1400" dirty="0"/>
          </a:p>
        </p:txBody>
      </p:sp>
      <p:sp>
        <p:nvSpPr>
          <p:cNvPr id="8" name="Text 6"/>
          <p:cNvSpPr/>
          <p:nvPr/>
        </p:nvSpPr>
        <p:spPr>
          <a:xfrm>
            <a:off x="5102352" y="1225296"/>
            <a:ext cx="374904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Register App in Entra ID</a:t>
            </a:r>
            <a:endParaRPr lang="en-US" sz="1400" dirty="0"/>
          </a:p>
        </p:txBody>
      </p:sp>
      <p:sp>
        <p:nvSpPr>
          <p:cNvPr id="9" name="Shape 7"/>
          <p:cNvSpPr/>
          <p:nvPr/>
        </p:nvSpPr>
        <p:spPr>
          <a:xfrm>
            <a:off x="4572000" y="2029968"/>
            <a:ext cx="402336" cy="402336"/>
          </a:xfrm>
          <a:prstGeom prst="ellipse">
            <a:avLst/>
          </a:prstGeom>
          <a:solidFill>
            <a:srgbClr val="F6CD18"/>
          </a:solidFill>
          <a:ln w="12700">
            <a:solidFill>
              <a:srgbClr val="F6CD18"/>
            </a:solidFill>
            <a:prstDash val="solid"/>
          </a:ln>
        </p:spPr>
      </p:sp>
      <p:sp>
        <p:nvSpPr>
          <p:cNvPr id="10" name="Text 8"/>
          <p:cNvSpPr/>
          <p:nvPr/>
        </p:nvSpPr>
        <p:spPr>
          <a:xfrm>
            <a:off x="4572000" y="2029968"/>
            <a:ext cx="402336" cy="402336"/>
          </a:xfrm>
          <a:prstGeom prst="rect">
            <a:avLst/>
          </a:prstGeom>
          <a:noFill/>
          <a:ln/>
        </p:spPr>
        <p:txBody>
          <a:bodyPr wrap="square" lIns="0" tIns="0" rIns="0" bIns="0" rtlCol="0" anchor="ctr"/>
          <a:lstStyle/>
          <a:p>
            <a:pPr algn="ctr" indent="0" marL="0">
              <a:buNone/>
            </a:pPr>
            <a:r>
              <a:rPr lang="en-US" sz="1400" b="1" dirty="0">
                <a:solidFill>
                  <a:srgbClr val="0A0F1A"/>
                </a:solidFill>
              </a:rPr>
              <a:t>2</a:t>
            </a:r>
            <a:endParaRPr lang="en-US" sz="1400" dirty="0"/>
          </a:p>
        </p:txBody>
      </p:sp>
      <p:sp>
        <p:nvSpPr>
          <p:cNvPr id="11" name="Text 9"/>
          <p:cNvSpPr/>
          <p:nvPr/>
        </p:nvSpPr>
        <p:spPr>
          <a:xfrm>
            <a:off x="5102352" y="2048256"/>
            <a:ext cx="374904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Create the Connection</a:t>
            </a:r>
            <a:endParaRPr lang="en-US" sz="1400" dirty="0"/>
          </a:p>
        </p:txBody>
      </p:sp>
      <p:sp>
        <p:nvSpPr>
          <p:cNvPr id="12" name="Shape 10"/>
          <p:cNvSpPr/>
          <p:nvPr/>
        </p:nvSpPr>
        <p:spPr>
          <a:xfrm>
            <a:off x="4572000" y="2852928"/>
            <a:ext cx="402336" cy="402336"/>
          </a:xfrm>
          <a:prstGeom prst="ellipse">
            <a:avLst/>
          </a:prstGeom>
          <a:solidFill>
            <a:srgbClr val="F6CD18"/>
          </a:solidFill>
          <a:ln w="12700">
            <a:solidFill>
              <a:srgbClr val="F6CD18"/>
            </a:solidFill>
            <a:prstDash val="solid"/>
          </a:ln>
        </p:spPr>
      </p:sp>
      <p:sp>
        <p:nvSpPr>
          <p:cNvPr id="13" name="Text 11"/>
          <p:cNvSpPr/>
          <p:nvPr/>
        </p:nvSpPr>
        <p:spPr>
          <a:xfrm>
            <a:off x="4572000" y="2852928"/>
            <a:ext cx="402336" cy="402336"/>
          </a:xfrm>
          <a:prstGeom prst="rect">
            <a:avLst/>
          </a:prstGeom>
          <a:noFill/>
          <a:ln/>
        </p:spPr>
        <p:txBody>
          <a:bodyPr wrap="square" lIns="0" tIns="0" rIns="0" bIns="0" rtlCol="0" anchor="ctr"/>
          <a:lstStyle/>
          <a:p>
            <a:pPr algn="ctr" indent="0" marL="0">
              <a:buNone/>
            </a:pPr>
            <a:r>
              <a:rPr lang="en-US" sz="1400" b="1" dirty="0">
                <a:solidFill>
                  <a:srgbClr val="0A0F1A"/>
                </a:solidFill>
              </a:rPr>
              <a:t>3</a:t>
            </a:r>
            <a:endParaRPr lang="en-US" sz="1400" dirty="0"/>
          </a:p>
        </p:txBody>
      </p:sp>
      <p:sp>
        <p:nvSpPr>
          <p:cNvPr id="14" name="Text 12"/>
          <p:cNvSpPr/>
          <p:nvPr/>
        </p:nvSpPr>
        <p:spPr>
          <a:xfrm>
            <a:off x="5102352" y="2871216"/>
            <a:ext cx="374904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Register the Schema</a:t>
            </a:r>
            <a:endParaRPr lang="en-US" sz="1400" dirty="0"/>
          </a:p>
        </p:txBody>
      </p:sp>
      <p:sp>
        <p:nvSpPr>
          <p:cNvPr id="15" name="Shape 13"/>
          <p:cNvSpPr/>
          <p:nvPr/>
        </p:nvSpPr>
        <p:spPr>
          <a:xfrm>
            <a:off x="4572000" y="3675888"/>
            <a:ext cx="402336" cy="402336"/>
          </a:xfrm>
          <a:prstGeom prst="ellipse">
            <a:avLst/>
          </a:prstGeom>
          <a:solidFill>
            <a:srgbClr val="F6CD18"/>
          </a:solidFill>
          <a:ln w="12700">
            <a:solidFill>
              <a:srgbClr val="F6CD18"/>
            </a:solidFill>
            <a:prstDash val="solid"/>
          </a:ln>
        </p:spPr>
      </p:sp>
      <p:sp>
        <p:nvSpPr>
          <p:cNvPr id="16" name="Text 14"/>
          <p:cNvSpPr/>
          <p:nvPr/>
        </p:nvSpPr>
        <p:spPr>
          <a:xfrm>
            <a:off x="4572000" y="3675888"/>
            <a:ext cx="402336" cy="402336"/>
          </a:xfrm>
          <a:prstGeom prst="rect">
            <a:avLst/>
          </a:prstGeom>
          <a:noFill/>
          <a:ln/>
        </p:spPr>
        <p:txBody>
          <a:bodyPr wrap="square" lIns="0" tIns="0" rIns="0" bIns="0" rtlCol="0" anchor="ctr"/>
          <a:lstStyle/>
          <a:p>
            <a:pPr algn="ctr" indent="0" marL="0">
              <a:buNone/>
            </a:pPr>
            <a:r>
              <a:rPr lang="en-US" sz="1400" b="1" dirty="0">
                <a:solidFill>
                  <a:srgbClr val="0A0F1A"/>
                </a:solidFill>
              </a:rPr>
              <a:t>4</a:t>
            </a:r>
            <a:endParaRPr lang="en-US" sz="1400" dirty="0"/>
          </a:p>
        </p:txBody>
      </p:sp>
      <p:sp>
        <p:nvSpPr>
          <p:cNvPr id="17" name="Text 15"/>
          <p:cNvSpPr/>
          <p:nvPr/>
        </p:nvSpPr>
        <p:spPr>
          <a:xfrm>
            <a:off x="5102352" y="3694176"/>
            <a:ext cx="374904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Ingest Items (ETL Loop)</a:t>
            </a:r>
            <a:endParaRPr lang="en-US" sz="1400" dirty="0"/>
          </a:p>
        </p:txBody>
      </p:sp>
      <p:sp>
        <p:nvSpPr>
          <p:cNvPr id="18" name="Text 16"/>
          <p:cNvSpPr/>
          <p:nvPr/>
        </p:nvSpPr>
        <p:spPr>
          <a:xfrm>
            <a:off x="4572000" y="4480560"/>
            <a:ext cx="4206240" cy="320040"/>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setup.ps1 -&gt; create-connection.ps1 -&gt; register-schema.ps1 -&gt; ingest-*.ps1</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STEP 1  --  REGISTER AN AZURE APP  (setup.ps1)</a:t>
            </a:r>
            <a:endParaRPr lang="en-US" sz="1100" dirty="0"/>
          </a:p>
        </p:txBody>
      </p:sp>
      <p:sp>
        <p:nvSpPr>
          <p:cNvPr id="5" name="Shape 3"/>
          <p:cNvSpPr/>
          <p:nvPr/>
        </p:nvSpPr>
        <p:spPr>
          <a:xfrm>
            <a:off x="0" y="0"/>
            <a:ext cx="1024128" cy="612648"/>
          </a:xfrm>
          <a:prstGeom prst="rect">
            <a:avLst/>
          </a:prstGeom>
          <a:solidFill>
            <a:srgbClr val="F6CD18"/>
          </a:solidFill>
          <a:ln w="12700">
            <a:solidFill>
              <a:srgbClr val="F6CD18"/>
            </a:solidFill>
            <a:prstDash val="solid"/>
          </a:ln>
        </p:spPr>
      </p:sp>
      <p:sp>
        <p:nvSpPr>
          <p:cNvPr id="6" name="Text 4"/>
          <p:cNvSpPr/>
          <p:nvPr/>
        </p:nvSpPr>
        <p:spPr>
          <a:xfrm>
            <a:off x="0" y="0"/>
            <a:ext cx="1024128"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STEP 1</a:t>
            </a:r>
            <a:endParaRPr lang="en-US" sz="1300" dirty="0"/>
          </a:p>
        </p:txBody>
      </p:sp>
      <p:sp>
        <p:nvSpPr>
          <p:cNvPr id="7" name="Text 5"/>
          <p:cNvSpPr/>
          <p:nvPr/>
        </p:nvSpPr>
        <p:spPr>
          <a:xfrm>
            <a:off x="1170432" y="749808"/>
            <a:ext cx="7790688"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Create an Entra app registration with Application permissions -- no signed-in user required</a:t>
            </a:r>
            <a:endParaRPr lang="en-US" sz="1250" dirty="0"/>
          </a:p>
        </p:txBody>
      </p:sp>
      <p:sp>
        <p:nvSpPr>
          <p:cNvPr id="8" name="Shape 6"/>
          <p:cNvSpPr/>
          <p:nvPr/>
        </p:nvSpPr>
        <p:spPr>
          <a:xfrm>
            <a:off x="365760" y="1234440"/>
            <a:ext cx="2606040"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606040" cy="50292"/>
          </a:xfrm>
          <a:prstGeom prst="rect">
            <a:avLst/>
          </a:prstGeom>
          <a:solidFill>
            <a:srgbClr val="F6CD18"/>
          </a:solidFill>
          <a:ln w="12700">
            <a:solidFill>
              <a:srgbClr val="F6CD18"/>
            </a:solidFill>
            <a:prstDash val="solid"/>
          </a:ln>
        </p:spPr>
      </p:sp>
      <p:sp>
        <p:nvSpPr>
          <p:cNvPr id="10" name="Text 8"/>
          <p:cNvSpPr/>
          <p:nvPr/>
        </p:nvSpPr>
        <p:spPr>
          <a:xfrm>
            <a:off x="502920" y="1353312"/>
            <a:ext cx="2377440" cy="320040"/>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Required permissions</a:t>
            </a:r>
            <a:endParaRPr lang="en-US" sz="1200" dirty="0"/>
          </a:p>
        </p:txBody>
      </p:sp>
      <p:sp>
        <p:nvSpPr>
          <p:cNvPr id="11" name="Text 9"/>
          <p:cNvSpPr/>
          <p:nvPr/>
        </p:nvSpPr>
        <p:spPr>
          <a:xfrm>
            <a:off x="502920" y="1719072"/>
            <a:ext cx="2377440"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ExternalConnection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.ReadWrite.OwnedBy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=&gt; Create &amp; manage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the connection</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ExternalItem</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.ReadWrite.OwnedBy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=&gt; Push items into</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the index</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Store secrets in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env vars, never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in script files</a:t>
            </a:r>
            <a:endParaRPr lang="en-US" sz="1050" dirty="0"/>
          </a:p>
        </p:txBody>
      </p:sp>
      <p:sp>
        <p:nvSpPr>
          <p:cNvPr id="12" name="Shape 10"/>
          <p:cNvSpPr/>
          <p:nvPr/>
        </p:nvSpPr>
        <p:spPr>
          <a:xfrm>
            <a:off x="3090672" y="1234440"/>
            <a:ext cx="5687568" cy="3566160"/>
          </a:xfrm>
          <a:prstGeom prst="rect">
            <a:avLst/>
          </a:prstGeom>
          <a:solidFill>
            <a:srgbClr val="060C16"/>
          </a:solidFill>
          <a:ln w="12700">
            <a:solidFill>
              <a:srgbClr val="1E3050"/>
            </a:solidFill>
            <a:prstDash val="solid"/>
          </a:ln>
        </p:spPr>
      </p:sp>
      <p:sp>
        <p:nvSpPr>
          <p:cNvPr id="13" name="Text 11"/>
          <p:cNvSpPr/>
          <p:nvPr/>
        </p:nvSpPr>
        <p:spPr>
          <a:xfrm>
            <a:off x="3218688" y="1325880"/>
            <a:ext cx="5468112" cy="3383280"/>
          </a:xfrm>
          <a:prstGeom prst="rect">
            <a:avLst/>
          </a:prstGeom>
          <a:noFill/>
          <a:ln/>
        </p:spPr>
        <p:txBody>
          <a:bodyPr wrap="square" lIns="0" tIns="0" rIns="0" bIns="0" rtlCol="0" anchor="ctr"/>
          <a:lstStyle/>
          <a:p>
            <a:pPr indent="0" marL="0">
              <a:buNone/>
            </a:pPr>
            <a:r>
              <a:rPr lang="en-US" sz="900" dirty="0">
                <a:solidFill>
                  <a:srgbClr val="7ACED7"/>
                </a:solidFill>
                <a:latin typeface="Consolas" pitchFamily="34" charset="0"/>
                <a:ea typeface="Consolas" pitchFamily="34" charset="-122"/>
                <a:cs typeface="Consolas" pitchFamily="34" charset="-120"/>
              </a:rPr>
              <a:t># setup.ps1 -- creates app + grants permissions</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Connect-MgGraph -Scopes "Application.ReadWrite.All","AppRoleAssignment.ReadWrite.All"</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$app = New-MgApplication -DisplayName "MyCustomCopilotConnector"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-SignInAudience "AzureADMyOrg"</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Create a client secret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$secret = Add-MgApplicationPassword -ApplicationId $app.Id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-PasswordCredential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DisplayName = "ConnectorSecret"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EndDateTime = (Get-Date).AddYears(1)</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Grant Graph application permissions</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$graphSp = Get-MgServicePrincipal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-Filter "appId eq '00000003-0000-0000-c000-000000000000'"</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$permIds =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($graphSp.AppRoles | Where-Object Value -eq "ExternalConnection.ReadWrite.OwnedBy").Id</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($graphSp.AppRoles | Where-Object Value -eq "ExternalItem.ReadWrite.OwnedBy").Id</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$connSp = New-MgServicePrincipal -AppId $app.AppId</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foreach ($id in $permIds)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New-MgServicePrincipalAppRoleAssignment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-ServicePrincipalId $connSp.Id -PrincipalId $connSp.Id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-ResourceId $graphSp.Id -AppRoleId $id</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Write-Host "App ID: $($app.AppId)  Secret: $($secret.SecretText)"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STEP 2  --  CREATE THE EXTERNAL CONNECTION  (create-connection.ps1)</a:t>
            </a:r>
            <a:endParaRPr lang="en-US" sz="1100" dirty="0"/>
          </a:p>
        </p:txBody>
      </p:sp>
      <p:sp>
        <p:nvSpPr>
          <p:cNvPr id="5" name="Shape 3"/>
          <p:cNvSpPr/>
          <p:nvPr/>
        </p:nvSpPr>
        <p:spPr>
          <a:xfrm>
            <a:off x="0" y="0"/>
            <a:ext cx="1024128" cy="612648"/>
          </a:xfrm>
          <a:prstGeom prst="rect">
            <a:avLst/>
          </a:prstGeom>
          <a:solidFill>
            <a:srgbClr val="F6CD18"/>
          </a:solidFill>
          <a:ln w="12700">
            <a:solidFill>
              <a:srgbClr val="F6CD18"/>
            </a:solidFill>
            <a:prstDash val="solid"/>
          </a:ln>
        </p:spPr>
      </p:sp>
      <p:sp>
        <p:nvSpPr>
          <p:cNvPr id="6" name="Text 4"/>
          <p:cNvSpPr/>
          <p:nvPr/>
        </p:nvSpPr>
        <p:spPr>
          <a:xfrm>
            <a:off x="0" y="0"/>
            <a:ext cx="1024128"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STEP 2</a:t>
            </a:r>
            <a:endParaRPr lang="en-US" sz="1300" dirty="0"/>
          </a:p>
        </p:txBody>
      </p:sp>
      <p:sp>
        <p:nvSpPr>
          <p:cNvPr id="7" name="Text 5"/>
          <p:cNvSpPr/>
          <p:nvPr/>
        </p:nvSpPr>
        <p:spPr>
          <a:xfrm>
            <a:off x="1170432" y="749808"/>
            <a:ext cx="7790688"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Register your data source as a named connection in Microsoft Graph -- run this ONCE</a:t>
            </a:r>
            <a:endParaRPr lang="en-US" sz="1250" dirty="0"/>
          </a:p>
        </p:txBody>
      </p:sp>
      <p:sp>
        <p:nvSpPr>
          <p:cNvPr id="8" name="Shape 6"/>
          <p:cNvSpPr/>
          <p:nvPr/>
        </p:nvSpPr>
        <p:spPr>
          <a:xfrm>
            <a:off x="365760" y="1234440"/>
            <a:ext cx="2606040"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606040" cy="50292"/>
          </a:xfrm>
          <a:prstGeom prst="rect">
            <a:avLst/>
          </a:prstGeom>
          <a:solidFill>
            <a:srgbClr val="7ACED7"/>
          </a:solidFill>
          <a:ln w="12700">
            <a:solidFill>
              <a:srgbClr val="7ACED7"/>
            </a:solidFill>
            <a:prstDash val="solid"/>
          </a:ln>
        </p:spPr>
      </p:sp>
      <p:sp>
        <p:nvSpPr>
          <p:cNvPr id="10" name="Text 8"/>
          <p:cNvSpPr/>
          <p:nvPr/>
        </p:nvSpPr>
        <p:spPr>
          <a:xfrm>
            <a:off x="502920" y="1353312"/>
            <a:ext cx="2377440" cy="320040"/>
          </a:xfrm>
          <a:prstGeom prst="rect">
            <a:avLst/>
          </a:prstGeom>
          <a:noFill/>
          <a:ln/>
        </p:spPr>
        <p:txBody>
          <a:bodyPr wrap="square" lIns="0" tIns="0" rIns="0" bIns="0" rtlCol="0" anchor="ctr"/>
          <a:lstStyle/>
          <a:p>
            <a:pPr indent="0" marL="0">
              <a:buNone/>
            </a:pPr>
            <a:r>
              <a:rPr lang="en-US" sz="1200" b="1" dirty="0">
                <a:solidFill>
                  <a:srgbClr val="7ACED7"/>
                </a:solidFill>
                <a:latin typeface="Calibri" pitchFamily="34" charset="0"/>
                <a:ea typeface="Calibri" pitchFamily="34" charset="-122"/>
                <a:cs typeface="Calibri" pitchFamily="34" charset="-120"/>
              </a:rPr>
              <a:t>Connection rules</a:t>
            </a:r>
            <a:endParaRPr lang="en-US" sz="1200" dirty="0"/>
          </a:p>
        </p:txBody>
      </p:sp>
      <p:sp>
        <p:nvSpPr>
          <p:cNvPr id="11" name="Text 9"/>
          <p:cNvSpPr/>
          <p:nvPr/>
        </p:nvSpPr>
        <p:spPr>
          <a:xfrm>
            <a:off x="502920" y="1719072"/>
            <a:ext cx="2377440"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id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Unique, alphanumeric</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No spaces, max 32 chars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Cannot be changed later</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name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Display name in M365</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Admin Center</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description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Helps Copilot understand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what this source provides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Once created, the ID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is permanent -- plan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your naming carefully</a:t>
            </a:r>
            <a:endParaRPr lang="en-US" sz="1050" dirty="0"/>
          </a:p>
        </p:txBody>
      </p:sp>
      <p:sp>
        <p:nvSpPr>
          <p:cNvPr id="12" name="Shape 10"/>
          <p:cNvSpPr/>
          <p:nvPr/>
        </p:nvSpPr>
        <p:spPr>
          <a:xfrm>
            <a:off x="3090672" y="1234440"/>
            <a:ext cx="5687568" cy="3566160"/>
          </a:xfrm>
          <a:prstGeom prst="rect">
            <a:avLst/>
          </a:prstGeom>
          <a:solidFill>
            <a:srgbClr val="060C16"/>
          </a:solidFill>
          <a:ln w="12700">
            <a:solidFill>
              <a:srgbClr val="1E3050"/>
            </a:solidFill>
            <a:prstDash val="solid"/>
          </a:ln>
        </p:spPr>
      </p:sp>
      <p:sp>
        <p:nvSpPr>
          <p:cNvPr id="13" name="Text 11"/>
          <p:cNvSpPr/>
          <p:nvPr/>
        </p:nvSpPr>
        <p:spPr>
          <a:xfrm>
            <a:off x="3218688" y="1325880"/>
            <a:ext cx="5468112" cy="3383280"/>
          </a:xfrm>
          <a:prstGeom prst="rect">
            <a:avLst/>
          </a:prstGeom>
          <a:noFill/>
          <a:ln/>
        </p:spPr>
        <p:txBody>
          <a:bodyPr wrap="square" lIns="0" tIns="0" rIns="0" bIns="0" rtlCol="0" anchor="ctr"/>
          <a:lstStyle/>
          <a:p>
            <a:pPr indent="0" marL="0">
              <a:buNone/>
            </a:pPr>
            <a:r>
              <a:rPr lang="en-US" sz="900" dirty="0">
                <a:solidFill>
                  <a:srgbClr val="7ACED7"/>
                </a:solidFill>
                <a:latin typeface="Consolas" pitchFamily="34" charset="0"/>
                <a:ea typeface="Consolas" pitchFamily="34" charset="-122"/>
                <a:cs typeface="Consolas" pitchFamily="34" charset="-120"/>
              </a:rPr>
              <a:t># connect-to-graph.ps1 -- reuse in every script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$credential = [System.Management.Automation.PSCredential]::new(</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$env:CLIENT_ID,</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(ConvertTo-SecureString $env:CLIENT_SECRET -AsPlainText -Force)</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Connect-MgGraph -TenantId $env:TENANT_ID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-ClientSecretCredential $credential</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create-connection.ps1</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.\connect-to-graph.ps1</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$body =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id          = "myOrgKnowledgeBase"   # unique, no spaces</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name        = "My Org Knowledge Base"</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description = "Internal wiki, SOPs and how-to docs from our file share"</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 ConvertTo-Json</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Invoke-MgGraphRequest -Method POST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-Uri     "https://graph.microsoft.com/v1.0/external/connections"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-Body    $body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-ContentType "application/json"</a:t>
            </a:r>
            <a:endParaRPr lang="en-US" sz="900" dirty="0"/>
          </a:p>
          <a:p>
            <a:pPr indent="0" marL="0">
              <a:buNone/>
            </a:pP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Verify</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Get-MgExternalConnection | Select-Object Id, Name, State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STEP 3  --  REGISTER THE SCHEMA  (register-schema.ps1)</a:t>
            </a:r>
            <a:endParaRPr lang="en-US" sz="1100" dirty="0"/>
          </a:p>
        </p:txBody>
      </p:sp>
      <p:sp>
        <p:nvSpPr>
          <p:cNvPr id="5" name="Shape 3"/>
          <p:cNvSpPr/>
          <p:nvPr/>
        </p:nvSpPr>
        <p:spPr>
          <a:xfrm>
            <a:off x="0" y="0"/>
            <a:ext cx="1024128" cy="612648"/>
          </a:xfrm>
          <a:prstGeom prst="rect">
            <a:avLst/>
          </a:prstGeom>
          <a:solidFill>
            <a:srgbClr val="F6CD18"/>
          </a:solidFill>
          <a:ln w="12700">
            <a:solidFill>
              <a:srgbClr val="F6CD18"/>
            </a:solidFill>
            <a:prstDash val="solid"/>
          </a:ln>
        </p:spPr>
      </p:sp>
      <p:sp>
        <p:nvSpPr>
          <p:cNvPr id="6" name="Text 4"/>
          <p:cNvSpPr/>
          <p:nvPr/>
        </p:nvSpPr>
        <p:spPr>
          <a:xfrm>
            <a:off x="0" y="0"/>
            <a:ext cx="1024128"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STEP 3</a:t>
            </a:r>
            <a:endParaRPr lang="en-US" sz="1300" dirty="0"/>
          </a:p>
        </p:txBody>
      </p:sp>
      <p:sp>
        <p:nvSpPr>
          <p:cNvPr id="7" name="Text 5"/>
          <p:cNvSpPr/>
          <p:nvPr/>
        </p:nvSpPr>
        <p:spPr>
          <a:xfrm>
            <a:off x="1170432" y="749808"/>
            <a:ext cx="7790688"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Define every property your items will expose -- run ONCE, then poll until ready (can take minutes)</a:t>
            </a:r>
            <a:endParaRPr lang="en-US" sz="1250" dirty="0"/>
          </a:p>
        </p:txBody>
      </p:sp>
      <p:sp>
        <p:nvSpPr>
          <p:cNvPr id="8" name="Shape 6"/>
          <p:cNvSpPr/>
          <p:nvPr/>
        </p:nvSpPr>
        <p:spPr>
          <a:xfrm>
            <a:off x="365760" y="1234440"/>
            <a:ext cx="2606040"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606040" cy="50292"/>
          </a:xfrm>
          <a:prstGeom prst="rect">
            <a:avLst/>
          </a:prstGeom>
          <a:solidFill>
            <a:srgbClr val="3DD68C"/>
          </a:solidFill>
          <a:ln w="12700">
            <a:solidFill>
              <a:srgbClr val="3DD68C"/>
            </a:solidFill>
            <a:prstDash val="solid"/>
          </a:ln>
        </p:spPr>
      </p:sp>
      <p:sp>
        <p:nvSpPr>
          <p:cNvPr id="10" name="Text 8"/>
          <p:cNvSpPr/>
          <p:nvPr/>
        </p:nvSpPr>
        <p:spPr>
          <a:xfrm>
            <a:off x="502920" y="1353312"/>
            <a:ext cx="2377440" cy="320040"/>
          </a:xfrm>
          <a:prstGeom prst="rect">
            <a:avLst/>
          </a:prstGeom>
          <a:noFill/>
          <a:ln/>
        </p:spPr>
        <p:txBody>
          <a:bodyPr wrap="square" lIns="0" tIns="0" rIns="0" bIns="0" rtlCol="0" anchor="ctr"/>
          <a:lstStyle/>
          <a:p>
            <a:pPr indent="0" marL="0">
              <a:buNone/>
            </a:pPr>
            <a:r>
              <a:rPr lang="en-US" sz="1200" b="1" dirty="0">
                <a:solidFill>
                  <a:srgbClr val="3DD68C"/>
                </a:solidFill>
                <a:latin typeface="Calibri" pitchFamily="34" charset="0"/>
                <a:ea typeface="Calibri" pitchFamily="34" charset="-122"/>
                <a:cs typeface="Calibri" pitchFamily="34" charset="-120"/>
              </a:rPr>
              <a:t>Critical labels</a:t>
            </a:r>
            <a:endParaRPr lang="en-US" sz="1200" dirty="0"/>
          </a:p>
        </p:txBody>
      </p:sp>
      <p:sp>
        <p:nvSpPr>
          <p:cNvPr id="11" name="Text 9"/>
          <p:cNvSpPr/>
          <p:nvPr/>
        </p:nvSpPr>
        <p:spPr>
          <a:xfrm>
            <a:off x="502920" y="1719072"/>
            <a:ext cx="2377440"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Always set ALL THREE: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title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=&gt; Item heading in results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url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=&gt; Clickable link in Copilot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iconUrl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=&gt; Icon next to result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Without these three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labels, items will NOT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appear correctly in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responses.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Schema CANNOT be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modified after creation.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Delete &amp; recreate if</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you need changes.</a:t>
            </a:r>
            <a:endParaRPr lang="en-US" sz="1050" dirty="0"/>
          </a:p>
        </p:txBody>
      </p:sp>
      <p:sp>
        <p:nvSpPr>
          <p:cNvPr id="12" name="Shape 10"/>
          <p:cNvSpPr/>
          <p:nvPr/>
        </p:nvSpPr>
        <p:spPr>
          <a:xfrm>
            <a:off x="3090672" y="1234440"/>
            <a:ext cx="5687568" cy="3566160"/>
          </a:xfrm>
          <a:prstGeom prst="rect">
            <a:avLst/>
          </a:prstGeom>
          <a:solidFill>
            <a:srgbClr val="060C16"/>
          </a:solidFill>
          <a:ln w="12700">
            <a:solidFill>
              <a:srgbClr val="1E3050"/>
            </a:solidFill>
            <a:prstDash val="solid"/>
          </a:ln>
        </p:spPr>
      </p:sp>
      <p:sp>
        <p:nvSpPr>
          <p:cNvPr id="13" name="Text 11"/>
          <p:cNvSpPr/>
          <p:nvPr/>
        </p:nvSpPr>
        <p:spPr>
          <a:xfrm>
            <a:off x="3218688" y="1325880"/>
            <a:ext cx="5468112" cy="3383280"/>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register-schema.ps1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$connId = "myOrgKnowledgeBase"</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$schema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baseType   = "microsoft.graph.externalItem"</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name="title";    type="String";   isSearchable=$true;  isRetrievable=$true;  labels=@("title")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name="url";      type="String";   isRetrievable=$true;                       labels=@("url")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name="iconUrl";  type="String";   isRetrievable=$true;                       labels=@("iconUrl")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name="content";  type="String";   isSearchable=$true;  isRetrievable=$false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name="lastModified"; type="DateTime"; isQueryable=$true; isRetrievable=$true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labels=@("lastModifiedDateTime")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name="author";   type="String";   isSearchable=$true;  isRetrievable=$true;  labels=@("authors")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ConvertTo-Json -Depth 5</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Invoke-MgGraphRequest -Method PATCH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"https://graph.microsoft.com/v1.0/external/connections/$connId/schema"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$schema -ContentType "application/json"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Poll until ready</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do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Start-Sleep -Seconds 30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$status = (Invoke-MgGraphRequest -Method GET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"https://graph.microsoft.com/v1.0/external/connections/$connId/schema").status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Write-Host "Schema status: $status"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while ($status -ne "completed" -and $status -ne "failed")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STEP 4  --  INGEST ITEMS: THE ETL LOOP</a:t>
            </a:r>
            <a:endParaRPr lang="en-US" sz="1100" dirty="0"/>
          </a:p>
        </p:txBody>
      </p:sp>
      <p:sp>
        <p:nvSpPr>
          <p:cNvPr id="5" name="Shape 3"/>
          <p:cNvSpPr/>
          <p:nvPr/>
        </p:nvSpPr>
        <p:spPr>
          <a:xfrm>
            <a:off x="0" y="0"/>
            <a:ext cx="1024128" cy="612648"/>
          </a:xfrm>
          <a:prstGeom prst="rect">
            <a:avLst/>
          </a:prstGeom>
          <a:solidFill>
            <a:srgbClr val="F6CD18"/>
          </a:solidFill>
          <a:ln w="12700">
            <a:solidFill>
              <a:srgbClr val="F6CD18"/>
            </a:solidFill>
            <a:prstDash val="solid"/>
          </a:ln>
        </p:spPr>
      </p:sp>
      <p:sp>
        <p:nvSpPr>
          <p:cNvPr id="6" name="Text 4"/>
          <p:cNvSpPr/>
          <p:nvPr/>
        </p:nvSpPr>
        <p:spPr>
          <a:xfrm>
            <a:off x="0" y="0"/>
            <a:ext cx="1024128"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STEP 4</a:t>
            </a:r>
            <a:endParaRPr lang="en-US" sz="1300" dirty="0"/>
          </a:p>
        </p:txBody>
      </p:sp>
      <p:sp>
        <p:nvSpPr>
          <p:cNvPr id="7" name="Text 5"/>
          <p:cNvSpPr/>
          <p:nvPr/>
        </p:nvSpPr>
        <p:spPr>
          <a:xfrm>
            <a:off x="1170432" y="749808"/>
            <a:ext cx="7790688"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 item pushed to Graph needs an ID, properties, content body, and an ACL</a:t>
            </a:r>
            <a:endParaRPr lang="en-US" sz="1250" dirty="0"/>
          </a:p>
        </p:txBody>
      </p:sp>
      <p:sp>
        <p:nvSpPr>
          <p:cNvPr id="8" name="Shape 6"/>
          <p:cNvSpPr/>
          <p:nvPr/>
        </p:nvSpPr>
        <p:spPr>
          <a:xfrm>
            <a:off x="365760" y="1261872"/>
            <a:ext cx="8366760" cy="493776"/>
          </a:xfrm>
          <a:prstGeom prst="rect">
            <a:avLst/>
          </a:prstGeom>
          <a:solidFill>
            <a:srgbClr val="111B2D"/>
          </a:solidFill>
          <a:ln w="12700">
            <a:solidFill>
              <a:srgbClr val="1E3050"/>
            </a:solidFill>
            <a:prstDash val="solid"/>
          </a:ln>
        </p:spPr>
      </p:sp>
      <p:sp>
        <p:nvSpPr>
          <p:cNvPr id="9" name="Shape 7"/>
          <p:cNvSpPr/>
          <p:nvPr/>
        </p:nvSpPr>
        <p:spPr>
          <a:xfrm>
            <a:off x="365760" y="1261872"/>
            <a:ext cx="50292" cy="493776"/>
          </a:xfrm>
          <a:prstGeom prst="rect">
            <a:avLst/>
          </a:prstGeom>
          <a:solidFill>
            <a:srgbClr val="7ACED7"/>
          </a:solidFill>
          <a:ln w="12700">
            <a:solidFill>
              <a:srgbClr val="7ACED7"/>
            </a:solidFill>
            <a:prstDash val="solid"/>
          </a:ln>
        </p:spPr>
      </p:sp>
      <p:sp>
        <p:nvSpPr>
          <p:cNvPr id="10" name="Text 8"/>
          <p:cNvSpPr/>
          <p:nvPr/>
        </p:nvSpPr>
        <p:spPr>
          <a:xfrm>
            <a:off x="530352" y="1335024"/>
            <a:ext cx="1188720" cy="347472"/>
          </a:xfrm>
          <a:prstGeom prst="rect">
            <a:avLst/>
          </a:prstGeom>
          <a:noFill/>
          <a:ln/>
        </p:spPr>
        <p:txBody>
          <a:bodyPr wrap="square" lIns="0" tIns="0" rIns="0" bIns="0" rtlCol="0" anchor="ctr"/>
          <a:lstStyle/>
          <a:p>
            <a:pPr indent="0" marL="0">
              <a:buNone/>
            </a:pPr>
            <a:r>
              <a:rPr lang="en-US" sz="1100" b="1" dirty="0">
                <a:solidFill>
                  <a:srgbClr val="7ACED7"/>
                </a:solidFill>
                <a:latin typeface="Consolas" pitchFamily="34" charset="0"/>
                <a:ea typeface="Consolas" pitchFamily="34" charset="-122"/>
                <a:cs typeface="Consolas" pitchFamily="34" charset="-120"/>
              </a:rPr>
              <a:t>id</a:t>
            </a:r>
            <a:endParaRPr lang="en-US" sz="1100" dirty="0"/>
          </a:p>
        </p:txBody>
      </p:sp>
      <p:sp>
        <p:nvSpPr>
          <p:cNvPr id="11" name="Text 9"/>
          <p:cNvSpPr/>
          <p:nvPr/>
        </p:nvSpPr>
        <p:spPr>
          <a:xfrm>
            <a:off x="1801368" y="1335024"/>
            <a:ext cx="6793992" cy="34747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Unique string, no spaces. Use UrlEncode() or replace special chars.</a:t>
            </a:r>
            <a:endParaRPr lang="en-US" sz="1150" dirty="0"/>
          </a:p>
        </p:txBody>
      </p:sp>
      <p:sp>
        <p:nvSpPr>
          <p:cNvPr id="12" name="Shape 10"/>
          <p:cNvSpPr/>
          <p:nvPr/>
        </p:nvSpPr>
        <p:spPr>
          <a:xfrm>
            <a:off x="365760" y="1828800"/>
            <a:ext cx="8366760" cy="493776"/>
          </a:xfrm>
          <a:prstGeom prst="rect">
            <a:avLst/>
          </a:prstGeom>
          <a:solidFill>
            <a:srgbClr val="111B2D"/>
          </a:solidFill>
          <a:ln w="12700">
            <a:solidFill>
              <a:srgbClr val="1E3050"/>
            </a:solidFill>
            <a:prstDash val="solid"/>
          </a:ln>
        </p:spPr>
      </p:sp>
      <p:sp>
        <p:nvSpPr>
          <p:cNvPr id="13" name="Shape 11"/>
          <p:cNvSpPr/>
          <p:nvPr/>
        </p:nvSpPr>
        <p:spPr>
          <a:xfrm>
            <a:off x="365760" y="1828800"/>
            <a:ext cx="50292" cy="493776"/>
          </a:xfrm>
          <a:prstGeom prst="rect">
            <a:avLst/>
          </a:prstGeom>
          <a:solidFill>
            <a:srgbClr val="9B6DFF"/>
          </a:solidFill>
          <a:ln w="12700">
            <a:solidFill>
              <a:srgbClr val="9B6DFF"/>
            </a:solidFill>
            <a:prstDash val="solid"/>
          </a:ln>
        </p:spPr>
      </p:sp>
      <p:sp>
        <p:nvSpPr>
          <p:cNvPr id="14" name="Text 12"/>
          <p:cNvSpPr/>
          <p:nvPr/>
        </p:nvSpPr>
        <p:spPr>
          <a:xfrm>
            <a:off x="530352" y="1901952"/>
            <a:ext cx="1188720" cy="347472"/>
          </a:xfrm>
          <a:prstGeom prst="rect">
            <a:avLst/>
          </a:prstGeom>
          <a:noFill/>
          <a:ln/>
        </p:spPr>
        <p:txBody>
          <a:bodyPr wrap="square" lIns="0" tIns="0" rIns="0" bIns="0" rtlCol="0" anchor="ctr"/>
          <a:lstStyle/>
          <a:p>
            <a:pPr indent="0" marL="0">
              <a:buNone/>
            </a:pPr>
            <a:r>
              <a:rPr lang="en-US" sz="1100" b="1" dirty="0">
                <a:solidFill>
                  <a:srgbClr val="9B6DFF"/>
                </a:solidFill>
                <a:latin typeface="Consolas" pitchFamily="34" charset="0"/>
                <a:ea typeface="Consolas" pitchFamily="34" charset="-122"/>
                <a:cs typeface="Consolas" pitchFamily="34" charset="-120"/>
              </a:rPr>
              <a:t>properties</a:t>
            </a:r>
            <a:endParaRPr lang="en-US" sz="1100" dirty="0"/>
          </a:p>
        </p:txBody>
      </p:sp>
      <p:sp>
        <p:nvSpPr>
          <p:cNvPr id="15" name="Text 13"/>
          <p:cNvSpPr/>
          <p:nvPr/>
        </p:nvSpPr>
        <p:spPr>
          <a:xfrm>
            <a:off x="1801368" y="1901952"/>
            <a:ext cx="6793992" cy="34747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Typed fields matching your schema. Dates must be ISO 8601 UTC format.</a:t>
            </a:r>
            <a:endParaRPr lang="en-US" sz="1150" dirty="0"/>
          </a:p>
        </p:txBody>
      </p:sp>
      <p:sp>
        <p:nvSpPr>
          <p:cNvPr id="16" name="Shape 14"/>
          <p:cNvSpPr/>
          <p:nvPr/>
        </p:nvSpPr>
        <p:spPr>
          <a:xfrm>
            <a:off x="365760" y="2395728"/>
            <a:ext cx="8366760" cy="493776"/>
          </a:xfrm>
          <a:prstGeom prst="rect">
            <a:avLst/>
          </a:prstGeom>
          <a:solidFill>
            <a:srgbClr val="111B2D"/>
          </a:solidFill>
          <a:ln w="12700">
            <a:solidFill>
              <a:srgbClr val="1E3050"/>
            </a:solidFill>
            <a:prstDash val="solid"/>
          </a:ln>
        </p:spPr>
      </p:sp>
      <p:sp>
        <p:nvSpPr>
          <p:cNvPr id="17" name="Shape 15"/>
          <p:cNvSpPr/>
          <p:nvPr/>
        </p:nvSpPr>
        <p:spPr>
          <a:xfrm>
            <a:off x="365760" y="2395728"/>
            <a:ext cx="50292" cy="493776"/>
          </a:xfrm>
          <a:prstGeom prst="rect">
            <a:avLst/>
          </a:prstGeom>
          <a:solidFill>
            <a:srgbClr val="3DD68C"/>
          </a:solidFill>
          <a:ln w="12700">
            <a:solidFill>
              <a:srgbClr val="3DD68C"/>
            </a:solidFill>
            <a:prstDash val="solid"/>
          </a:ln>
        </p:spPr>
      </p:sp>
      <p:sp>
        <p:nvSpPr>
          <p:cNvPr id="18" name="Text 16"/>
          <p:cNvSpPr/>
          <p:nvPr/>
        </p:nvSpPr>
        <p:spPr>
          <a:xfrm>
            <a:off x="530352" y="2468880"/>
            <a:ext cx="1188720" cy="347472"/>
          </a:xfrm>
          <a:prstGeom prst="rect">
            <a:avLst/>
          </a:prstGeom>
          <a:noFill/>
          <a:ln/>
        </p:spPr>
        <p:txBody>
          <a:bodyPr wrap="square" lIns="0" tIns="0" rIns="0" bIns="0" rtlCol="0" anchor="ctr"/>
          <a:lstStyle/>
          <a:p>
            <a:pPr indent="0" marL="0">
              <a:buNone/>
            </a:pPr>
            <a:r>
              <a:rPr lang="en-US" sz="1100" b="1" dirty="0">
                <a:solidFill>
                  <a:srgbClr val="3DD68C"/>
                </a:solidFill>
                <a:latin typeface="Consolas" pitchFamily="34" charset="0"/>
                <a:ea typeface="Consolas" pitchFamily="34" charset="-122"/>
                <a:cs typeface="Consolas" pitchFamily="34" charset="-120"/>
              </a:rPr>
              <a:t>content</a:t>
            </a:r>
            <a:endParaRPr lang="en-US" sz="1100" dirty="0"/>
          </a:p>
        </p:txBody>
      </p:sp>
      <p:sp>
        <p:nvSpPr>
          <p:cNvPr id="19" name="Text 17"/>
          <p:cNvSpPr/>
          <p:nvPr/>
        </p:nvSpPr>
        <p:spPr>
          <a:xfrm>
            <a:off x="1801368" y="2468880"/>
            <a:ext cx="6793992" cy="34747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Full text Copilot reads for answers. Type = 'text' or 'html'. Rich = better answers.</a:t>
            </a:r>
            <a:endParaRPr lang="en-US" sz="1150" dirty="0"/>
          </a:p>
        </p:txBody>
      </p:sp>
      <p:sp>
        <p:nvSpPr>
          <p:cNvPr id="20" name="Shape 18"/>
          <p:cNvSpPr/>
          <p:nvPr/>
        </p:nvSpPr>
        <p:spPr>
          <a:xfrm>
            <a:off x="365760" y="2962656"/>
            <a:ext cx="8366760" cy="493776"/>
          </a:xfrm>
          <a:prstGeom prst="rect">
            <a:avLst/>
          </a:prstGeom>
          <a:solidFill>
            <a:srgbClr val="111B2D"/>
          </a:solidFill>
          <a:ln w="12700">
            <a:solidFill>
              <a:srgbClr val="1E3050"/>
            </a:solidFill>
            <a:prstDash val="solid"/>
          </a:ln>
        </p:spPr>
      </p:sp>
      <p:sp>
        <p:nvSpPr>
          <p:cNvPr id="21" name="Shape 19"/>
          <p:cNvSpPr/>
          <p:nvPr/>
        </p:nvSpPr>
        <p:spPr>
          <a:xfrm>
            <a:off x="365760" y="2962656"/>
            <a:ext cx="50292" cy="493776"/>
          </a:xfrm>
          <a:prstGeom prst="rect">
            <a:avLst/>
          </a:prstGeom>
          <a:solidFill>
            <a:srgbClr val="F6CD18"/>
          </a:solidFill>
          <a:ln w="12700">
            <a:solidFill>
              <a:srgbClr val="F6CD18"/>
            </a:solidFill>
            <a:prstDash val="solid"/>
          </a:ln>
        </p:spPr>
      </p:sp>
      <p:sp>
        <p:nvSpPr>
          <p:cNvPr id="22" name="Text 20"/>
          <p:cNvSpPr/>
          <p:nvPr/>
        </p:nvSpPr>
        <p:spPr>
          <a:xfrm>
            <a:off x="530352" y="3035808"/>
            <a:ext cx="1188720" cy="347472"/>
          </a:xfrm>
          <a:prstGeom prst="rect">
            <a:avLst/>
          </a:prstGeom>
          <a:noFill/>
          <a:ln/>
        </p:spPr>
        <p:txBody>
          <a:bodyPr wrap="square" lIns="0" tIns="0" rIns="0" bIns="0" rtlCol="0" anchor="ctr"/>
          <a:lstStyle/>
          <a:p>
            <a:pPr indent="0" marL="0">
              <a:buNone/>
            </a:pPr>
            <a:r>
              <a:rPr lang="en-US" sz="1100" b="1" dirty="0">
                <a:solidFill>
                  <a:srgbClr val="F6CD18"/>
                </a:solidFill>
                <a:latin typeface="Consolas" pitchFamily="34" charset="0"/>
                <a:ea typeface="Consolas" pitchFamily="34" charset="-122"/>
                <a:cs typeface="Consolas" pitchFamily="34" charset="-120"/>
              </a:rPr>
              <a:t>acl</a:t>
            </a:r>
            <a:endParaRPr lang="en-US" sz="1100" dirty="0"/>
          </a:p>
        </p:txBody>
      </p:sp>
      <p:sp>
        <p:nvSpPr>
          <p:cNvPr id="23" name="Text 21"/>
          <p:cNvSpPr/>
          <p:nvPr/>
        </p:nvSpPr>
        <p:spPr>
          <a:xfrm>
            <a:off x="1801368" y="3035808"/>
            <a:ext cx="6793992" cy="34747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Who can see this item. everyone / group / user / externalGuests -- grant or deny.</a:t>
            </a:r>
            <a:endParaRPr lang="en-US" sz="1150" dirty="0"/>
          </a:p>
        </p:txBody>
      </p:sp>
      <p:sp>
        <p:nvSpPr>
          <p:cNvPr id="24" name="Shape 22"/>
          <p:cNvSpPr/>
          <p:nvPr/>
        </p:nvSpPr>
        <p:spPr>
          <a:xfrm>
            <a:off x="365760" y="3566160"/>
            <a:ext cx="8366760" cy="1234440"/>
          </a:xfrm>
          <a:prstGeom prst="rect">
            <a:avLst/>
          </a:prstGeom>
          <a:solidFill>
            <a:srgbClr val="060C16"/>
          </a:solidFill>
          <a:ln w="12700">
            <a:solidFill>
              <a:srgbClr val="1E3050"/>
            </a:solidFill>
            <a:prstDash val="solid"/>
          </a:ln>
        </p:spPr>
      </p:sp>
      <p:sp>
        <p:nvSpPr>
          <p:cNvPr id="25" name="Text 23"/>
          <p:cNvSpPr/>
          <p:nvPr/>
        </p:nvSpPr>
        <p:spPr>
          <a:xfrm>
            <a:off x="493776" y="3657600"/>
            <a:ext cx="8147304" cy="1051560"/>
          </a:xfrm>
          <a:prstGeom prst="rect">
            <a:avLst/>
          </a:prstGeom>
          <a:noFill/>
          <a:ln/>
        </p:spPr>
        <p:txBody>
          <a:bodyPr wrap="square" lIns="0" tIns="0" rIns="0" bIns="0" rtlCol="0" anchor="ctr"/>
          <a:lstStyle/>
          <a:p>
            <a:pPr indent="0" marL="0">
              <a:buNone/>
            </a:pPr>
            <a:r>
              <a:rPr lang="en-US" sz="900" dirty="0">
                <a:solidFill>
                  <a:srgbClr val="7ACED7"/>
                </a:solidFill>
                <a:latin typeface="Consolas" pitchFamily="34" charset="0"/>
                <a:ea typeface="Consolas" pitchFamily="34" charset="-122"/>
                <a:cs typeface="Consolas" pitchFamily="34" charset="-120"/>
              </a:rPr>
              <a:t>function Push-ItemToGraph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param([string]$ConnectionId, [string]$ItemId, [hashtable]$Properties, [string]$Content, [string]$ContentType = "text")</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$body =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id = $ItemId;  properties = $Properties</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content = @{ value = $Content; type = $ContentType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acl = @( @{ type = "everyone"; value = "everyone"; accessType = "grant" }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 | ConvertTo-Json -Depth 6</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Invoke-MgGraphRequest -Method PUT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        -Body $body -ContentType "application/json"</a:t>
            </a:r>
            <a:endParaRPr lang="en-US" sz="900" dirty="0"/>
          </a:p>
          <a:p>
            <a:pPr indent="0" marL="0">
              <a:buNone/>
            </a:pPr>
            <a:r>
              <a:rPr lang="en-US" sz="900" dirty="0">
                <a:solidFill>
                  <a:srgbClr val="7ACED7"/>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ACED7"/>
          </a:solidFill>
          <a:ln w="12700">
            <a:solidFill>
              <a:srgbClr val="7ACED7"/>
            </a:solidFill>
            <a:prstDash val="solid"/>
          </a:ln>
        </p:spPr>
      </p:sp>
      <p:sp>
        <p:nvSpPr>
          <p:cNvPr id="3" name="Text 1"/>
          <p:cNvSpPr/>
          <p:nvPr/>
        </p:nvSpPr>
        <p:spPr>
          <a:xfrm>
            <a:off x="457200" y="640080"/>
            <a:ext cx="8229600" cy="1005840"/>
          </a:xfrm>
          <a:prstGeom prst="rect">
            <a:avLst/>
          </a:prstGeom>
          <a:noFill/>
          <a:ln/>
        </p:spPr>
        <p:txBody>
          <a:bodyPr wrap="square" lIns="0" tIns="0" rIns="0" bIns="0" rtlCol="0" anchor="ctr"/>
          <a:lstStyle/>
          <a:p>
            <a:pPr indent="0" marL="0">
              <a:buNone/>
            </a:pPr>
            <a:r>
              <a:rPr lang="en-US" sz="5800" b="1" dirty="0">
                <a:solidFill>
                  <a:srgbClr val="F6CD18"/>
                </a:solidFill>
                <a:latin typeface="Calibri" pitchFamily="34" charset="0"/>
                <a:ea typeface="Calibri" pitchFamily="34" charset="-122"/>
                <a:cs typeface="Calibri" pitchFamily="34" charset="-120"/>
              </a:rPr>
              <a:t>DATA SOURCE</a:t>
            </a:r>
            <a:endParaRPr lang="en-US" sz="5800" dirty="0"/>
          </a:p>
        </p:txBody>
      </p:sp>
      <p:sp>
        <p:nvSpPr>
          <p:cNvPr id="4" name="Text 2"/>
          <p:cNvSpPr/>
          <p:nvPr/>
        </p:nvSpPr>
        <p:spPr>
          <a:xfrm>
            <a:off x="457200" y="1664208"/>
            <a:ext cx="8229600" cy="914400"/>
          </a:xfrm>
          <a:prstGeom prst="rect">
            <a:avLst/>
          </a:prstGeom>
          <a:noFill/>
          <a:ln/>
        </p:spPr>
        <p:txBody>
          <a:bodyPr wrap="square" lIns="0" tIns="0" rIns="0" bIns="0" rtlCol="0" anchor="ctr"/>
          <a:lstStyle/>
          <a:p>
            <a:pPr indent="0" marL="0">
              <a:buNone/>
            </a:pPr>
            <a:r>
              <a:rPr lang="en-US" sz="5800" b="1" dirty="0">
                <a:solidFill>
                  <a:srgbClr val="FFFFFF"/>
                </a:solidFill>
                <a:latin typeface="Calibri" pitchFamily="34" charset="0"/>
                <a:ea typeface="Calibri" pitchFamily="34" charset="-122"/>
                <a:cs typeface="Calibri" pitchFamily="34" charset="-120"/>
              </a:rPr>
              <a:t>EXAMPLES</a:t>
            </a:r>
            <a:endParaRPr lang="en-US" sz="5800" dirty="0"/>
          </a:p>
        </p:txBody>
      </p:sp>
      <p:sp>
        <p:nvSpPr>
          <p:cNvPr id="5" name="Text 3"/>
          <p:cNvSpPr/>
          <p:nvPr/>
        </p:nvSpPr>
        <p:spPr>
          <a:xfrm>
            <a:off x="457200" y="2697480"/>
            <a:ext cx="8229600" cy="411480"/>
          </a:xfrm>
          <a:prstGeom prst="rect">
            <a:avLst/>
          </a:prstGeom>
          <a:noFill/>
          <a:ln/>
        </p:spPr>
        <p:txBody>
          <a:bodyPr wrap="square" lIns="0" tIns="0" rIns="0" bIns="0" rtlCol="0" anchor="ctr"/>
          <a:lstStyle/>
          <a:p>
            <a:pPr indent="0" marL="0">
              <a:buNone/>
            </a:pPr>
            <a:r>
              <a:rPr lang="en-US" sz="1800" dirty="0">
                <a:solidFill>
                  <a:srgbClr val="7ACED7"/>
                </a:solidFill>
                <a:latin typeface="Calibri Light" pitchFamily="34" charset="0"/>
                <a:ea typeface="Calibri Light" pitchFamily="34" charset="-122"/>
                <a:cs typeface="Calibri Light" pitchFamily="34" charset="-120"/>
              </a:rPr>
              <a:t>The same 4-step pattern -- three different sources</a:t>
            </a:r>
            <a:endParaRPr lang="en-US" sz="1800" dirty="0"/>
          </a:p>
        </p:txBody>
      </p:sp>
      <p:sp>
        <p:nvSpPr>
          <p:cNvPr id="6" name="Shape 4"/>
          <p:cNvSpPr/>
          <p:nvPr/>
        </p:nvSpPr>
        <p:spPr>
          <a:xfrm>
            <a:off x="1097280" y="3429000"/>
            <a:ext cx="2240280" cy="1261872"/>
          </a:xfrm>
          <a:prstGeom prst="rect">
            <a:avLst/>
          </a:prstGeom>
          <a:solidFill>
            <a:srgbClr val="111B2D"/>
          </a:solidFill>
          <a:ln w="19050">
            <a:solidFill>
              <a:srgbClr val="7ACED7"/>
            </a:solidFill>
            <a:prstDash val="solid"/>
          </a:ln>
        </p:spPr>
      </p:sp>
      <p:sp>
        <p:nvSpPr>
          <p:cNvPr id="7" name="Shape 5"/>
          <p:cNvSpPr/>
          <p:nvPr/>
        </p:nvSpPr>
        <p:spPr>
          <a:xfrm>
            <a:off x="1097280" y="3429000"/>
            <a:ext cx="2240280" cy="36576"/>
          </a:xfrm>
          <a:prstGeom prst="rect">
            <a:avLst/>
          </a:prstGeom>
          <a:solidFill>
            <a:srgbClr val="7ACED7"/>
          </a:solidFill>
          <a:ln w="12700">
            <a:solidFill>
              <a:srgbClr val="7ACED7"/>
            </a:solidFill>
            <a:prstDash val="solid"/>
          </a:ln>
        </p:spPr>
      </p:sp>
      <p:sp>
        <p:nvSpPr>
          <p:cNvPr id="8" name="Text 6"/>
          <p:cNvSpPr/>
          <p:nvPr/>
        </p:nvSpPr>
        <p:spPr>
          <a:xfrm>
            <a:off x="1097280" y="3584448"/>
            <a:ext cx="2240280" cy="777240"/>
          </a:xfrm>
          <a:prstGeom prst="rect">
            <a:avLst/>
          </a:prstGeom>
          <a:noFill/>
          <a:ln/>
        </p:spPr>
        <p:txBody>
          <a:bodyPr wrap="square" lIns="0" tIns="0" rIns="0" bIns="0" rtlCol="0" anchor="ctr"/>
          <a:lstStyle/>
          <a:p>
            <a:pPr algn="ctr" indent="0" marL="0">
              <a:buNone/>
            </a:pPr>
            <a:r>
              <a:rPr lang="en-US" sz="1300" b="1" dirty="0">
                <a:solidFill>
                  <a:srgbClr val="7ACED7"/>
                </a:solidFill>
                <a:latin typeface="Calibri" pitchFamily="34" charset="0"/>
                <a:ea typeface="Calibri" pitchFamily="34" charset="-122"/>
                <a:cs typeface="Calibri" pitchFamily="34" charset="-120"/>
              </a:rPr>
              <a:t>Example A</a:t>
            </a:r>
            <a:endParaRPr lang="en-US" sz="1300" dirty="0"/>
          </a:p>
          <a:p>
            <a:pPr algn="ctr" indent="0" marL="0">
              <a:buNone/>
            </a:pPr>
            <a:r>
              <a:rPr lang="en-US" sz="1300" b="1" dirty="0">
                <a:solidFill>
                  <a:srgbClr val="7ACED7"/>
                </a:solidFill>
                <a:latin typeface="Calibri" pitchFamily="34" charset="0"/>
                <a:ea typeface="Calibri" pitchFamily="34" charset="-122"/>
                <a:cs typeface="Calibri" pitchFamily="34" charset="-120"/>
              </a:rPr>
              <a:t>Local Files</a:t>
            </a:r>
            <a:endParaRPr lang="en-US" sz="1300" dirty="0"/>
          </a:p>
        </p:txBody>
      </p:sp>
      <p:sp>
        <p:nvSpPr>
          <p:cNvPr id="9" name="Shape 7"/>
          <p:cNvSpPr/>
          <p:nvPr/>
        </p:nvSpPr>
        <p:spPr>
          <a:xfrm>
            <a:off x="3657600" y="3429000"/>
            <a:ext cx="2240280" cy="1261872"/>
          </a:xfrm>
          <a:prstGeom prst="rect">
            <a:avLst/>
          </a:prstGeom>
          <a:solidFill>
            <a:srgbClr val="111B2D"/>
          </a:solidFill>
          <a:ln w="19050">
            <a:solidFill>
              <a:srgbClr val="F6CD18"/>
            </a:solidFill>
            <a:prstDash val="solid"/>
          </a:ln>
        </p:spPr>
      </p:sp>
      <p:sp>
        <p:nvSpPr>
          <p:cNvPr id="10" name="Shape 8"/>
          <p:cNvSpPr/>
          <p:nvPr/>
        </p:nvSpPr>
        <p:spPr>
          <a:xfrm>
            <a:off x="3657600" y="3429000"/>
            <a:ext cx="2240280" cy="36576"/>
          </a:xfrm>
          <a:prstGeom prst="rect">
            <a:avLst/>
          </a:prstGeom>
          <a:solidFill>
            <a:srgbClr val="F6CD18"/>
          </a:solidFill>
          <a:ln w="12700">
            <a:solidFill>
              <a:srgbClr val="F6CD18"/>
            </a:solidFill>
            <a:prstDash val="solid"/>
          </a:ln>
        </p:spPr>
      </p:sp>
      <p:sp>
        <p:nvSpPr>
          <p:cNvPr id="11" name="Text 9"/>
          <p:cNvSpPr/>
          <p:nvPr/>
        </p:nvSpPr>
        <p:spPr>
          <a:xfrm>
            <a:off x="3657600" y="3584448"/>
            <a:ext cx="2240280" cy="777240"/>
          </a:xfrm>
          <a:prstGeom prst="rect">
            <a:avLst/>
          </a:prstGeom>
          <a:noFill/>
          <a:ln/>
        </p:spPr>
        <p:txBody>
          <a:bodyPr wrap="square" lIns="0" tIns="0" rIns="0" bIns="0" rtlCol="0" anchor="ctr"/>
          <a:lstStyle/>
          <a:p>
            <a:pPr algn="ctr" indent="0" marL="0">
              <a:buNone/>
            </a:pPr>
            <a:r>
              <a:rPr lang="en-US" sz="1300" b="1" dirty="0">
                <a:solidFill>
                  <a:srgbClr val="F6CD18"/>
                </a:solidFill>
                <a:latin typeface="Calibri" pitchFamily="34" charset="0"/>
                <a:ea typeface="Calibri" pitchFamily="34" charset="-122"/>
                <a:cs typeface="Calibri" pitchFamily="34" charset="-120"/>
              </a:rPr>
              <a:t>Example B</a:t>
            </a:r>
            <a:endParaRPr lang="en-US" sz="1300" dirty="0"/>
          </a:p>
          <a:p>
            <a:pPr algn="ctr" indent="0" marL="0">
              <a:buNone/>
            </a:pPr>
            <a:r>
              <a:rPr lang="en-US" sz="1300" b="1" dirty="0">
                <a:solidFill>
                  <a:srgbClr val="F6CD18"/>
                </a:solidFill>
                <a:latin typeface="Calibri" pitchFamily="34" charset="0"/>
                <a:ea typeface="Calibri" pitchFamily="34" charset="-122"/>
                <a:cs typeface="Calibri" pitchFamily="34" charset="-120"/>
              </a:rPr>
              <a:t>REST API</a:t>
            </a:r>
            <a:endParaRPr lang="en-US" sz="1300" dirty="0"/>
          </a:p>
        </p:txBody>
      </p:sp>
      <p:sp>
        <p:nvSpPr>
          <p:cNvPr id="12" name="Shape 10"/>
          <p:cNvSpPr/>
          <p:nvPr/>
        </p:nvSpPr>
        <p:spPr>
          <a:xfrm>
            <a:off x="6217920" y="3429000"/>
            <a:ext cx="2240280" cy="1261872"/>
          </a:xfrm>
          <a:prstGeom prst="rect">
            <a:avLst/>
          </a:prstGeom>
          <a:solidFill>
            <a:srgbClr val="111B2D"/>
          </a:solidFill>
          <a:ln w="19050">
            <a:solidFill>
              <a:srgbClr val="3DD68C"/>
            </a:solidFill>
            <a:prstDash val="solid"/>
          </a:ln>
        </p:spPr>
      </p:sp>
      <p:sp>
        <p:nvSpPr>
          <p:cNvPr id="13" name="Shape 11"/>
          <p:cNvSpPr/>
          <p:nvPr/>
        </p:nvSpPr>
        <p:spPr>
          <a:xfrm>
            <a:off x="6217920" y="3429000"/>
            <a:ext cx="2240280" cy="36576"/>
          </a:xfrm>
          <a:prstGeom prst="rect">
            <a:avLst/>
          </a:prstGeom>
          <a:solidFill>
            <a:srgbClr val="3DD68C"/>
          </a:solidFill>
          <a:ln w="12700">
            <a:solidFill>
              <a:srgbClr val="3DD68C"/>
            </a:solidFill>
            <a:prstDash val="solid"/>
          </a:ln>
        </p:spPr>
      </p:sp>
      <p:sp>
        <p:nvSpPr>
          <p:cNvPr id="14" name="Text 12"/>
          <p:cNvSpPr/>
          <p:nvPr/>
        </p:nvSpPr>
        <p:spPr>
          <a:xfrm>
            <a:off x="6217920" y="3584448"/>
            <a:ext cx="2240280" cy="777240"/>
          </a:xfrm>
          <a:prstGeom prst="rect">
            <a:avLst/>
          </a:prstGeom>
          <a:noFill/>
          <a:ln/>
        </p:spPr>
        <p:txBody>
          <a:bodyPr wrap="square" lIns="0" tIns="0" rIns="0" bIns="0" rtlCol="0" anchor="ctr"/>
          <a:lstStyle/>
          <a:p>
            <a:pPr algn="ctr" indent="0" marL="0">
              <a:buNone/>
            </a:pPr>
            <a:r>
              <a:rPr lang="en-US" sz="1300" b="1" dirty="0">
                <a:solidFill>
                  <a:srgbClr val="3DD68C"/>
                </a:solidFill>
                <a:latin typeface="Calibri" pitchFamily="34" charset="0"/>
                <a:ea typeface="Calibri" pitchFamily="34" charset="-122"/>
                <a:cs typeface="Calibri" pitchFamily="34" charset="-120"/>
              </a:rPr>
              <a:t>Example C</a:t>
            </a:r>
            <a:endParaRPr lang="en-US" sz="1300" dirty="0"/>
          </a:p>
          <a:p>
            <a:pPr algn="ctr" indent="0" marL="0">
              <a:buNone/>
            </a:pPr>
            <a:r>
              <a:rPr lang="en-US" sz="1300" b="1" dirty="0">
                <a:solidFill>
                  <a:srgbClr val="3DD68C"/>
                </a:solidFill>
                <a:latin typeface="Calibri" pitchFamily="34" charset="0"/>
                <a:ea typeface="Calibri" pitchFamily="34" charset="-122"/>
                <a:cs typeface="Calibri" pitchFamily="34" charset="-120"/>
              </a:rPr>
              <a:t>SQL Database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EXAMPLE A  --  LOCAL FILES  (ingest-local-files.ps1)</a:t>
            </a:r>
            <a:endParaRPr lang="en-US" sz="1100" dirty="0"/>
          </a:p>
        </p:txBody>
      </p:sp>
      <p:sp>
        <p:nvSpPr>
          <p:cNvPr id="5" name="Shape 3"/>
          <p:cNvSpPr/>
          <p:nvPr/>
        </p:nvSpPr>
        <p:spPr>
          <a:xfrm>
            <a:off x="0" y="0"/>
            <a:ext cx="1188720" cy="612648"/>
          </a:xfrm>
          <a:prstGeom prst="rect">
            <a:avLst/>
          </a:prstGeom>
          <a:solidFill>
            <a:srgbClr val="7ACED7"/>
          </a:solidFill>
          <a:ln w="12700">
            <a:solidFill>
              <a:srgbClr val="7ACED7"/>
            </a:solidFill>
            <a:prstDash val="solid"/>
          </a:ln>
        </p:spPr>
      </p:sp>
      <p:sp>
        <p:nvSpPr>
          <p:cNvPr id="6" name="Text 4"/>
          <p:cNvSpPr/>
          <p:nvPr/>
        </p:nvSpPr>
        <p:spPr>
          <a:xfrm>
            <a:off x="0" y="0"/>
            <a:ext cx="1188720"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FILES</a:t>
            </a:r>
            <a:endParaRPr lang="en-US" sz="1300" dirty="0"/>
          </a:p>
        </p:txBody>
      </p:sp>
      <p:sp>
        <p:nvSpPr>
          <p:cNvPr id="7" name="Text 5"/>
          <p:cNvSpPr/>
          <p:nvPr/>
        </p:nvSpPr>
        <p:spPr>
          <a:xfrm>
            <a:off x="1325880" y="749808"/>
            <a:ext cx="7589520"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Walk a local folder, read every .md and .txt file, push each as an externalItem</a:t>
            </a:r>
            <a:endParaRPr lang="en-US" sz="1250" dirty="0"/>
          </a:p>
        </p:txBody>
      </p:sp>
      <p:sp>
        <p:nvSpPr>
          <p:cNvPr id="8" name="Shape 6"/>
          <p:cNvSpPr/>
          <p:nvPr/>
        </p:nvSpPr>
        <p:spPr>
          <a:xfrm>
            <a:off x="365760" y="1234440"/>
            <a:ext cx="2395728"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395728" cy="50292"/>
          </a:xfrm>
          <a:prstGeom prst="rect">
            <a:avLst/>
          </a:prstGeom>
          <a:solidFill>
            <a:srgbClr val="7ACED7"/>
          </a:solidFill>
          <a:ln w="12700">
            <a:solidFill>
              <a:srgbClr val="7ACED7"/>
            </a:solidFill>
            <a:prstDash val="solid"/>
          </a:ln>
        </p:spPr>
      </p:sp>
      <p:sp>
        <p:nvSpPr>
          <p:cNvPr id="10" name="Text 8"/>
          <p:cNvSpPr/>
          <p:nvPr/>
        </p:nvSpPr>
        <p:spPr>
          <a:xfrm>
            <a:off x="502920" y="1353312"/>
            <a:ext cx="2167128" cy="320040"/>
          </a:xfrm>
          <a:prstGeom prst="rect">
            <a:avLst/>
          </a:prstGeom>
          <a:noFill/>
          <a:ln/>
        </p:spPr>
        <p:txBody>
          <a:bodyPr wrap="square" lIns="0" tIns="0" rIns="0" bIns="0" rtlCol="0" anchor="ctr"/>
          <a:lstStyle/>
          <a:p>
            <a:pPr indent="0" marL="0">
              <a:buNone/>
            </a:pPr>
            <a:r>
              <a:rPr lang="en-US" sz="1200" b="1" dirty="0">
                <a:solidFill>
                  <a:srgbClr val="7ACED7"/>
                </a:solidFill>
                <a:latin typeface="Calibri" pitchFamily="34" charset="0"/>
                <a:ea typeface="Calibri" pitchFamily="34" charset="-122"/>
                <a:cs typeface="Calibri" pitchFamily="34" charset="-120"/>
              </a:rPr>
              <a:t>Key points</a:t>
            </a:r>
            <a:endParaRPr lang="en-US" sz="1200" dirty="0"/>
          </a:p>
        </p:txBody>
      </p:sp>
      <p:sp>
        <p:nvSpPr>
          <p:cNvPr id="11" name="Text 9"/>
          <p:cNvSpPr/>
          <p:nvPr/>
        </p:nvSpPr>
        <p:spPr>
          <a:xfrm>
            <a:off x="502920" y="1719072"/>
            <a:ext cx="2167128"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Get-ChildItem -Recurse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walks all sub-folders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BaseName =&gt; title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(replace dashes/underscores)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Item ID must be URL-safe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Use UrlEncode or regex</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Rate-limit with</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Start-Sleep -Ms 200</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file:/// URLs work for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internal testing but use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real HTTPS URLs for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production (SharePoint,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intranet, CDN)</a:t>
            </a:r>
            <a:endParaRPr lang="en-US" sz="1050" dirty="0"/>
          </a:p>
        </p:txBody>
      </p:sp>
      <p:sp>
        <p:nvSpPr>
          <p:cNvPr id="12" name="Shape 10"/>
          <p:cNvSpPr/>
          <p:nvPr/>
        </p:nvSpPr>
        <p:spPr>
          <a:xfrm>
            <a:off x="2862072" y="1234440"/>
            <a:ext cx="5897880" cy="3566160"/>
          </a:xfrm>
          <a:prstGeom prst="rect">
            <a:avLst/>
          </a:prstGeom>
          <a:solidFill>
            <a:srgbClr val="060C16"/>
          </a:solidFill>
          <a:ln w="12700">
            <a:solidFill>
              <a:srgbClr val="1E3050"/>
            </a:solidFill>
            <a:prstDash val="solid"/>
          </a:ln>
        </p:spPr>
      </p:sp>
      <p:sp>
        <p:nvSpPr>
          <p:cNvPr id="13" name="Text 11"/>
          <p:cNvSpPr/>
          <p:nvPr/>
        </p:nvSpPr>
        <p:spPr>
          <a:xfrm>
            <a:off x="2990088" y="1325880"/>
            <a:ext cx="5678424" cy="3383280"/>
          </a:xfrm>
          <a:prstGeom prst="rect">
            <a:avLst/>
          </a:prstGeom>
          <a:noFill/>
          <a:ln/>
        </p:spPr>
        <p:txBody>
          <a:bodyPr wrap="square" lIns="0" tIns="0" rIns="0" bIns="0" rtlCol="0" anchor="ctr"/>
          <a:lstStyle/>
          <a:p>
            <a:pPr indent="0" marL="0">
              <a:buNone/>
            </a:pPr>
            <a:r>
              <a:rPr lang="en-US" sz="880" dirty="0">
                <a:solidFill>
                  <a:srgbClr val="7ACED7"/>
                </a:solidFill>
                <a:latin typeface="Consolas" pitchFamily="34" charset="0"/>
                <a:ea typeface="Consolas" pitchFamily="34" charset="-122"/>
                <a:cs typeface="Consolas" pitchFamily="34" charset="-120"/>
              </a:rPr>
              <a:t>. .\connect-to-graph.ps1; . .\Push-ItemToGraph.ps1</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$connectionId = "myOrgKnowledgeBase"</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$sourceFolder = "C:\OrgDocs\KnowledgeBase"</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$iconUrl      = "https://cdn-icons-png.flaticon.com/512/281/281769.png"</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$files = Get-ChildItem -Path $sourceFolder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-Include "*.md","*.txt" -Recurse</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foreach ($file in $files)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 EXTRACT</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$rawContent = Get-Content -Path $file.FullName -Raw</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 TRANSFORM</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$itemUrl = "file:///$($file.FullName -replace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$itemId  = [System.Web.HttpUtility]::UrlEncode($file.Name)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-replace '%', '_'</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$properties =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title        = $file.BaseName -replace '-',' ' -replace '_','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url          = $itemUrl</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iconUrl      = $iconUrl</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lastModified = $file.LastWriteTimeUtc.ToString("o")</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author       = "IT Team"</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 LOAD</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Push-ItemToGraph -ConnectionId $connectionId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-ItemId       $itemId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-Properties   $properties `</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-Content      $rawContent</a:t>
            </a:r>
            <a:endParaRPr lang="en-US" sz="880" dirty="0"/>
          </a:p>
          <a:p>
            <a:pPr indent="0" marL="0">
              <a:buNone/>
            </a:pP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    Start-Sleep -Milliseconds 200</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a:t>
            </a:r>
            <a:endParaRPr lang="en-US" sz="880" dirty="0"/>
          </a:p>
          <a:p>
            <a:pPr indent="0" marL="0">
              <a:buNone/>
            </a:pPr>
            <a:r>
              <a:rPr lang="en-US" sz="880" dirty="0">
                <a:solidFill>
                  <a:srgbClr val="7ACED7"/>
                </a:solidFill>
                <a:latin typeface="Consolas" pitchFamily="34" charset="0"/>
                <a:ea typeface="Consolas" pitchFamily="34" charset="-122"/>
                <a:cs typeface="Consolas" pitchFamily="34" charset="-120"/>
              </a:rPr>
              <a:t>Write-Host "Done. $($files.Count) files pushed."</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EXAMPLE B  --  REST API SOURCE  (ingest-from-api.ps1)</a:t>
            </a:r>
            <a:endParaRPr lang="en-US" sz="1100" dirty="0"/>
          </a:p>
        </p:txBody>
      </p:sp>
      <p:sp>
        <p:nvSpPr>
          <p:cNvPr id="5" name="Shape 3"/>
          <p:cNvSpPr/>
          <p:nvPr/>
        </p:nvSpPr>
        <p:spPr>
          <a:xfrm>
            <a:off x="0" y="0"/>
            <a:ext cx="1188720" cy="612648"/>
          </a:xfrm>
          <a:prstGeom prst="rect">
            <a:avLst/>
          </a:prstGeom>
          <a:solidFill>
            <a:srgbClr val="F6CD18"/>
          </a:solidFill>
          <a:ln w="12700">
            <a:solidFill>
              <a:srgbClr val="F6CD18"/>
            </a:solidFill>
            <a:prstDash val="solid"/>
          </a:ln>
        </p:spPr>
      </p:sp>
      <p:sp>
        <p:nvSpPr>
          <p:cNvPr id="6" name="Text 4"/>
          <p:cNvSpPr/>
          <p:nvPr/>
        </p:nvSpPr>
        <p:spPr>
          <a:xfrm>
            <a:off x="0" y="0"/>
            <a:ext cx="1188720"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API</a:t>
            </a:r>
            <a:endParaRPr lang="en-US" sz="1300" dirty="0"/>
          </a:p>
        </p:txBody>
      </p:sp>
      <p:sp>
        <p:nvSpPr>
          <p:cNvPr id="7" name="Text 5"/>
          <p:cNvSpPr/>
          <p:nvPr/>
        </p:nvSpPr>
        <p:spPr>
          <a:xfrm>
            <a:off x="1325880" y="749808"/>
            <a:ext cx="7589520"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Paginate through an internal REST API and push each article as an externalItem</a:t>
            </a:r>
            <a:endParaRPr lang="en-US" sz="1250" dirty="0"/>
          </a:p>
        </p:txBody>
      </p:sp>
      <p:sp>
        <p:nvSpPr>
          <p:cNvPr id="8" name="Shape 6"/>
          <p:cNvSpPr/>
          <p:nvPr/>
        </p:nvSpPr>
        <p:spPr>
          <a:xfrm>
            <a:off x="365760" y="1234440"/>
            <a:ext cx="2395728"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395728" cy="50292"/>
          </a:xfrm>
          <a:prstGeom prst="rect">
            <a:avLst/>
          </a:prstGeom>
          <a:solidFill>
            <a:srgbClr val="F6CD18"/>
          </a:solidFill>
          <a:ln w="12700">
            <a:solidFill>
              <a:srgbClr val="F6CD18"/>
            </a:solidFill>
            <a:prstDash val="solid"/>
          </a:ln>
        </p:spPr>
      </p:sp>
      <p:sp>
        <p:nvSpPr>
          <p:cNvPr id="10" name="Text 8"/>
          <p:cNvSpPr/>
          <p:nvPr/>
        </p:nvSpPr>
        <p:spPr>
          <a:xfrm>
            <a:off x="502920" y="1353312"/>
            <a:ext cx="2167128" cy="320040"/>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Key points</a:t>
            </a:r>
            <a:endParaRPr lang="en-US" sz="1200" dirty="0"/>
          </a:p>
        </p:txBody>
      </p:sp>
      <p:sp>
        <p:nvSpPr>
          <p:cNvPr id="11" name="Text 9"/>
          <p:cNvSpPr/>
          <p:nvPr/>
        </p:nvSpPr>
        <p:spPr>
          <a:xfrm>
            <a:off x="502920" y="1719072"/>
            <a:ext cx="2167128"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Store API keys in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$env:INTERNAL_API_KEY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never in the script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Paginate with a while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loop -- don't assume one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call returns everything</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Check hasNextPage or</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equivalent in your API</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Combine title + body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into content string</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for richer Copilot answers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Works for: ticketing</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systems, CRM exports,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product catalogues, any</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internal JSON/REST API</a:t>
            </a:r>
            <a:endParaRPr lang="en-US" sz="1050" dirty="0"/>
          </a:p>
        </p:txBody>
      </p:sp>
      <p:sp>
        <p:nvSpPr>
          <p:cNvPr id="12" name="Shape 10"/>
          <p:cNvSpPr/>
          <p:nvPr/>
        </p:nvSpPr>
        <p:spPr>
          <a:xfrm>
            <a:off x="2862072" y="1234440"/>
            <a:ext cx="5897880" cy="3566160"/>
          </a:xfrm>
          <a:prstGeom prst="rect">
            <a:avLst/>
          </a:prstGeom>
          <a:solidFill>
            <a:srgbClr val="060C16"/>
          </a:solidFill>
          <a:ln w="12700">
            <a:solidFill>
              <a:srgbClr val="1E3050"/>
            </a:solidFill>
            <a:prstDash val="solid"/>
          </a:ln>
        </p:spPr>
      </p:sp>
      <p:sp>
        <p:nvSpPr>
          <p:cNvPr id="13" name="Text 11"/>
          <p:cNvSpPr/>
          <p:nvPr/>
        </p:nvSpPr>
        <p:spPr>
          <a:xfrm>
            <a:off x="2990088" y="1325880"/>
            <a:ext cx="5678424" cy="3383280"/>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"myOrgKnowledgeBase"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$apiBase      = "https://internal-api.mycompany.com/api/articles"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$iconUrl      = "https://cdn-icons-png.flaticon.com/512/2665/2665038.png"</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$page = 1; $hasMore = $true</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while ($hasMore)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$response = Invoke-RestMethod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"$apiBase`?page=$page&amp;pageSize=50"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-Headers @{ "x-api-key" = $env:INTERNAL_API_KEY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-Method  GET</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foreach ($article in $response.items)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"article_$($article.id)"</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title        = $article.title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          = "https://internal.mycompany.com/articles/$($article.id)"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      = $iconUrl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 = $article.updatedAt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       = $article.authorName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"$($article.title)`n`n$($article.body)"</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  properties = $properties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 = $content; type = "text"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Start-Sleep -Milliseconds 100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$hasMore = $response.hasNextPage;  $page++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EXAMPLE C  --  SQL DATABASE SOURCE  (ingest-from-sql.ps1)</a:t>
            </a:r>
            <a:endParaRPr lang="en-US" sz="1100" dirty="0"/>
          </a:p>
        </p:txBody>
      </p:sp>
      <p:sp>
        <p:nvSpPr>
          <p:cNvPr id="5" name="Shape 3"/>
          <p:cNvSpPr/>
          <p:nvPr/>
        </p:nvSpPr>
        <p:spPr>
          <a:xfrm>
            <a:off x="0" y="0"/>
            <a:ext cx="1188720" cy="612648"/>
          </a:xfrm>
          <a:prstGeom prst="rect">
            <a:avLst/>
          </a:prstGeom>
          <a:solidFill>
            <a:srgbClr val="3DD68C"/>
          </a:solidFill>
          <a:ln w="12700">
            <a:solidFill>
              <a:srgbClr val="3DD68C"/>
            </a:solidFill>
            <a:prstDash val="solid"/>
          </a:ln>
        </p:spPr>
      </p:sp>
      <p:sp>
        <p:nvSpPr>
          <p:cNvPr id="6" name="Text 4"/>
          <p:cNvSpPr/>
          <p:nvPr/>
        </p:nvSpPr>
        <p:spPr>
          <a:xfrm>
            <a:off x="0" y="0"/>
            <a:ext cx="1188720" cy="612648"/>
          </a:xfrm>
          <a:prstGeom prst="rect">
            <a:avLst/>
          </a:prstGeom>
          <a:noFill/>
          <a:ln/>
        </p:spPr>
        <p:txBody>
          <a:bodyPr wrap="square" lIns="0" tIns="0" rIns="0" bIns="0" rtlCol="0" anchor="ctr"/>
          <a:lstStyle/>
          <a:p>
            <a:pPr algn="ctr" indent="0" marL="0">
              <a:buNone/>
            </a:pPr>
            <a:r>
              <a:rPr lang="en-US" sz="1300" b="1" dirty="0">
                <a:solidFill>
                  <a:srgbClr val="0A0F1A"/>
                </a:solidFill>
                <a:latin typeface="Calibri" pitchFamily="34" charset="0"/>
                <a:ea typeface="Calibri" pitchFamily="34" charset="-122"/>
                <a:cs typeface="Calibri" pitchFamily="34" charset="-120"/>
              </a:rPr>
              <a:t>SQL</a:t>
            </a:r>
            <a:endParaRPr lang="en-US" sz="1300" dirty="0"/>
          </a:p>
        </p:txBody>
      </p:sp>
      <p:sp>
        <p:nvSpPr>
          <p:cNvPr id="7" name="Text 5"/>
          <p:cNvSpPr/>
          <p:nvPr/>
        </p:nvSpPr>
        <p:spPr>
          <a:xfrm>
            <a:off x="1325880" y="749808"/>
            <a:ext cx="7589520" cy="34747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Open a SqlClient connection, execute a query, push each row as an externalItem</a:t>
            </a:r>
            <a:endParaRPr lang="en-US" sz="1250" dirty="0"/>
          </a:p>
        </p:txBody>
      </p:sp>
      <p:sp>
        <p:nvSpPr>
          <p:cNvPr id="8" name="Shape 6"/>
          <p:cNvSpPr/>
          <p:nvPr/>
        </p:nvSpPr>
        <p:spPr>
          <a:xfrm>
            <a:off x="365760" y="1234440"/>
            <a:ext cx="2395728" cy="3566160"/>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9" name="Shape 7"/>
          <p:cNvSpPr/>
          <p:nvPr/>
        </p:nvSpPr>
        <p:spPr>
          <a:xfrm>
            <a:off x="365760" y="1234440"/>
            <a:ext cx="2395728" cy="50292"/>
          </a:xfrm>
          <a:prstGeom prst="rect">
            <a:avLst/>
          </a:prstGeom>
          <a:solidFill>
            <a:srgbClr val="3DD68C"/>
          </a:solidFill>
          <a:ln w="12700">
            <a:solidFill>
              <a:srgbClr val="3DD68C"/>
            </a:solidFill>
            <a:prstDash val="solid"/>
          </a:ln>
        </p:spPr>
      </p:sp>
      <p:sp>
        <p:nvSpPr>
          <p:cNvPr id="10" name="Text 8"/>
          <p:cNvSpPr/>
          <p:nvPr/>
        </p:nvSpPr>
        <p:spPr>
          <a:xfrm>
            <a:off x="502920" y="1353312"/>
            <a:ext cx="2167128" cy="320040"/>
          </a:xfrm>
          <a:prstGeom prst="rect">
            <a:avLst/>
          </a:prstGeom>
          <a:noFill/>
          <a:ln/>
        </p:spPr>
        <p:txBody>
          <a:bodyPr wrap="square" lIns="0" tIns="0" rIns="0" bIns="0" rtlCol="0" anchor="ctr"/>
          <a:lstStyle/>
          <a:p>
            <a:pPr indent="0" marL="0">
              <a:buNone/>
            </a:pPr>
            <a:r>
              <a:rPr lang="en-US" sz="1200" b="1" dirty="0">
                <a:solidFill>
                  <a:srgbClr val="3DD68C"/>
                </a:solidFill>
                <a:latin typeface="Calibri" pitchFamily="34" charset="0"/>
                <a:ea typeface="Calibri" pitchFamily="34" charset="-122"/>
                <a:cs typeface="Calibri" pitchFamily="34" charset="-120"/>
              </a:rPr>
              <a:t>Key points</a:t>
            </a:r>
            <a:endParaRPr lang="en-US" sz="1200" dirty="0"/>
          </a:p>
        </p:txBody>
      </p:sp>
      <p:sp>
        <p:nvSpPr>
          <p:cNvPr id="11" name="Text 9"/>
          <p:cNvSpPr/>
          <p:nvPr/>
        </p:nvSpPr>
        <p:spPr>
          <a:xfrm>
            <a:off x="502920" y="1719072"/>
            <a:ext cx="2167128" cy="299008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Store credentials in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$env:SQL_USER /</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$env:SQL_PASSWORD</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Cast reader values: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[string]$reader['Col']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[datetime]$reader['Date']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DateTime must be ISO 8601:</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.ToString("o")</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Close reader AND</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connection when done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Filter at the SQL level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(WHERE IsPublished = 1)</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to avoid ingesting drafts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Also works with:</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Oracle, PostgreSQL,</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MySQL via ODBC</a:t>
            </a:r>
            <a:endParaRPr lang="en-US" sz="1050" dirty="0"/>
          </a:p>
        </p:txBody>
      </p:sp>
      <p:sp>
        <p:nvSpPr>
          <p:cNvPr id="12" name="Shape 10"/>
          <p:cNvSpPr/>
          <p:nvPr/>
        </p:nvSpPr>
        <p:spPr>
          <a:xfrm>
            <a:off x="2862072" y="1234440"/>
            <a:ext cx="5897880" cy="3566160"/>
          </a:xfrm>
          <a:prstGeom prst="rect">
            <a:avLst/>
          </a:prstGeom>
          <a:solidFill>
            <a:srgbClr val="060C16"/>
          </a:solidFill>
          <a:ln w="12700">
            <a:solidFill>
              <a:srgbClr val="1E3050"/>
            </a:solidFill>
            <a:prstDash val="solid"/>
          </a:ln>
        </p:spPr>
      </p:sp>
      <p:sp>
        <p:nvSpPr>
          <p:cNvPr id="13" name="Text 11"/>
          <p:cNvSpPr/>
          <p:nvPr/>
        </p:nvSpPr>
        <p:spPr>
          <a:xfrm>
            <a:off x="2990088" y="1325880"/>
            <a:ext cx="5678424" cy="3383280"/>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"myOrgKnowledgeBase"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$iconUrl      = "https://cdn-icons-png.flaticon.com/512/4299/4299956.png"</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$connStr = "Server=$env:SQL_SERVER;Database=InternalKB;User Id=$env:SQL_USER;Password=$env:SQL_PASSWORD;"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 = New-Object System.Data.SqlClient.SqlConnection($connStr)</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$conn.Open()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$cmd = $conn.CreateCommand()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$cmd.CommandText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SELECT ArticleId, Title, Body, AuthorName,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LastUpdated, ArticleUrl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FROM   dbo.KnowledgeArticles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WHERE  IsPublished = 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$reader = $cmd.ExecuteReader()</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while ($reader.Read())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"sql_article_$($reader['ArticleId'])"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title        = [string]$reader['Title']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          = [string]$reader['ArticleUrl']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      = $iconUrl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 = ([datetime]$reader['LastUpdated']).ToString("o")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       = [string]$reader['AuthorName']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"$($reader['Title'])`n`n$($reader['Body'])"</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 properties = $properties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 = $content; type = "text"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Start-Sleep -Milliseconds 150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$reader.Close(); $conn.Close()</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ACLs -- CONTROLLING WHO SEES WHAT</a:t>
            </a:r>
            <a:endParaRPr lang="en-US" sz="1100" dirty="0"/>
          </a:p>
        </p:txBody>
      </p:sp>
      <p:sp>
        <p:nvSpPr>
          <p:cNvPr id="5" name="Text 3"/>
          <p:cNvSpPr/>
          <p:nvPr/>
        </p:nvSpPr>
        <p:spPr>
          <a:xfrm>
            <a:off x="457200" y="749808"/>
            <a:ext cx="8229600" cy="347472"/>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ACL on each externalItem controls exactly which users and groups see it in Search and Copilot</a:t>
            </a:r>
            <a:endParaRPr lang="en-US" sz="1350" dirty="0"/>
          </a:p>
        </p:txBody>
      </p:sp>
      <p:sp>
        <p:nvSpPr>
          <p:cNvPr id="6" name="Shape 4"/>
          <p:cNvSpPr/>
          <p:nvPr/>
        </p:nvSpPr>
        <p:spPr>
          <a:xfrm>
            <a:off x="365760" y="1261872"/>
            <a:ext cx="8366760" cy="694944"/>
          </a:xfrm>
          <a:prstGeom prst="rect">
            <a:avLst/>
          </a:prstGeom>
          <a:solidFill>
            <a:srgbClr val="111B2D"/>
          </a:solidFill>
          <a:ln w="12700">
            <a:solidFill>
              <a:srgbClr val="1E3050"/>
            </a:solidFill>
            <a:prstDash val="solid"/>
          </a:ln>
        </p:spPr>
      </p:sp>
      <p:sp>
        <p:nvSpPr>
          <p:cNvPr id="7" name="Shape 5"/>
          <p:cNvSpPr/>
          <p:nvPr/>
        </p:nvSpPr>
        <p:spPr>
          <a:xfrm>
            <a:off x="365760" y="1261872"/>
            <a:ext cx="50292" cy="694944"/>
          </a:xfrm>
          <a:prstGeom prst="rect">
            <a:avLst/>
          </a:prstGeom>
          <a:solidFill>
            <a:srgbClr val="3DD68C"/>
          </a:solidFill>
          <a:ln w="12700">
            <a:solidFill>
              <a:srgbClr val="3DD68C"/>
            </a:solidFill>
            <a:prstDash val="solid"/>
          </a:ln>
        </p:spPr>
      </p:sp>
      <p:sp>
        <p:nvSpPr>
          <p:cNvPr id="8" name="Text 6"/>
          <p:cNvSpPr/>
          <p:nvPr/>
        </p:nvSpPr>
        <p:spPr>
          <a:xfrm>
            <a:off x="521208" y="1335024"/>
            <a:ext cx="2286000" cy="274320"/>
          </a:xfrm>
          <a:prstGeom prst="rect">
            <a:avLst/>
          </a:prstGeom>
          <a:noFill/>
          <a:ln/>
        </p:spPr>
        <p:txBody>
          <a:bodyPr wrap="square" lIns="0" tIns="0" rIns="0" bIns="0" rtlCol="0" anchor="ctr"/>
          <a:lstStyle/>
          <a:p>
            <a:pPr indent="0" marL="0">
              <a:buNone/>
            </a:pPr>
            <a:r>
              <a:rPr lang="en-US" sz="1150" b="1" dirty="0">
                <a:solidFill>
                  <a:srgbClr val="3DD68C"/>
                </a:solidFill>
                <a:latin typeface="Calibri" pitchFamily="34" charset="0"/>
                <a:ea typeface="Calibri" pitchFamily="34" charset="-122"/>
                <a:cs typeface="Calibri" pitchFamily="34" charset="-120"/>
              </a:rPr>
              <a:t>Everyone (most open)</a:t>
            </a:r>
            <a:endParaRPr lang="en-US" sz="1150" dirty="0"/>
          </a:p>
        </p:txBody>
      </p:sp>
      <p:sp>
        <p:nvSpPr>
          <p:cNvPr id="9" name="Shape 7"/>
          <p:cNvSpPr/>
          <p:nvPr/>
        </p:nvSpPr>
        <p:spPr>
          <a:xfrm>
            <a:off x="2862072" y="1335024"/>
            <a:ext cx="5715000" cy="530352"/>
          </a:xfrm>
          <a:prstGeom prst="rect">
            <a:avLst/>
          </a:prstGeom>
          <a:solidFill>
            <a:srgbClr val="060C16"/>
          </a:solidFill>
          <a:ln w="12700">
            <a:solidFill>
              <a:srgbClr val="1E3050"/>
            </a:solidFill>
            <a:prstDash val="solid"/>
          </a:ln>
        </p:spPr>
      </p:sp>
      <p:sp>
        <p:nvSpPr>
          <p:cNvPr id="10" name="Text 8"/>
          <p:cNvSpPr/>
          <p:nvPr/>
        </p:nvSpPr>
        <p:spPr>
          <a:xfrm>
            <a:off x="2971800" y="1371600"/>
            <a:ext cx="5532120" cy="457200"/>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 type="everyone"; value="everyone"; accessType="grant" }</a:t>
            </a:r>
            <a:endParaRPr lang="en-US" sz="950" dirty="0"/>
          </a:p>
        </p:txBody>
      </p:sp>
      <p:sp>
        <p:nvSpPr>
          <p:cNvPr id="11" name="Shape 9"/>
          <p:cNvSpPr/>
          <p:nvPr/>
        </p:nvSpPr>
        <p:spPr>
          <a:xfrm>
            <a:off x="365760" y="2084832"/>
            <a:ext cx="8366760" cy="694944"/>
          </a:xfrm>
          <a:prstGeom prst="rect">
            <a:avLst/>
          </a:prstGeom>
          <a:solidFill>
            <a:srgbClr val="111B2D"/>
          </a:solidFill>
          <a:ln w="12700">
            <a:solidFill>
              <a:srgbClr val="1E3050"/>
            </a:solidFill>
            <a:prstDash val="solid"/>
          </a:ln>
        </p:spPr>
      </p:sp>
      <p:sp>
        <p:nvSpPr>
          <p:cNvPr id="12" name="Shape 10"/>
          <p:cNvSpPr/>
          <p:nvPr/>
        </p:nvSpPr>
        <p:spPr>
          <a:xfrm>
            <a:off x="365760" y="2084832"/>
            <a:ext cx="50292" cy="694944"/>
          </a:xfrm>
          <a:prstGeom prst="rect">
            <a:avLst/>
          </a:prstGeom>
          <a:solidFill>
            <a:srgbClr val="7ACED7"/>
          </a:solidFill>
          <a:ln w="12700">
            <a:solidFill>
              <a:srgbClr val="7ACED7"/>
            </a:solidFill>
            <a:prstDash val="solid"/>
          </a:ln>
        </p:spPr>
      </p:sp>
      <p:sp>
        <p:nvSpPr>
          <p:cNvPr id="13" name="Text 11"/>
          <p:cNvSpPr/>
          <p:nvPr/>
        </p:nvSpPr>
        <p:spPr>
          <a:xfrm>
            <a:off x="521208" y="2157984"/>
            <a:ext cx="2286000" cy="274320"/>
          </a:xfrm>
          <a:prstGeom prst="rect">
            <a:avLst/>
          </a:prstGeom>
          <a:noFill/>
          <a:ln/>
        </p:spPr>
        <p:txBody>
          <a:bodyPr wrap="square" lIns="0" tIns="0" rIns="0" bIns="0" rtlCol="0" anchor="ctr"/>
          <a:lstStyle/>
          <a:p>
            <a:pPr indent="0" marL="0">
              <a:buNone/>
            </a:pPr>
            <a:r>
              <a:rPr lang="en-US" sz="1150" b="1" dirty="0">
                <a:solidFill>
                  <a:srgbClr val="7ACED7"/>
                </a:solidFill>
                <a:latin typeface="Calibri" pitchFamily="34" charset="0"/>
                <a:ea typeface="Calibri" pitchFamily="34" charset="-122"/>
                <a:cs typeface="Calibri" pitchFamily="34" charset="-120"/>
              </a:rPr>
              <a:t>Specific Entra Group</a:t>
            </a:r>
            <a:endParaRPr lang="en-US" sz="1150" dirty="0"/>
          </a:p>
        </p:txBody>
      </p:sp>
      <p:sp>
        <p:nvSpPr>
          <p:cNvPr id="14" name="Shape 12"/>
          <p:cNvSpPr/>
          <p:nvPr/>
        </p:nvSpPr>
        <p:spPr>
          <a:xfrm>
            <a:off x="2862072" y="2157984"/>
            <a:ext cx="5715000" cy="530352"/>
          </a:xfrm>
          <a:prstGeom prst="rect">
            <a:avLst/>
          </a:prstGeom>
          <a:solidFill>
            <a:srgbClr val="060C16"/>
          </a:solidFill>
          <a:ln w="12700">
            <a:solidFill>
              <a:srgbClr val="1E3050"/>
            </a:solidFill>
            <a:prstDash val="solid"/>
          </a:ln>
        </p:spPr>
      </p:sp>
      <p:sp>
        <p:nvSpPr>
          <p:cNvPr id="15" name="Text 13"/>
          <p:cNvSpPr/>
          <p:nvPr/>
        </p:nvSpPr>
        <p:spPr>
          <a:xfrm>
            <a:off x="2971800" y="2194560"/>
            <a:ext cx="5532120" cy="457200"/>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 type="group"; value="&lt;EntraGroupObjectId&gt;"; accessType="grant" }</a:t>
            </a:r>
            <a:endParaRPr lang="en-US" sz="950" dirty="0"/>
          </a:p>
        </p:txBody>
      </p:sp>
      <p:sp>
        <p:nvSpPr>
          <p:cNvPr id="16" name="Shape 14"/>
          <p:cNvSpPr/>
          <p:nvPr/>
        </p:nvSpPr>
        <p:spPr>
          <a:xfrm>
            <a:off x="365760" y="2907792"/>
            <a:ext cx="8366760" cy="694944"/>
          </a:xfrm>
          <a:prstGeom prst="rect">
            <a:avLst/>
          </a:prstGeom>
          <a:solidFill>
            <a:srgbClr val="111B2D"/>
          </a:solidFill>
          <a:ln w="12700">
            <a:solidFill>
              <a:srgbClr val="1E3050"/>
            </a:solidFill>
            <a:prstDash val="solid"/>
          </a:ln>
        </p:spPr>
      </p:sp>
      <p:sp>
        <p:nvSpPr>
          <p:cNvPr id="17" name="Shape 15"/>
          <p:cNvSpPr/>
          <p:nvPr/>
        </p:nvSpPr>
        <p:spPr>
          <a:xfrm>
            <a:off x="365760" y="2907792"/>
            <a:ext cx="50292" cy="694944"/>
          </a:xfrm>
          <a:prstGeom prst="rect">
            <a:avLst/>
          </a:prstGeom>
          <a:solidFill>
            <a:srgbClr val="9B6DFF"/>
          </a:solidFill>
          <a:ln w="12700">
            <a:solidFill>
              <a:srgbClr val="9B6DFF"/>
            </a:solidFill>
            <a:prstDash val="solid"/>
          </a:ln>
        </p:spPr>
      </p:sp>
      <p:sp>
        <p:nvSpPr>
          <p:cNvPr id="18" name="Text 16"/>
          <p:cNvSpPr/>
          <p:nvPr/>
        </p:nvSpPr>
        <p:spPr>
          <a:xfrm>
            <a:off x="521208" y="2980944"/>
            <a:ext cx="2286000" cy="274320"/>
          </a:xfrm>
          <a:prstGeom prst="rect">
            <a:avLst/>
          </a:prstGeom>
          <a:noFill/>
          <a:ln/>
        </p:spPr>
        <p:txBody>
          <a:bodyPr wrap="square" lIns="0" tIns="0" rIns="0" bIns="0" rtlCol="0" anchor="ctr"/>
          <a:lstStyle/>
          <a:p>
            <a:pPr indent="0" marL="0">
              <a:buNone/>
            </a:pPr>
            <a:r>
              <a:rPr lang="en-US" sz="1150" b="1" dirty="0">
                <a:solidFill>
                  <a:srgbClr val="9B6DFF"/>
                </a:solidFill>
                <a:latin typeface="Calibri" pitchFamily="34" charset="0"/>
                <a:ea typeface="Calibri" pitchFamily="34" charset="-122"/>
                <a:cs typeface="Calibri" pitchFamily="34" charset="-120"/>
              </a:rPr>
              <a:t>Specific User</a:t>
            </a:r>
            <a:endParaRPr lang="en-US" sz="1150" dirty="0"/>
          </a:p>
        </p:txBody>
      </p:sp>
      <p:sp>
        <p:nvSpPr>
          <p:cNvPr id="19" name="Shape 17"/>
          <p:cNvSpPr/>
          <p:nvPr/>
        </p:nvSpPr>
        <p:spPr>
          <a:xfrm>
            <a:off x="2862072" y="2980944"/>
            <a:ext cx="5715000" cy="530352"/>
          </a:xfrm>
          <a:prstGeom prst="rect">
            <a:avLst/>
          </a:prstGeom>
          <a:solidFill>
            <a:srgbClr val="060C16"/>
          </a:solidFill>
          <a:ln w="12700">
            <a:solidFill>
              <a:srgbClr val="1E3050"/>
            </a:solidFill>
            <a:prstDash val="solid"/>
          </a:ln>
        </p:spPr>
      </p:sp>
      <p:sp>
        <p:nvSpPr>
          <p:cNvPr id="20" name="Text 18"/>
          <p:cNvSpPr/>
          <p:nvPr/>
        </p:nvSpPr>
        <p:spPr>
          <a:xfrm>
            <a:off x="2971800" y="3017520"/>
            <a:ext cx="5532120" cy="457200"/>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 type="user";  value="&lt;EntraUserObjectId&gt;";  accessType="grant" }</a:t>
            </a:r>
            <a:endParaRPr lang="en-US" sz="950" dirty="0"/>
          </a:p>
        </p:txBody>
      </p:sp>
      <p:sp>
        <p:nvSpPr>
          <p:cNvPr id="21" name="Shape 19"/>
          <p:cNvSpPr/>
          <p:nvPr/>
        </p:nvSpPr>
        <p:spPr>
          <a:xfrm>
            <a:off x="365760" y="3730752"/>
            <a:ext cx="8366760" cy="694944"/>
          </a:xfrm>
          <a:prstGeom prst="rect">
            <a:avLst/>
          </a:prstGeom>
          <a:solidFill>
            <a:srgbClr val="111B2D"/>
          </a:solidFill>
          <a:ln w="12700">
            <a:solidFill>
              <a:srgbClr val="1E3050"/>
            </a:solidFill>
            <a:prstDash val="solid"/>
          </a:ln>
        </p:spPr>
      </p:sp>
      <p:sp>
        <p:nvSpPr>
          <p:cNvPr id="22" name="Shape 20"/>
          <p:cNvSpPr/>
          <p:nvPr/>
        </p:nvSpPr>
        <p:spPr>
          <a:xfrm>
            <a:off x="365760" y="3730752"/>
            <a:ext cx="50292" cy="694944"/>
          </a:xfrm>
          <a:prstGeom prst="rect">
            <a:avLst/>
          </a:prstGeom>
          <a:solidFill>
            <a:srgbClr val="F6CD18"/>
          </a:solidFill>
          <a:ln w="12700">
            <a:solidFill>
              <a:srgbClr val="F6CD18"/>
            </a:solidFill>
            <a:prstDash val="solid"/>
          </a:ln>
        </p:spPr>
      </p:sp>
      <p:sp>
        <p:nvSpPr>
          <p:cNvPr id="23" name="Text 21"/>
          <p:cNvSpPr/>
          <p:nvPr/>
        </p:nvSpPr>
        <p:spPr>
          <a:xfrm>
            <a:off x="521208" y="3803904"/>
            <a:ext cx="2286000" cy="274320"/>
          </a:xfrm>
          <a:prstGeom prst="rect">
            <a:avLst/>
          </a:prstGeom>
          <a:noFill/>
          <a:ln/>
        </p:spPr>
        <p:txBody>
          <a:bodyPr wrap="square" lIns="0" tIns="0" rIns="0" bIns="0" rtlCol="0" anchor="ctr"/>
          <a:lstStyle/>
          <a:p>
            <a:pPr indent="0" marL="0">
              <a:buNone/>
            </a:pPr>
            <a:r>
              <a:rPr lang="en-US" sz="1150" b="1" dirty="0">
                <a:solidFill>
                  <a:srgbClr val="F6CD18"/>
                </a:solidFill>
                <a:latin typeface="Calibri" pitchFamily="34" charset="0"/>
                <a:ea typeface="Calibri" pitchFamily="34" charset="-122"/>
                <a:cs typeface="Calibri" pitchFamily="34" charset="-120"/>
              </a:rPr>
              <a:t>Deny Guests / Grant All</a:t>
            </a:r>
            <a:endParaRPr lang="en-US" sz="1150" dirty="0"/>
          </a:p>
        </p:txBody>
      </p:sp>
      <p:sp>
        <p:nvSpPr>
          <p:cNvPr id="24" name="Shape 22"/>
          <p:cNvSpPr/>
          <p:nvPr/>
        </p:nvSpPr>
        <p:spPr>
          <a:xfrm>
            <a:off x="2862072" y="3803904"/>
            <a:ext cx="5715000" cy="530352"/>
          </a:xfrm>
          <a:prstGeom prst="rect">
            <a:avLst/>
          </a:prstGeom>
          <a:solidFill>
            <a:srgbClr val="060C16"/>
          </a:solidFill>
          <a:ln w="12700">
            <a:solidFill>
              <a:srgbClr val="1E3050"/>
            </a:solidFill>
            <a:prstDash val="solid"/>
          </a:ln>
        </p:spPr>
      </p:sp>
      <p:sp>
        <p:nvSpPr>
          <p:cNvPr id="25" name="Text 23"/>
          <p:cNvSpPr/>
          <p:nvPr/>
        </p:nvSpPr>
        <p:spPr>
          <a:xfrm>
            <a:off x="2971800" y="3840480"/>
            <a:ext cx="5532120" cy="457200"/>
          </a:xfrm>
          <a:prstGeom prst="rect">
            <a:avLst/>
          </a:prstGeom>
          <a:noFill/>
          <a:ln/>
        </p:spPr>
        <p:txBody>
          <a:bodyPr wrap="square" lIns="0" tIns="0" rIns="0" bIns="0" rtlCol="0" anchor="ctr"/>
          <a:lstStyle/>
          <a:p>
            <a:pPr indent="0" marL="0">
              <a:buNone/>
            </a:pPr>
            <a:r>
              <a:rPr lang="en-US" sz="950" dirty="0">
                <a:solidFill>
                  <a:srgbClr val="7ACED7"/>
                </a:solidFill>
                <a:latin typeface="Consolas" pitchFamily="34" charset="0"/>
                <a:ea typeface="Consolas" pitchFamily="34" charset="-122"/>
                <a:cs typeface="Consolas" pitchFamily="34" charset="-120"/>
              </a:rPr>
              <a:t>@{ type="everyone"; value="everyone"; accessType="grant" }</a:t>
            </a:r>
            <a:endParaRPr lang="en-US" sz="950" dirty="0"/>
          </a:p>
          <a:p>
            <a:pPr indent="0" marL="0">
              <a:buNone/>
            </a:pPr>
            <a:r>
              <a:rPr lang="en-US" sz="950" dirty="0">
                <a:solidFill>
                  <a:srgbClr val="7ACED7"/>
                </a:solidFill>
                <a:latin typeface="Consolas" pitchFamily="34" charset="0"/>
                <a:ea typeface="Consolas" pitchFamily="34" charset="-122"/>
                <a:cs typeface="Consolas" pitchFamily="34" charset="-120"/>
              </a:rPr>
              <a:t>@{ type="externalGuests"; value="everyone"; accessType="deny" }</a:t>
            </a:r>
            <a:endParaRPr lang="en-US" sz="950" dirty="0"/>
          </a:p>
        </p:txBody>
      </p:sp>
      <p:sp>
        <p:nvSpPr>
          <p:cNvPr id="26" name="Shape 24"/>
          <p:cNvSpPr/>
          <p:nvPr/>
        </p:nvSpPr>
        <p:spPr>
          <a:xfrm>
            <a:off x="365760" y="4572000"/>
            <a:ext cx="8366760" cy="384048"/>
          </a:xfrm>
          <a:prstGeom prst="rect">
            <a:avLst/>
          </a:prstGeom>
          <a:solidFill>
            <a:srgbClr val="111B2D"/>
          </a:solidFill>
          <a:ln w="12700">
            <a:solidFill>
              <a:srgbClr val="EE2659"/>
            </a:solidFill>
            <a:prstDash val="solid"/>
          </a:ln>
        </p:spPr>
      </p:sp>
      <p:sp>
        <p:nvSpPr>
          <p:cNvPr id="27" name="Shape 25"/>
          <p:cNvSpPr/>
          <p:nvPr/>
        </p:nvSpPr>
        <p:spPr>
          <a:xfrm>
            <a:off x="365760" y="4572000"/>
            <a:ext cx="50292" cy="384048"/>
          </a:xfrm>
          <a:prstGeom prst="rect">
            <a:avLst/>
          </a:prstGeom>
          <a:solidFill>
            <a:srgbClr val="EE2659"/>
          </a:solidFill>
          <a:ln w="12700">
            <a:solidFill>
              <a:srgbClr val="EE2659"/>
            </a:solidFill>
            <a:prstDash val="solid"/>
          </a:ln>
        </p:spPr>
      </p:sp>
      <p:sp>
        <p:nvSpPr>
          <p:cNvPr id="28" name="Text 26"/>
          <p:cNvSpPr/>
          <p:nvPr/>
        </p:nvSpPr>
        <p:spPr>
          <a:xfrm>
            <a:off x="512064" y="4590288"/>
            <a:ext cx="8138160" cy="347472"/>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For external permission systems (Salesforce profiles, ServiceNow groups), use the external group API to map non-Entra groups into the ACL system.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ENABLE INLINE RESULTS  +  KEEP DATA FRESH</a:t>
            </a:r>
            <a:endParaRPr lang="en-US" sz="1100" dirty="0"/>
          </a:p>
        </p:txBody>
      </p:sp>
      <p:sp>
        <p:nvSpPr>
          <p:cNvPr id="5" name="Shape 3"/>
          <p:cNvSpPr/>
          <p:nvPr/>
        </p:nvSpPr>
        <p:spPr>
          <a:xfrm>
            <a:off x="365760" y="749808"/>
            <a:ext cx="4069080" cy="4041648"/>
          </a:xfrm>
          <a:prstGeom prst="rect">
            <a:avLst/>
          </a:prstGeom>
          <a:solidFill>
            <a:srgbClr val="111B2D"/>
          </a:solidFill>
          <a:ln w="12700">
            <a:solidFill>
              <a:srgbClr val="1E3050"/>
            </a:solidFill>
            <a:prstDash val="solid"/>
          </a:ln>
          <a:effectLst>
            <a:outerShdw sx="100000" sy="100000" kx="0" ky="0" algn="bl" rotWithShape="0" blurRad="177800" dist="50800" dir="8100000">
              <a:srgbClr val="000000">
                <a:alpha val="35000"/>
              </a:srgbClr>
            </a:outerShdw>
          </a:effectLst>
        </p:spPr>
      </p:sp>
      <p:sp>
        <p:nvSpPr>
          <p:cNvPr id="6" name="Shape 4"/>
          <p:cNvSpPr/>
          <p:nvPr/>
        </p:nvSpPr>
        <p:spPr>
          <a:xfrm>
            <a:off x="365760" y="749808"/>
            <a:ext cx="4069080" cy="50292"/>
          </a:xfrm>
          <a:prstGeom prst="rect">
            <a:avLst/>
          </a:prstGeom>
          <a:solidFill>
            <a:srgbClr val="7ACED7"/>
          </a:solidFill>
          <a:ln w="12700">
            <a:solidFill>
              <a:srgbClr val="7ACED7"/>
            </a:solidFill>
            <a:prstDash val="solid"/>
          </a:ln>
        </p:spPr>
      </p:sp>
      <p:sp>
        <p:nvSpPr>
          <p:cNvPr id="7" name="Text 5"/>
          <p:cNvSpPr/>
          <p:nvPr/>
        </p:nvSpPr>
        <p:spPr>
          <a:xfrm>
            <a:off x="502920" y="841248"/>
            <a:ext cx="3794760" cy="347472"/>
          </a:xfrm>
          <a:prstGeom prst="rect">
            <a:avLst/>
          </a:prstGeom>
          <a:noFill/>
          <a:ln/>
        </p:spPr>
        <p:txBody>
          <a:bodyPr wrap="square" lIns="0" tIns="0" rIns="0" bIns="0" rtlCol="0" anchor="ctr"/>
          <a:lstStyle/>
          <a:p>
            <a:pPr indent="0" marL="0">
              <a:buNone/>
            </a:pPr>
            <a:r>
              <a:rPr lang="en-US" sz="1200" b="1" dirty="0">
                <a:solidFill>
                  <a:srgbClr val="7ACED7"/>
                </a:solidFill>
                <a:latin typeface="Calibri" pitchFamily="34" charset="0"/>
                <a:ea typeface="Calibri" pitchFamily="34" charset="-122"/>
                <a:cs typeface="Calibri" pitchFamily="34" charset="-120"/>
              </a:rPr>
              <a:t>Admin Center -- required after ingestion</a:t>
            </a:r>
            <a:endParaRPr lang="en-US" sz="1200" dirty="0"/>
          </a:p>
        </p:txBody>
      </p:sp>
      <p:sp>
        <p:nvSpPr>
          <p:cNvPr id="8" name="Text 6"/>
          <p:cNvSpPr/>
          <p:nvPr/>
        </p:nvSpPr>
        <p:spPr>
          <a:xfrm>
            <a:off x="502920" y="1280160"/>
            <a:ext cx="37947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1.  M365 Admin Center =&gt;</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Search &amp; intelligence =&gt; Customizations =&gt; Verticals</a:t>
            </a:r>
            <a:endParaRPr lang="en-US" sz="1150" dirty="0"/>
          </a:p>
        </p:txBody>
      </p:sp>
      <p:sp>
        <p:nvSpPr>
          <p:cNvPr id="9" name="Text 7"/>
          <p:cNvSpPr/>
          <p:nvPr/>
        </p:nvSpPr>
        <p:spPr>
          <a:xfrm>
            <a:off x="502920" y="1792224"/>
            <a:ext cx="37947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2.  Select the All vertical</a:t>
            </a:r>
            <a:endParaRPr lang="en-US" sz="1150" dirty="0"/>
          </a:p>
        </p:txBody>
      </p:sp>
      <p:sp>
        <p:nvSpPr>
          <p:cNvPr id="10" name="Text 8"/>
          <p:cNvSpPr/>
          <p:nvPr/>
        </p:nvSpPr>
        <p:spPr>
          <a:xfrm>
            <a:off x="502920" y="2304288"/>
            <a:ext cx="37947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  Select Manage connector result</a:t>
            </a:r>
            <a:endParaRPr lang="en-US" sz="1150" dirty="0"/>
          </a:p>
        </p:txBody>
      </p:sp>
      <p:sp>
        <p:nvSpPr>
          <p:cNvPr id="11" name="Text 9"/>
          <p:cNvSpPr/>
          <p:nvPr/>
        </p:nvSpPr>
        <p:spPr>
          <a:xfrm>
            <a:off x="502920" y="2816352"/>
            <a:ext cx="37947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4.  Check Show results inline</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     and tick your connection</a:t>
            </a:r>
            <a:endParaRPr lang="en-US" sz="1150" dirty="0"/>
          </a:p>
        </p:txBody>
      </p:sp>
      <p:sp>
        <p:nvSpPr>
          <p:cNvPr id="12" name="Text 10"/>
          <p:cNvSpPr/>
          <p:nvPr/>
        </p:nvSpPr>
        <p:spPr>
          <a:xfrm>
            <a:off x="502920" y="3328416"/>
            <a:ext cx="37947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5.  Save</a:t>
            </a:r>
            <a:endParaRPr lang="en-US" sz="1150" dirty="0"/>
          </a:p>
        </p:txBody>
      </p:sp>
      <p:sp>
        <p:nvSpPr>
          <p:cNvPr id="13" name="Text 11"/>
          <p:cNvSpPr/>
          <p:nvPr/>
        </p:nvSpPr>
        <p:spPr>
          <a:xfrm>
            <a:off x="502920" y="3840480"/>
            <a:ext cx="3794760" cy="457200"/>
          </a:xfrm>
          <a:prstGeom prst="rect">
            <a:avLst/>
          </a:prstGeom>
          <a:noFill/>
          <a:ln/>
        </p:spPr>
        <p:txBody>
          <a:bodyPr wrap="square" lIns="0" tIns="0" rIns="0" bIns="0" rtlCol="0" anchor="ctr"/>
          <a:lstStyle/>
          <a:p>
            <a:pPr indent="0" marL="0">
              <a:buNone/>
            </a:pPr>
            <a:r>
              <a:rPr lang="en-US" sz="1150" b="1" i="1" dirty="0">
                <a:solidFill>
                  <a:srgbClr val="EE2659"/>
                </a:solidFill>
                <a:latin typeface="Calibri" pitchFamily="34" charset="0"/>
                <a:ea typeface="Calibri" pitchFamily="34" charset="-122"/>
                <a:cs typeface="Calibri" pitchFamily="34" charset="-120"/>
              </a:rPr>
              <a:t>Without this step, items appear in Search but NOT in Copilot chat answers.</a:t>
            </a:r>
            <a:endParaRPr lang="en-US" sz="1150" dirty="0"/>
          </a:p>
        </p:txBody>
      </p:sp>
      <p:sp>
        <p:nvSpPr>
          <p:cNvPr id="14" name="Shape 12"/>
          <p:cNvSpPr/>
          <p:nvPr/>
        </p:nvSpPr>
        <p:spPr>
          <a:xfrm>
            <a:off x="4754880" y="749808"/>
            <a:ext cx="4023360" cy="4041648"/>
          </a:xfrm>
          <a:prstGeom prst="rect">
            <a:avLst/>
          </a:prstGeom>
          <a:solidFill>
            <a:srgbClr val="111B2D"/>
          </a:solidFill>
          <a:ln w="12700">
            <a:solidFill>
              <a:srgbClr val="1E3050"/>
            </a:solidFill>
            <a:prstDash val="solid"/>
          </a:ln>
          <a:effectLst>
            <a:outerShdw sx="100000" sy="100000" kx="0" ky="0" algn="bl" rotWithShape="0" blurRad="177800" dist="50800" dir="8100000">
              <a:srgbClr val="000000">
                <a:alpha val="35000"/>
              </a:srgbClr>
            </a:outerShdw>
          </a:effectLst>
        </p:spPr>
      </p:sp>
      <p:sp>
        <p:nvSpPr>
          <p:cNvPr id="15" name="Shape 13"/>
          <p:cNvSpPr/>
          <p:nvPr/>
        </p:nvSpPr>
        <p:spPr>
          <a:xfrm>
            <a:off x="4754880" y="749808"/>
            <a:ext cx="4023360" cy="50292"/>
          </a:xfrm>
          <a:prstGeom prst="rect">
            <a:avLst/>
          </a:prstGeom>
          <a:solidFill>
            <a:srgbClr val="F6CD18"/>
          </a:solidFill>
          <a:ln w="12700">
            <a:solidFill>
              <a:srgbClr val="F6CD18"/>
            </a:solidFill>
            <a:prstDash val="solid"/>
          </a:ln>
        </p:spPr>
      </p:sp>
      <p:sp>
        <p:nvSpPr>
          <p:cNvPr id="16" name="Text 14"/>
          <p:cNvSpPr/>
          <p:nvPr/>
        </p:nvSpPr>
        <p:spPr>
          <a:xfrm>
            <a:off x="4892040" y="841248"/>
            <a:ext cx="3749040" cy="347472"/>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Running on a Schedule</a:t>
            </a:r>
            <a:endParaRPr lang="en-US" sz="1200" dirty="0"/>
          </a:p>
        </p:txBody>
      </p:sp>
      <p:sp>
        <p:nvSpPr>
          <p:cNvPr id="17" name="Text 15"/>
          <p:cNvSpPr/>
          <p:nvPr/>
        </p:nvSpPr>
        <p:spPr>
          <a:xfrm>
            <a:off x="4892040" y="1298448"/>
            <a:ext cx="3749040" cy="256032"/>
          </a:xfrm>
          <a:prstGeom prst="rect">
            <a:avLst/>
          </a:prstGeom>
          <a:noFill/>
          <a:ln/>
        </p:spPr>
        <p:txBody>
          <a:bodyPr wrap="square" lIns="0" tIns="0" rIns="0" bIns="0" rtlCol="0" anchor="ctr"/>
          <a:lstStyle/>
          <a:p>
            <a:pPr indent="0" marL="0">
              <a:buNone/>
            </a:pPr>
            <a:r>
              <a:rPr lang="en-US" sz="1100" b="1" dirty="0">
                <a:solidFill>
                  <a:srgbClr val="F6CD18"/>
                </a:solidFill>
                <a:latin typeface="Calibri" pitchFamily="34" charset="0"/>
                <a:ea typeface="Calibri" pitchFamily="34" charset="-122"/>
                <a:cs typeface="Calibri" pitchFamily="34" charset="-120"/>
              </a:rPr>
              <a:t>Option A -- Windows Task Scheduler</a:t>
            </a:r>
            <a:endParaRPr lang="en-US" sz="1100" dirty="0"/>
          </a:p>
        </p:txBody>
      </p:sp>
      <p:sp>
        <p:nvSpPr>
          <p:cNvPr id="18" name="Shape 16"/>
          <p:cNvSpPr/>
          <p:nvPr/>
        </p:nvSpPr>
        <p:spPr>
          <a:xfrm>
            <a:off x="4846320" y="1572768"/>
            <a:ext cx="3840480" cy="685800"/>
          </a:xfrm>
          <a:prstGeom prst="rect">
            <a:avLst/>
          </a:prstGeom>
          <a:solidFill>
            <a:srgbClr val="060C16"/>
          </a:solidFill>
          <a:ln w="12700">
            <a:solidFill>
              <a:srgbClr val="1E3050"/>
            </a:solidFill>
            <a:prstDash val="solid"/>
          </a:ln>
        </p:spPr>
      </p:sp>
      <p:sp>
        <p:nvSpPr>
          <p:cNvPr id="19" name="Text 17"/>
          <p:cNvSpPr/>
          <p:nvPr/>
        </p:nvSpPr>
        <p:spPr>
          <a:xfrm>
            <a:off x="4974336" y="1664208"/>
            <a:ext cx="3621024" cy="502920"/>
          </a:xfrm>
          <a:prstGeom prst="rect">
            <a:avLst/>
          </a:prstGeom>
          <a:noFill/>
          <a:ln/>
        </p:spPr>
        <p:txBody>
          <a:bodyPr wrap="square" lIns="0" tIns="0" rIns="0" bIns="0" rtlCol="0" anchor="ctr"/>
          <a:lstStyle/>
          <a:p>
            <a:pPr indent="0" marL="0">
              <a:buNone/>
            </a:pPr>
            <a:r>
              <a:rPr lang="en-US" sz="750" dirty="0">
                <a:solidFill>
                  <a:srgbClr val="7ACED7"/>
                </a:solidFill>
                <a:latin typeface="Consolas" pitchFamily="34" charset="0"/>
                <a:ea typeface="Consolas" pitchFamily="34" charset="-122"/>
                <a:cs typeface="Consolas" pitchFamily="34" charset="-120"/>
              </a:rPr>
              <a:t>$a = New-ScheduledTaskAction -Execute "pwsh.exe" `</a:t>
            </a:r>
            <a:endParaRPr lang="en-US" sz="750" dirty="0"/>
          </a:p>
          <a:p>
            <a:pPr indent="0" marL="0">
              <a:buNone/>
            </a:pPr>
            <a:r>
              <a:rPr lang="en-US" sz="750" dirty="0">
                <a:solidFill>
                  <a:srgbClr val="7ACED7"/>
                </a:solidFill>
                <a:latin typeface="Consolas" pitchFamily="34" charset="0"/>
                <a:ea typeface="Consolas" pitchFamily="34" charset="-122"/>
                <a:cs typeface="Consolas" pitchFamily="34" charset="-120"/>
              </a:rPr>
              <a:t>         -Argument "-File C:\Connectors\ingest.ps1"</a:t>
            </a:r>
            <a:endParaRPr lang="en-US" sz="750" dirty="0"/>
          </a:p>
          <a:p>
            <a:pPr indent="0" marL="0">
              <a:buNone/>
            </a:pPr>
            <a:r>
              <a:rPr lang="en-US" sz="750" dirty="0">
                <a:solidFill>
                  <a:srgbClr val="7ACED7"/>
                </a:solidFill>
                <a:latin typeface="Consolas" pitchFamily="34" charset="0"/>
                <a:ea typeface="Consolas" pitchFamily="34" charset="-122"/>
                <a:cs typeface="Consolas" pitchFamily="34" charset="-120"/>
              </a:rPr>
              <a:t>$t = New-ScheduledTaskTrigger -Daily -At "02:00"</a:t>
            </a:r>
            <a:endParaRPr lang="en-US" sz="750" dirty="0"/>
          </a:p>
          <a:p>
            <a:pPr indent="0" marL="0">
              <a:buNone/>
            </a:pPr>
            <a:r>
              <a:rPr lang="en-US" sz="750" dirty="0">
                <a:solidFill>
                  <a:srgbClr val="7ACED7"/>
                </a:solidFill>
                <a:latin typeface="Consolas" pitchFamily="34" charset="0"/>
                <a:ea typeface="Consolas" pitchFamily="34" charset="-122"/>
                <a:cs typeface="Consolas" pitchFamily="34" charset="-120"/>
              </a:rPr>
              <a:t>Register-ScheduledTask -TaskName "CopilotSync" `</a:t>
            </a:r>
            <a:endParaRPr lang="en-US" sz="750" dirty="0"/>
          </a:p>
          <a:p>
            <a:pPr indent="0" marL="0">
              <a:buNone/>
            </a:pPr>
            <a:r>
              <a:rPr lang="en-US" sz="750" dirty="0">
                <a:solidFill>
                  <a:srgbClr val="7ACED7"/>
                </a:solidFill>
                <a:latin typeface="Consolas" pitchFamily="34" charset="0"/>
                <a:ea typeface="Consolas" pitchFamily="34" charset="-122"/>
                <a:cs typeface="Consolas" pitchFamily="34" charset="-120"/>
              </a:rPr>
              <a:t>    -Action $a -Trigger $t -RunLevel Highest</a:t>
            </a:r>
            <a:endParaRPr lang="en-US" sz="750" dirty="0"/>
          </a:p>
        </p:txBody>
      </p:sp>
      <p:sp>
        <p:nvSpPr>
          <p:cNvPr id="20" name="Text 18"/>
          <p:cNvSpPr/>
          <p:nvPr/>
        </p:nvSpPr>
        <p:spPr>
          <a:xfrm>
            <a:off x="4892040" y="2340864"/>
            <a:ext cx="3749040" cy="256032"/>
          </a:xfrm>
          <a:prstGeom prst="rect">
            <a:avLst/>
          </a:prstGeom>
          <a:noFill/>
          <a:ln/>
        </p:spPr>
        <p:txBody>
          <a:bodyPr wrap="square" lIns="0" tIns="0" rIns="0" bIns="0" rtlCol="0" anchor="ctr"/>
          <a:lstStyle/>
          <a:p>
            <a:pPr indent="0" marL="0">
              <a:buNone/>
            </a:pPr>
            <a:r>
              <a:rPr lang="en-US" sz="1100" b="1" dirty="0">
                <a:solidFill>
                  <a:srgbClr val="F6CD18"/>
                </a:solidFill>
                <a:latin typeface="Calibri" pitchFamily="34" charset="0"/>
                <a:ea typeface="Calibri" pitchFamily="34" charset="-122"/>
                <a:cs typeface="Calibri" pitchFamily="34" charset="-120"/>
              </a:rPr>
              <a:t>Option B -- Azure Automation Runbook</a:t>
            </a:r>
            <a:endParaRPr lang="en-US" sz="1100" dirty="0"/>
          </a:p>
        </p:txBody>
      </p:sp>
      <p:sp>
        <p:nvSpPr>
          <p:cNvPr id="21" name="Text 19"/>
          <p:cNvSpPr/>
          <p:nvPr/>
        </p:nvSpPr>
        <p:spPr>
          <a:xfrm>
            <a:off x="4892040" y="2633472"/>
            <a:ext cx="3749040" cy="4114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Upload as PS Runbook =&gt; attach a schedule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=&gt; store credentials in Automation Credential store</a:t>
            </a:r>
            <a:endParaRPr lang="en-US" sz="1100" dirty="0"/>
          </a:p>
        </p:txBody>
      </p:sp>
      <p:sp>
        <p:nvSpPr>
          <p:cNvPr id="22" name="Text 20"/>
          <p:cNvSpPr/>
          <p:nvPr/>
        </p:nvSpPr>
        <p:spPr>
          <a:xfrm>
            <a:off x="4892040" y="3108960"/>
            <a:ext cx="3749040" cy="256032"/>
          </a:xfrm>
          <a:prstGeom prst="rect">
            <a:avLst/>
          </a:prstGeom>
          <a:noFill/>
          <a:ln/>
        </p:spPr>
        <p:txBody>
          <a:bodyPr wrap="square" lIns="0" tIns="0" rIns="0" bIns="0" rtlCol="0" anchor="ctr"/>
          <a:lstStyle/>
          <a:p>
            <a:pPr indent="0" marL="0">
              <a:buNone/>
            </a:pPr>
            <a:r>
              <a:rPr lang="en-US" sz="1100" b="1" dirty="0">
                <a:solidFill>
                  <a:srgbClr val="F6CD18"/>
                </a:solidFill>
                <a:latin typeface="Calibri" pitchFamily="34" charset="0"/>
                <a:ea typeface="Calibri" pitchFamily="34" charset="-122"/>
                <a:cs typeface="Calibri" pitchFamily="34" charset="-120"/>
              </a:rPr>
              <a:t>Option C -- Azure DevOps / GitHub Actions</a:t>
            </a:r>
            <a:endParaRPr lang="en-US" sz="1100" dirty="0"/>
          </a:p>
        </p:txBody>
      </p:sp>
      <p:sp>
        <p:nvSpPr>
          <p:cNvPr id="23" name="Text 21"/>
          <p:cNvSpPr/>
          <p:nvPr/>
        </p:nvSpPr>
        <p:spPr>
          <a:xfrm>
            <a:off x="4892040" y="3401568"/>
            <a:ext cx="3749040" cy="12344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Trigger via YAML pipeline on a cron schedule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=&gt; ideal for git-stored scripts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Run full crawls weekly; push only LastModified-changed items daily (incremental).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ACED7"/>
          </a:solidFill>
          <a:ln w="12700">
            <a:solidFill>
              <a:srgbClr val="7ACED7"/>
            </a:solidFill>
            <a:prstDash val="solid"/>
          </a:ln>
        </p:spPr>
      </p:sp>
      <p:sp>
        <p:nvSpPr>
          <p:cNvPr id="3" name="Text 1"/>
          <p:cNvSpPr/>
          <p:nvPr/>
        </p:nvSpPr>
        <p:spPr>
          <a:xfrm>
            <a:off x="457200" y="548640"/>
            <a:ext cx="8229600" cy="1005840"/>
          </a:xfrm>
          <a:prstGeom prst="rect">
            <a:avLst/>
          </a:prstGeom>
          <a:noFill/>
          <a:ln/>
        </p:spPr>
        <p:txBody>
          <a:bodyPr wrap="square" lIns="0" tIns="0" rIns="0" bIns="0" rtlCol="0" anchor="ctr"/>
          <a:lstStyle/>
          <a:p>
            <a:pPr indent="0" marL="0">
              <a:buNone/>
            </a:pPr>
            <a:r>
              <a:rPr lang="en-US" sz="5600" b="1" dirty="0">
                <a:solidFill>
                  <a:srgbClr val="F6CD18"/>
                </a:solidFill>
                <a:latin typeface="Calibri" pitchFamily="34" charset="0"/>
                <a:ea typeface="Calibri" pitchFamily="34" charset="-122"/>
                <a:cs typeface="Calibri" pitchFamily="34" charset="-120"/>
              </a:rPr>
              <a:t>REAL-WORLD</a:t>
            </a:r>
            <a:endParaRPr lang="en-US" sz="5600" dirty="0"/>
          </a:p>
        </p:txBody>
      </p:sp>
      <p:sp>
        <p:nvSpPr>
          <p:cNvPr id="4" name="Text 2"/>
          <p:cNvSpPr/>
          <p:nvPr/>
        </p:nvSpPr>
        <p:spPr>
          <a:xfrm>
            <a:off x="457200" y="1572768"/>
            <a:ext cx="8229600" cy="91440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SCENARIOS</a:t>
            </a:r>
            <a:endParaRPr lang="en-US" sz="5600" dirty="0"/>
          </a:p>
        </p:txBody>
      </p:sp>
      <p:sp>
        <p:nvSpPr>
          <p:cNvPr id="5" name="Text 3"/>
          <p:cNvSpPr/>
          <p:nvPr/>
        </p:nvSpPr>
        <p:spPr>
          <a:xfrm>
            <a:off x="457200" y="2633472"/>
            <a:ext cx="8229600" cy="411480"/>
          </a:xfrm>
          <a:prstGeom prst="rect">
            <a:avLst/>
          </a:prstGeom>
          <a:noFill/>
          <a:ln/>
        </p:spPr>
        <p:txBody>
          <a:bodyPr wrap="square" lIns="0" tIns="0" rIns="0" bIns="0" rtlCol="0" anchor="ctr"/>
          <a:lstStyle/>
          <a:p>
            <a:pPr indent="0" marL="0">
              <a:buNone/>
            </a:pPr>
            <a:r>
              <a:rPr lang="en-US" sz="1800" dirty="0">
                <a:solidFill>
                  <a:srgbClr val="7ACED7"/>
                </a:solidFill>
                <a:latin typeface="Calibri Light" pitchFamily="34" charset="0"/>
                <a:ea typeface="Calibri Light" pitchFamily="34" charset="-122"/>
                <a:cs typeface="Calibri Light" pitchFamily="34" charset="-120"/>
              </a:rPr>
              <a:t>Six organisations. Six data sources. One pattern.</a:t>
            </a:r>
            <a:endParaRPr lang="en-US" sz="1800" dirty="0"/>
          </a:p>
        </p:txBody>
      </p:sp>
      <p:sp>
        <p:nvSpPr>
          <p:cNvPr id="6" name="Shape 4"/>
          <p:cNvSpPr/>
          <p:nvPr/>
        </p:nvSpPr>
        <p:spPr>
          <a:xfrm>
            <a:off x="365760" y="3401568"/>
            <a:ext cx="1298448" cy="1298448"/>
          </a:xfrm>
          <a:prstGeom prst="rect">
            <a:avLst/>
          </a:prstGeom>
          <a:solidFill>
            <a:srgbClr val="111B2D"/>
          </a:solidFill>
          <a:ln w="19050">
            <a:solidFill>
              <a:srgbClr val="7ACED7"/>
            </a:solidFill>
            <a:prstDash val="solid"/>
          </a:ln>
        </p:spPr>
      </p:sp>
      <p:sp>
        <p:nvSpPr>
          <p:cNvPr id="7" name="Shape 5"/>
          <p:cNvSpPr/>
          <p:nvPr/>
        </p:nvSpPr>
        <p:spPr>
          <a:xfrm>
            <a:off x="365760" y="3401568"/>
            <a:ext cx="1298448" cy="36576"/>
          </a:xfrm>
          <a:prstGeom prst="rect">
            <a:avLst/>
          </a:prstGeom>
          <a:solidFill>
            <a:srgbClr val="7ACED7"/>
          </a:solidFill>
          <a:ln w="12700">
            <a:solidFill>
              <a:srgbClr val="7ACED7"/>
            </a:solidFill>
            <a:prstDash val="solid"/>
          </a:ln>
        </p:spPr>
      </p:sp>
      <p:sp>
        <p:nvSpPr>
          <p:cNvPr id="8" name="Text 6"/>
          <p:cNvSpPr/>
          <p:nvPr/>
        </p:nvSpPr>
        <p:spPr>
          <a:xfrm>
            <a:off x="365760" y="3493008"/>
            <a:ext cx="1298448" cy="502920"/>
          </a:xfrm>
          <a:prstGeom prst="rect">
            <a:avLst/>
          </a:prstGeom>
          <a:noFill/>
          <a:ln/>
        </p:spPr>
        <p:txBody>
          <a:bodyPr wrap="square" lIns="0" tIns="0" rIns="0" bIns="0" rtlCol="0" anchor="ctr"/>
          <a:lstStyle/>
          <a:p>
            <a:pPr algn="ctr" indent="0" marL="0">
              <a:buNone/>
            </a:pPr>
            <a:r>
              <a:rPr lang="en-US" sz="2800" b="1" dirty="0">
                <a:solidFill>
                  <a:srgbClr val="7ACED7"/>
                </a:solidFill>
                <a:latin typeface="Calibri" pitchFamily="34" charset="0"/>
                <a:ea typeface="Calibri" pitchFamily="34" charset="-122"/>
                <a:cs typeface="Calibri" pitchFamily="34" charset="-120"/>
              </a:rPr>
              <a:t>1</a:t>
            </a:r>
            <a:endParaRPr lang="en-US" sz="2800" dirty="0"/>
          </a:p>
        </p:txBody>
      </p:sp>
      <p:sp>
        <p:nvSpPr>
          <p:cNvPr id="9" name="Text 7"/>
          <p:cNvSpPr/>
          <p:nvPr/>
        </p:nvSpPr>
        <p:spPr>
          <a:xfrm>
            <a:off x="365760" y="4005072"/>
            <a:ext cx="1298448" cy="475488"/>
          </a:xfrm>
          <a:prstGeom prst="rect">
            <a:avLst/>
          </a:prstGeom>
          <a:noFill/>
          <a:ln/>
        </p:spPr>
        <p:txBody>
          <a:bodyPr wrap="square" lIns="0" tIns="0" rIns="0" bIns="0" rtlCol="0" anchor="ctr"/>
          <a:lstStyle/>
          <a:p>
            <a:pPr algn="ctr" indent="0" marL="0">
              <a:buNone/>
            </a:pPr>
            <a:r>
              <a:rPr lang="en-US" sz="1100" b="1" dirty="0">
                <a:solidFill>
                  <a:srgbClr val="7ACED7"/>
                </a:solidFill>
                <a:latin typeface="Calibri" pitchFamily="34" charset="0"/>
                <a:ea typeface="Calibri" pitchFamily="34" charset="-122"/>
                <a:cs typeface="Calibri" pitchFamily="34" charset="-120"/>
              </a:rPr>
              <a:t>Hospital</a:t>
            </a:r>
            <a:endParaRPr lang="en-US" sz="1100" dirty="0"/>
          </a:p>
        </p:txBody>
      </p:sp>
      <p:sp>
        <p:nvSpPr>
          <p:cNvPr id="10" name="Shape 8"/>
          <p:cNvSpPr/>
          <p:nvPr/>
        </p:nvSpPr>
        <p:spPr>
          <a:xfrm>
            <a:off x="1801368" y="3401568"/>
            <a:ext cx="1298448" cy="1298448"/>
          </a:xfrm>
          <a:prstGeom prst="rect">
            <a:avLst/>
          </a:prstGeom>
          <a:solidFill>
            <a:srgbClr val="111B2D"/>
          </a:solidFill>
          <a:ln w="19050">
            <a:solidFill>
              <a:srgbClr val="F6CD18"/>
            </a:solidFill>
            <a:prstDash val="solid"/>
          </a:ln>
        </p:spPr>
      </p:sp>
      <p:sp>
        <p:nvSpPr>
          <p:cNvPr id="11" name="Shape 9"/>
          <p:cNvSpPr/>
          <p:nvPr/>
        </p:nvSpPr>
        <p:spPr>
          <a:xfrm>
            <a:off x="1801368" y="3401568"/>
            <a:ext cx="1298448" cy="36576"/>
          </a:xfrm>
          <a:prstGeom prst="rect">
            <a:avLst/>
          </a:prstGeom>
          <a:solidFill>
            <a:srgbClr val="F6CD18"/>
          </a:solidFill>
          <a:ln w="12700">
            <a:solidFill>
              <a:srgbClr val="F6CD18"/>
            </a:solidFill>
            <a:prstDash val="solid"/>
          </a:ln>
        </p:spPr>
      </p:sp>
      <p:sp>
        <p:nvSpPr>
          <p:cNvPr id="12" name="Text 10"/>
          <p:cNvSpPr/>
          <p:nvPr/>
        </p:nvSpPr>
        <p:spPr>
          <a:xfrm>
            <a:off x="1801368" y="3493008"/>
            <a:ext cx="1298448" cy="502920"/>
          </a:xfrm>
          <a:prstGeom prst="rect">
            <a:avLst/>
          </a:prstGeom>
          <a:noFill/>
          <a:ln/>
        </p:spPr>
        <p:txBody>
          <a:bodyPr wrap="square" lIns="0" tIns="0" rIns="0" bIns="0" rtlCol="0" anchor="ctr"/>
          <a:lstStyle/>
          <a:p>
            <a:pPr algn="ctr" indent="0" marL="0">
              <a:buNone/>
            </a:pPr>
            <a:r>
              <a:rPr lang="en-US" sz="2800" b="1" dirty="0">
                <a:solidFill>
                  <a:srgbClr val="F6CD18"/>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1801368" y="4005072"/>
            <a:ext cx="1298448" cy="475488"/>
          </a:xfrm>
          <a:prstGeom prst="rect">
            <a:avLst/>
          </a:prstGeom>
          <a:noFill/>
          <a:ln/>
        </p:spPr>
        <p:txBody>
          <a:bodyPr wrap="square" lIns="0" tIns="0" rIns="0" bIns="0" rtlCol="0" anchor="ctr"/>
          <a:lstStyle/>
          <a:p>
            <a:pPr algn="ctr" indent="0" marL="0">
              <a:buNone/>
            </a:pPr>
            <a:r>
              <a:rPr lang="en-US" sz="1100" b="1" dirty="0">
                <a:solidFill>
                  <a:srgbClr val="F6CD18"/>
                </a:solidFill>
                <a:latin typeface="Calibri" pitchFamily="34" charset="0"/>
                <a:ea typeface="Calibri" pitchFamily="34" charset="-122"/>
                <a:cs typeface="Calibri" pitchFamily="34" charset="-120"/>
              </a:rPr>
              <a:t>Construction</a:t>
            </a:r>
            <a:endParaRPr lang="en-US" sz="1100" dirty="0"/>
          </a:p>
        </p:txBody>
      </p:sp>
      <p:sp>
        <p:nvSpPr>
          <p:cNvPr id="14" name="Shape 12"/>
          <p:cNvSpPr/>
          <p:nvPr/>
        </p:nvSpPr>
        <p:spPr>
          <a:xfrm>
            <a:off x="3236976" y="3401568"/>
            <a:ext cx="1298448" cy="1298448"/>
          </a:xfrm>
          <a:prstGeom prst="rect">
            <a:avLst/>
          </a:prstGeom>
          <a:solidFill>
            <a:srgbClr val="111B2D"/>
          </a:solidFill>
          <a:ln w="19050">
            <a:solidFill>
              <a:srgbClr val="3DD68C"/>
            </a:solidFill>
            <a:prstDash val="solid"/>
          </a:ln>
        </p:spPr>
      </p:sp>
      <p:sp>
        <p:nvSpPr>
          <p:cNvPr id="15" name="Shape 13"/>
          <p:cNvSpPr/>
          <p:nvPr/>
        </p:nvSpPr>
        <p:spPr>
          <a:xfrm>
            <a:off x="3236976" y="3401568"/>
            <a:ext cx="1298448" cy="36576"/>
          </a:xfrm>
          <a:prstGeom prst="rect">
            <a:avLst/>
          </a:prstGeom>
          <a:solidFill>
            <a:srgbClr val="3DD68C"/>
          </a:solidFill>
          <a:ln w="12700">
            <a:solidFill>
              <a:srgbClr val="3DD68C"/>
            </a:solidFill>
            <a:prstDash val="solid"/>
          </a:ln>
        </p:spPr>
      </p:sp>
      <p:sp>
        <p:nvSpPr>
          <p:cNvPr id="16" name="Text 14"/>
          <p:cNvSpPr/>
          <p:nvPr/>
        </p:nvSpPr>
        <p:spPr>
          <a:xfrm>
            <a:off x="3236976" y="3493008"/>
            <a:ext cx="1298448" cy="502920"/>
          </a:xfrm>
          <a:prstGeom prst="rect">
            <a:avLst/>
          </a:prstGeom>
          <a:noFill/>
          <a:ln/>
        </p:spPr>
        <p:txBody>
          <a:bodyPr wrap="square" lIns="0" tIns="0" rIns="0" bIns="0" rtlCol="0" anchor="ctr"/>
          <a:lstStyle/>
          <a:p>
            <a:pPr algn="ctr" indent="0" marL="0">
              <a:buNone/>
            </a:pPr>
            <a:r>
              <a:rPr lang="en-US" sz="2800" b="1" dirty="0">
                <a:solidFill>
                  <a:srgbClr val="3DD68C"/>
                </a:solidFill>
                <a:latin typeface="Calibri" pitchFamily="34" charset="0"/>
                <a:ea typeface="Calibri" pitchFamily="34" charset="-122"/>
                <a:cs typeface="Calibri" pitchFamily="34" charset="-120"/>
              </a:rPr>
              <a:t>3</a:t>
            </a:r>
            <a:endParaRPr lang="en-US" sz="2800" dirty="0"/>
          </a:p>
        </p:txBody>
      </p:sp>
      <p:sp>
        <p:nvSpPr>
          <p:cNvPr id="17" name="Text 15"/>
          <p:cNvSpPr/>
          <p:nvPr/>
        </p:nvSpPr>
        <p:spPr>
          <a:xfrm>
            <a:off x="3236976" y="4005072"/>
            <a:ext cx="1298448" cy="475488"/>
          </a:xfrm>
          <a:prstGeom prst="rect">
            <a:avLst/>
          </a:prstGeom>
          <a:noFill/>
          <a:ln/>
        </p:spPr>
        <p:txBody>
          <a:bodyPr wrap="square" lIns="0" tIns="0" rIns="0" bIns="0" rtlCol="0" anchor="ctr"/>
          <a:lstStyle/>
          <a:p>
            <a:pPr algn="ctr" indent="0" marL="0">
              <a:buNone/>
            </a:pPr>
            <a:r>
              <a:rPr lang="en-US" sz="1100" b="1" dirty="0">
                <a:solidFill>
                  <a:srgbClr val="3DD68C"/>
                </a:solidFill>
                <a:latin typeface="Calibri" pitchFamily="34" charset="0"/>
                <a:ea typeface="Calibri" pitchFamily="34" charset="-122"/>
                <a:cs typeface="Calibri" pitchFamily="34" charset="-120"/>
              </a:rPr>
              <a:t>Retailer</a:t>
            </a:r>
            <a:endParaRPr lang="en-US" sz="1100" dirty="0"/>
          </a:p>
        </p:txBody>
      </p:sp>
      <p:sp>
        <p:nvSpPr>
          <p:cNvPr id="18" name="Shape 16"/>
          <p:cNvSpPr/>
          <p:nvPr/>
        </p:nvSpPr>
        <p:spPr>
          <a:xfrm>
            <a:off x="4672584" y="3401568"/>
            <a:ext cx="1298448" cy="1298448"/>
          </a:xfrm>
          <a:prstGeom prst="rect">
            <a:avLst/>
          </a:prstGeom>
          <a:solidFill>
            <a:srgbClr val="111B2D"/>
          </a:solidFill>
          <a:ln w="19050">
            <a:solidFill>
              <a:srgbClr val="9B6DFF"/>
            </a:solidFill>
            <a:prstDash val="solid"/>
          </a:ln>
        </p:spPr>
      </p:sp>
      <p:sp>
        <p:nvSpPr>
          <p:cNvPr id="19" name="Shape 17"/>
          <p:cNvSpPr/>
          <p:nvPr/>
        </p:nvSpPr>
        <p:spPr>
          <a:xfrm>
            <a:off x="4672584" y="3401568"/>
            <a:ext cx="1298448" cy="36576"/>
          </a:xfrm>
          <a:prstGeom prst="rect">
            <a:avLst/>
          </a:prstGeom>
          <a:solidFill>
            <a:srgbClr val="9B6DFF"/>
          </a:solidFill>
          <a:ln w="12700">
            <a:solidFill>
              <a:srgbClr val="9B6DFF"/>
            </a:solidFill>
            <a:prstDash val="solid"/>
          </a:ln>
        </p:spPr>
      </p:sp>
      <p:sp>
        <p:nvSpPr>
          <p:cNvPr id="20" name="Text 18"/>
          <p:cNvSpPr/>
          <p:nvPr/>
        </p:nvSpPr>
        <p:spPr>
          <a:xfrm>
            <a:off x="4672584" y="3493008"/>
            <a:ext cx="1298448" cy="502920"/>
          </a:xfrm>
          <a:prstGeom prst="rect">
            <a:avLst/>
          </a:prstGeom>
          <a:noFill/>
          <a:ln/>
        </p:spPr>
        <p:txBody>
          <a:bodyPr wrap="square" lIns="0" tIns="0" rIns="0" bIns="0" rtlCol="0" anchor="ctr"/>
          <a:lstStyle/>
          <a:p>
            <a:pPr algn="ctr" indent="0" marL="0">
              <a:buNone/>
            </a:pPr>
            <a:r>
              <a:rPr lang="en-US" sz="2800" b="1" dirty="0">
                <a:solidFill>
                  <a:srgbClr val="9B6DFF"/>
                </a:solidFill>
                <a:latin typeface="Calibri" pitchFamily="34" charset="0"/>
                <a:ea typeface="Calibri" pitchFamily="34" charset="-122"/>
                <a:cs typeface="Calibri" pitchFamily="34" charset="-120"/>
              </a:rPr>
              <a:t>4</a:t>
            </a:r>
            <a:endParaRPr lang="en-US" sz="2800" dirty="0"/>
          </a:p>
        </p:txBody>
      </p:sp>
      <p:sp>
        <p:nvSpPr>
          <p:cNvPr id="21" name="Text 19"/>
          <p:cNvSpPr/>
          <p:nvPr/>
        </p:nvSpPr>
        <p:spPr>
          <a:xfrm>
            <a:off x="4672584" y="4005072"/>
            <a:ext cx="1298448" cy="475488"/>
          </a:xfrm>
          <a:prstGeom prst="rect">
            <a:avLst/>
          </a:prstGeom>
          <a:noFill/>
          <a:ln/>
        </p:spPr>
        <p:txBody>
          <a:bodyPr wrap="square" lIns="0" tIns="0" rIns="0" bIns="0" rtlCol="0" anchor="ctr"/>
          <a:lstStyle/>
          <a:p>
            <a:pPr algn="ctr" indent="0" marL="0">
              <a:buNone/>
            </a:pPr>
            <a:r>
              <a:rPr lang="en-US" sz="1100" b="1" dirty="0">
                <a:solidFill>
                  <a:srgbClr val="9B6DFF"/>
                </a:solidFill>
                <a:latin typeface="Calibri" pitchFamily="34" charset="0"/>
                <a:ea typeface="Calibri" pitchFamily="34" charset="-122"/>
                <a:cs typeface="Calibri" pitchFamily="34" charset="-120"/>
              </a:rPr>
              <a:t>University</a:t>
            </a:r>
            <a:endParaRPr lang="en-US" sz="1100" dirty="0"/>
          </a:p>
        </p:txBody>
      </p:sp>
      <p:sp>
        <p:nvSpPr>
          <p:cNvPr id="22" name="Shape 20"/>
          <p:cNvSpPr/>
          <p:nvPr/>
        </p:nvSpPr>
        <p:spPr>
          <a:xfrm>
            <a:off x="6108192" y="3401568"/>
            <a:ext cx="1298448" cy="1298448"/>
          </a:xfrm>
          <a:prstGeom prst="rect">
            <a:avLst/>
          </a:prstGeom>
          <a:solidFill>
            <a:srgbClr val="111B2D"/>
          </a:solidFill>
          <a:ln w="19050">
            <a:solidFill>
              <a:srgbClr val="7ACED7"/>
            </a:solidFill>
            <a:prstDash val="solid"/>
          </a:ln>
        </p:spPr>
      </p:sp>
      <p:sp>
        <p:nvSpPr>
          <p:cNvPr id="23" name="Shape 21"/>
          <p:cNvSpPr/>
          <p:nvPr/>
        </p:nvSpPr>
        <p:spPr>
          <a:xfrm>
            <a:off x="6108192" y="3401568"/>
            <a:ext cx="1298448" cy="36576"/>
          </a:xfrm>
          <a:prstGeom prst="rect">
            <a:avLst/>
          </a:prstGeom>
          <a:solidFill>
            <a:srgbClr val="7ACED7"/>
          </a:solidFill>
          <a:ln w="12700">
            <a:solidFill>
              <a:srgbClr val="7ACED7"/>
            </a:solidFill>
            <a:prstDash val="solid"/>
          </a:ln>
        </p:spPr>
      </p:sp>
      <p:sp>
        <p:nvSpPr>
          <p:cNvPr id="24" name="Text 22"/>
          <p:cNvSpPr/>
          <p:nvPr/>
        </p:nvSpPr>
        <p:spPr>
          <a:xfrm>
            <a:off x="6108192" y="3493008"/>
            <a:ext cx="1298448" cy="502920"/>
          </a:xfrm>
          <a:prstGeom prst="rect">
            <a:avLst/>
          </a:prstGeom>
          <a:noFill/>
          <a:ln/>
        </p:spPr>
        <p:txBody>
          <a:bodyPr wrap="square" lIns="0" tIns="0" rIns="0" bIns="0" rtlCol="0" anchor="ctr"/>
          <a:lstStyle/>
          <a:p>
            <a:pPr algn="ctr" indent="0" marL="0">
              <a:buNone/>
            </a:pPr>
            <a:r>
              <a:rPr lang="en-US" sz="2800" b="1" dirty="0">
                <a:solidFill>
                  <a:srgbClr val="7ACED7"/>
                </a:solidFill>
                <a:latin typeface="Calibri" pitchFamily="34" charset="0"/>
                <a:ea typeface="Calibri" pitchFamily="34" charset="-122"/>
                <a:cs typeface="Calibri" pitchFamily="34" charset="-120"/>
              </a:rPr>
              <a:t>5</a:t>
            </a:r>
            <a:endParaRPr lang="en-US" sz="2800" dirty="0"/>
          </a:p>
        </p:txBody>
      </p:sp>
      <p:sp>
        <p:nvSpPr>
          <p:cNvPr id="25" name="Text 23"/>
          <p:cNvSpPr/>
          <p:nvPr/>
        </p:nvSpPr>
        <p:spPr>
          <a:xfrm>
            <a:off x="6108192" y="4005072"/>
            <a:ext cx="1298448" cy="475488"/>
          </a:xfrm>
          <a:prstGeom prst="rect">
            <a:avLst/>
          </a:prstGeom>
          <a:noFill/>
          <a:ln/>
        </p:spPr>
        <p:txBody>
          <a:bodyPr wrap="square" lIns="0" tIns="0" rIns="0" bIns="0" rtlCol="0" anchor="ctr"/>
          <a:lstStyle/>
          <a:p>
            <a:pPr algn="ctr" indent="0" marL="0">
              <a:buNone/>
            </a:pPr>
            <a:r>
              <a:rPr lang="en-US" sz="1100" b="1" dirty="0">
                <a:solidFill>
                  <a:srgbClr val="7ACED7"/>
                </a:solidFill>
                <a:latin typeface="Calibri" pitchFamily="34" charset="0"/>
                <a:ea typeface="Calibri" pitchFamily="34" charset="-122"/>
                <a:cs typeface="Calibri" pitchFamily="34" charset="-120"/>
              </a:rPr>
              <a:t>Manufacturing</a:t>
            </a:r>
            <a:endParaRPr lang="en-US" sz="1100" dirty="0"/>
          </a:p>
        </p:txBody>
      </p:sp>
      <p:sp>
        <p:nvSpPr>
          <p:cNvPr id="26" name="Shape 24"/>
          <p:cNvSpPr/>
          <p:nvPr/>
        </p:nvSpPr>
        <p:spPr>
          <a:xfrm>
            <a:off x="7543800" y="3401568"/>
            <a:ext cx="1298448" cy="1298448"/>
          </a:xfrm>
          <a:prstGeom prst="rect">
            <a:avLst/>
          </a:prstGeom>
          <a:solidFill>
            <a:srgbClr val="111B2D"/>
          </a:solidFill>
          <a:ln w="19050">
            <a:solidFill>
              <a:srgbClr val="F6CD18"/>
            </a:solidFill>
            <a:prstDash val="solid"/>
          </a:ln>
        </p:spPr>
      </p:sp>
      <p:sp>
        <p:nvSpPr>
          <p:cNvPr id="27" name="Shape 25"/>
          <p:cNvSpPr/>
          <p:nvPr/>
        </p:nvSpPr>
        <p:spPr>
          <a:xfrm>
            <a:off x="7543800" y="3401568"/>
            <a:ext cx="1298448" cy="36576"/>
          </a:xfrm>
          <a:prstGeom prst="rect">
            <a:avLst/>
          </a:prstGeom>
          <a:solidFill>
            <a:srgbClr val="F6CD18"/>
          </a:solidFill>
          <a:ln w="12700">
            <a:solidFill>
              <a:srgbClr val="F6CD18"/>
            </a:solidFill>
            <a:prstDash val="solid"/>
          </a:ln>
        </p:spPr>
      </p:sp>
      <p:sp>
        <p:nvSpPr>
          <p:cNvPr id="28" name="Text 26"/>
          <p:cNvSpPr/>
          <p:nvPr/>
        </p:nvSpPr>
        <p:spPr>
          <a:xfrm>
            <a:off x="7543800" y="3493008"/>
            <a:ext cx="1298448" cy="502920"/>
          </a:xfrm>
          <a:prstGeom prst="rect">
            <a:avLst/>
          </a:prstGeom>
          <a:noFill/>
          <a:ln/>
        </p:spPr>
        <p:txBody>
          <a:bodyPr wrap="square" lIns="0" tIns="0" rIns="0" bIns="0" rtlCol="0" anchor="ctr"/>
          <a:lstStyle/>
          <a:p>
            <a:pPr algn="ctr" indent="0" marL="0">
              <a:buNone/>
            </a:pPr>
            <a:r>
              <a:rPr lang="en-US" sz="2800" b="1" dirty="0">
                <a:solidFill>
                  <a:srgbClr val="F6CD18"/>
                </a:solidFill>
                <a:latin typeface="Calibri" pitchFamily="34" charset="0"/>
                <a:ea typeface="Calibri" pitchFamily="34" charset="-122"/>
                <a:cs typeface="Calibri" pitchFamily="34" charset="-120"/>
              </a:rPr>
              <a:t>6</a:t>
            </a:r>
            <a:endParaRPr lang="en-US" sz="2800" dirty="0"/>
          </a:p>
        </p:txBody>
      </p:sp>
      <p:sp>
        <p:nvSpPr>
          <p:cNvPr id="29" name="Text 27"/>
          <p:cNvSpPr/>
          <p:nvPr/>
        </p:nvSpPr>
        <p:spPr>
          <a:xfrm>
            <a:off x="7543800" y="4005072"/>
            <a:ext cx="1298448" cy="475488"/>
          </a:xfrm>
          <a:prstGeom prst="rect">
            <a:avLst/>
          </a:prstGeom>
          <a:noFill/>
          <a:ln/>
        </p:spPr>
        <p:txBody>
          <a:bodyPr wrap="square" lIns="0" tIns="0" rIns="0" bIns="0" rtlCol="0" anchor="ctr"/>
          <a:lstStyle/>
          <a:p>
            <a:pPr algn="ctr" indent="0" marL="0">
              <a:buNone/>
            </a:pPr>
            <a:r>
              <a:rPr lang="en-US" sz="1100" b="1" dirty="0">
                <a:solidFill>
                  <a:srgbClr val="F6CD18"/>
                </a:solidFill>
                <a:latin typeface="Calibri" pitchFamily="34" charset="0"/>
                <a:ea typeface="Calibri" pitchFamily="34" charset="-122"/>
                <a:cs typeface="Calibri" pitchFamily="34" charset="-120"/>
              </a:rPr>
              <a:t>HR Dept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1  --  HOSPITAL: CLINICAL PROTOCOLS ON SHARED DRIVES</a:t>
            </a:r>
            <a:endParaRPr lang="en-US" sz="1100" dirty="0"/>
          </a:p>
        </p:txBody>
      </p:sp>
      <p:sp>
        <p:nvSpPr>
          <p:cNvPr id="5" name="Shape 3"/>
          <p:cNvSpPr/>
          <p:nvPr/>
        </p:nvSpPr>
        <p:spPr>
          <a:xfrm>
            <a:off x="0" y="0"/>
            <a:ext cx="1280160" cy="612648"/>
          </a:xfrm>
          <a:prstGeom prst="rect">
            <a:avLst/>
          </a:prstGeom>
          <a:solidFill>
            <a:srgbClr val="7ACED7"/>
          </a:solidFill>
          <a:ln w="12700">
            <a:solidFill>
              <a:srgbClr val="7ACED7"/>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#1</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7ACED7"/>
          </a:solidFill>
          <a:ln w="12700">
            <a:solidFill>
              <a:srgbClr val="7ACED7"/>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7ACED7"/>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Northgate Regional Hospital stores clinical protocols and SOPs as .docx and .txt files on a legacy Windows file server.</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Nurses spend precious minutes hunting network drives during patient care.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exists in the tenant -- but only sees SharePoint.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\\fileserver01\ClinicalProtocols\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ACL: Clinical Staff Entra group only (patient safety)</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"What is the post-op antibiotic protocol for hip replacement surgery?"</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70" dirty="0">
                <a:solidFill>
                  <a:srgbClr val="7ACED7"/>
                </a:solidFill>
                <a:latin typeface="Consolas" pitchFamily="34" charset="0"/>
                <a:ea typeface="Consolas" pitchFamily="34" charset="-122"/>
                <a:cs typeface="Consolas" pitchFamily="34" charset="-120"/>
              </a:rPr>
              <a:t>. .\connect-to-graph.ps1</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$connectionId    = "hospitalProtocols"</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$shareRoot       = "\\fileserver01\ClinicalProtocols"</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$clinicalGroupId = "a1b2c3d4-0000-0000-0000-aabbccddeeff"</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$acl = @(@{ type="group"; value=$clinicalGroupId; accessType="grant" })</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$files = Get-ChildItem -Path $shareRoot -Recurse -Include "*.txt","*.docx"</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foreach ($file in $files)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$rawText = if ($file.Extension -eq ".docx")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$zip   = [System.IO.Compression.ZipFile]::OpenRead($file.FullName)</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$entry = $zip.Entries | Where-Object { $_.FullName -eq "word/document.xml"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$rdr   = New-Object System.IO.StreamReader($entry.Open())</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$xml   = [xml]$rdr.ReadToEnd()</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$rdr.Close(); $zip.Dispose()</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($xml.InnerText -replace '\s+', ' ').Trim()</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 else { Get-Content $file.FullName -Raw }</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if ([string]::IsNullOrWhiteSpace($rawText)) { continue }</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$dept   = Split-Path (Split-Path $file.FullName -Parent) -Leaf</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$itemId = "protocol_" + ($file.BaseName -replace '[^a-zA-Z0-9]', '_')</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$body =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id         = $itemId</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properties = @{ title=$($file.BaseName -replace '[_-]','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url="https://intranet.northgate.nhs/protocols/$dept/$($file.Name)"</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iconUrl="https://cdn-icons-png.flaticon.com/512/2382/2382533.png"</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lastModified=$file.LastWriteTimeUtc.ToString("o")</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author="Clinical Governance Team"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content    = @{ value=$rawText[0..4999]-join''; type="text"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acl        = $acl</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 | ConvertTo-Json -Depth 6</a:t>
            </a:r>
            <a:endParaRPr lang="en-US" sz="870" dirty="0"/>
          </a:p>
          <a:p>
            <a:pPr indent="0" marL="0">
              <a:buNone/>
            </a:pP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Invoke-MgGraphRequest -Method PUT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-Body $body -ContentType "application/json"</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    Start-Sleep -Milliseconds 150</a:t>
            </a:r>
            <a:endParaRPr lang="en-US" sz="870" dirty="0"/>
          </a:p>
          <a:p>
            <a:pPr indent="0" marL="0">
              <a:buNone/>
            </a:pPr>
            <a:r>
              <a:rPr lang="en-US" sz="870" dirty="0">
                <a:solidFill>
                  <a:srgbClr val="7ACED7"/>
                </a:solidFill>
                <a:latin typeface="Consolas" pitchFamily="34" charset="0"/>
                <a:ea typeface="Consolas" pitchFamily="34" charset="-122"/>
                <a:cs typeface="Consolas" pitchFamily="34" charset="-120"/>
              </a:rPr>
              <a:t>}</a:t>
            </a:r>
            <a:endParaRPr lang="en-US" sz="8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2  --  CONSTRUCTION: PROJECT DEFECT TRACKER (SQL)</a:t>
            </a:r>
            <a:endParaRPr lang="en-US" sz="1100" dirty="0"/>
          </a:p>
        </p:txBody>
      </p:sp>
      <p:sp>
        <p:nvSpPr>
          <p:cNvPr id="5" name="Shape 3"/>
          <p:cNvSpPr/>
          <p:nvPr/>
        </p:nvSpPr>
        <p:spPr>
          <a:xfrm>
            <a:off x="0" y="0"/>
            <a:ext cx="1280160" cy="612648"/>
          </a:xfrm>
          <a:prstGeom prst="rect">
            <a:avLst/>
          </a:prstGeom>
          <a:solidFill>
            <a:srgbClr val="F6CD18"/>
          </a:solidFill>
          <a:ln w="12700">
            <a:solidFill>
              <a:srgbClr val="F6CD18"/>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#2</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F6CD18"/>
          </a:solidFill>
          <a:ln w="12700">
            <a:solidFill>
              <a:srgbClr val="F6CD18"/>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BuildRight Ltd runs a bespoke .NET app backed by SQL Server to track site defects -- cracks, water ingress, structural snags.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Project managers can only access it through the web app.</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When they ask Copilot about project status, it has no idea what Defect #4471 means.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SQL Server dbo.Defects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(SiteManagement DB)</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"List all critical open defects on the Riverside Apartments project and who owns them."</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"buildRightDefects"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$connStr = "Server=$env:SQL_SERVER;Database=SiteManagement;User Id=$env:SQL_USER;Password=$env:SQL_PASSWORD;"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 = New-Object System.Data.SqlClient.SqlConnection($connStr); $conn.Open()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$cmd = $conn.CreateCommand()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$cmd.CommandText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SELECT d.DefectId, d.Title, d.Description, d.Severity, d.Status,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d.LastUpdated, p.ProjectName, u.DisplayName AS AssignedTo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FROM   dbo.Defects 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JOIN   dbo.Projects p ON d.ProjectId = p.ProjectId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JOIN   dbo.Users    u ON d.AssignedToUserId = u.UserId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WHERE  d.Status &lt;&gt; 'Closed'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$reader = $cmd.ExecuteReader()</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while ($reader.Read())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$defectId = [int]$reader['DefectId']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"defect_$defectId"</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Project: $($reader['ProjectName'])   Defect #$defectId -- $($reader['Title'])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Severity: $($reader['Severity'])    Status: $($reader['Status'])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Assigned to: $($reader['AssignedTo'])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Description: $($reader['Description'])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 title="[$($reader['Severity'])] $($reader['Title']) -- $($reader['ProjectName'])"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url="https://defects.buildright.com/defect/$defectId"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iconUrl="https://cdn-icons-png.flaticon.com/512/1828/1828843.png"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lastModified=([datetime]$reader['LastUpdated']).ToString("o")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author=[string]$reader['AssignedTo']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value=$content; type="text"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Start-Sleep -Milliseconds 120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$reader.Close(); $conn.Close()</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3  --  RETAILER: PRODUCT CATALOGUE FROM REST API</a:t>
            </a:r>
            <a:endParaRPr lang="en-US" sz="1100" dirty="0"/>
          </a:p>
        </p:txBody>
      </p:sp>
      <p:sp>
        <p:nvSpPr>
          <p:cNvPr id="5" name="Shape 3"/>
          <p:cNvSpPr/>
          <p:nvPr/>
        </p:nvSpPr>
        <p:spPr>
          <a:xfrm>
            <a:off x="0" y="0"/>
            <a:ext cx="1280160" cy="612648"/>
          </a:xfrm>
          <a:prstGeom prst="rect">
            <a:avLst/>
          </a:prstGeom>
          <a:solidFill>
            <a:srgbClr val="3DD68C"/>
          </a:solidFill>
          <a:ln w="12700">
            <a:solidFill>
              <a:srgbClr val="3DD68C"/>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#3</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3DD68C"/>
          </a:solidFill>
          <a:ln w="12700">
            <a:solidFill>
              <a:srgbClr val="3DD68C"/>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3DD68C"/>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FreshMart grocery chain has a product catalogue API. Support staff answering customer emails must switch between Outlook and the portal to look up allergens, prices, and stock codes.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Internal REST API</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GET /api/products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?category=bakery&amp;page=1</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Key insight: Put allergens, ingredients and SKU in the content block -- Copilot can then answer product-specific questions directly.</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 (in Outlook):</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"Does our sourdough bread contain sesame? What is its SKU?"</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"freshMartCatalogue"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$apiBase      = "https://api.freshmart.internal/api/products"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$page = 1; $hasMore = $true; $ingested = 0</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while ($hasMore)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$response = Invoke-RestMethod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"$apiBase`?page=$page&amp;pageSize=100"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-Headers @{ "x-api-key" = $env:FRESHMART_API_KEY; Accept = "application/json"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foreach ($product in $response.items)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Product: $($product.name)   SKU: $($product.sku)</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Category: $($product.category)   Brand: $($product.brand)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Price: GBP$($product.price)   In Stock: $($product.inStock)</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Ingredients: $($product.ingredients)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Allergens: $($product.allergens -join ",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$($product.description)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"product_$($product.sku -replace '[^a-zA-Z0-9]','_')"</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 title="$($product.name) -- $($product.brand)"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url="https://catalogue.freshmart.internal/product/$($product.sku)"</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iconUrl="https://cdn-icons-png.flaticon.com/512/3073/3073464.png"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lastModified=(Get-Date).ToUniversalTime().ToString("o")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author="Merchandising Team"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value=$content; type="text"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$ingested++; Start-Sleep -Milliseconds 80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$hasMore = $response.hasNextPage; $page++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Write-Host "Ingested $ingested products."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4  --  UNIVERSITY: STUDENT FAQ FROM LEGACY INTRANET</a:t>
            </a:r>
            <a:endParaRPr lang="en-US" sz="1100" dirty="0"/>
          </a:p>
        </p:txBody>
      </p:sp>
      <p:sp>
        <p:nvSpPr>
          <p:cNvPr id="5" name="Shape 3"/>
          <p:cNvSpPr/>
          <p:nvPr/>
        </p:nvSpPr>
        <p:spPr>
          <a:xfrm>
            <a:off x="0" y="0"/>
            <a:ext cx="1280160" cy="612648"/>
          </a:xfrm>
          <a:prstGeom prst="rect">
            <a:avLst/>
          </a:prstGeom>
          <a:solidFill>
            <a:srgbClr val="9B6DFF"/>
          </a:solidFill>
          <a:ln w="12700">
            <a:solidFill>
              <a:srgbClr val="9B6DFF"/>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#4</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9B6DFF"/>
          </a:solidFill>
          <a:ln w="12700">
            <a:solidFill>
              <a:srgbClr val="9B6DFF"/>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9B6DFF"/>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Westbrook University has an old PHP-based intranet with hundreds of FAQ pages for admissions, fees, campus services and IT.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The CMS cannot be moved to SharePoint -- but it has a public JSON export endpoint.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Intranet JSON export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GET /export/faqs.json</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(flat array of FAQ objects)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Filter: only published items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"What documents do international students need for enrollment?"</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"How do I reset my university VPN?"</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"westbrookFAQs"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$intranetBase = "https://intranet.westbrook.ac.uk/faqs"</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$faqs = Invoke-RestMethod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"https://intranet.westbrook.ac.uk/export/faqs.json"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Write-Host "Fetched $($faqs.Count) FAQs"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$ingested = 0</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foreach ($faq in $faqs)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if ($faq.status -ne "published") { continue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"faq_$($faq.id)"</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Department: $($faq.department)   Category: $($faq.category)</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Q: $($faq.question)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 $($faq.answer)</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Tags: $($faq.tags -join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 title        = $faq.question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          = "$intranetBase/$($faq.slug)"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      = "https://cdn-icons-png.flaticon.com/512/2232/2232688.png"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 = ([datetime]$faq.updatedAt).ToUniversalTime().ToString("o")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       = $faq.department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value=$content; type="text"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$ingested++; Start-Sleep -Milliseconds 100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Write-Host "Ingested $ingested published FAQs."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5  --  MANUFACTURING: MACHINE FAULT LOGS FROM IoT API</a:t>
            </a:r>
            <a:endParaRPr lang="en-US" sz="1100" dirty="0"/>
          </a:p>
        </p:txBody>
      </p:sp>
      <p:sp>
        <p:nvSpPr>
          <p:cNvPr id="5" name="Shape 3"/>
          <p:cNvSpPr/>
          <p:nvPr/>
        </p:nvSpPr>
        <p:spPr>
          <a:xfrm>
            <a:off x="0" y="0"/>
            <a:ext cx="1280160" cy="612648"/>
          </a:xfrm>
          <a:prstGeom prst="rect">
            <a:avLst/>
          </a:prstGeom>
          <a:solidFill>
            <a:srgbClr val="7ACED7"/>
          </a:solidFill>
          <a:ln w="12700">
            <a:solidFill>
              <a:srgbClr val="7ACED7"/>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#5</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7ACED7"/>
          </a:solidFill>
          <a:ln w="12700">
            <a:solidFill>
              <a:srgbClr val="7ACED7"/>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7ACED7"/>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Contoso Manufacturing runs CNC machines monitored by a Node.js IoT gateway that exposes fault events via REST.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When a machine breaks down, technicians hunt through paper logs and a bespoke dashboard to find service history.</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IoT Gateway REST API</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GET /api/machines/{id}/events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?type=fault&amp;limit=200</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Iterates ALL machines from /api/machines first.</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 (mobile Teams):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"What were the last three faults on CNC-07 and how were they resolved?"</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"contosoMachineLogs"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$gwBase       = "https://iot-gateway.contoso-mfg.local"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$token        = $env:IOT_GATEWAY_TOKEN</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$machines = Invoke-RestMethod -Uri "$gwBase/api/machines"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-Headers @{ Authorization = "Bearer $token"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$ingested = 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foreach ($machine in $machines)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$events = Invoke-RestMethod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"$gwBase/api/machines/$($machine.id)/events?type=fault&amp;limit=200"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-Headers @{ Authorization = "Bearer $token"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foreach ($event in $events)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"fault_$($machine.id)_$($event.eventId)"</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Machine: $($machine.name) (ID: $($machine.id))   Location: $($machine.plantArea)</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Fault #$($event.eventId) -- $($event.faultDescription)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Error Code: $($event.errorCode)   Date: $($event.timestamp)</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Resolution: $($event.resolution)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Resolved By: $($event.resolvedBy)   Downtime: $($event.downtimeMinutes) min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Notes: $($event.technicianNotes)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title        = "[$($machine.name)] $($event.errorCode) -- $($event.faultDescription)"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          = "https://dashboard.contoso-mfg.local/machines/$($machine.id)/events/$($event.eventId)"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      = "https://cdn-icons-png.flaticon.com/512/2092/2092663.png"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 = ([datetime]$event.timestamp).ToUniversalTime().ToString("o")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       = $event.resolvedBy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value=$content; type="text"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$ingested++; Start-Sleep -Milliseconds 100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Write-Host "Ingested $ingested fault events."</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6  --  HR: POLICY DOCUMENTS FROM SQLite + FILE SHARE</a:t>
            </a:r>
            <a:endParaRPr lang="en-US" sz="1100" dirty="0"/>
          </a:p>
        </p:txBody>
      </p:sp>
      <p:sp>
        <p:nvSpPr>
          <p:cNvPr id="5" name="Shape 3"/>
          <p:cNvSpPr/>
          <p:nvPr/>
        </p:nvSpPr>
        <p:spPr>
          <a:xfrm>
            <a:off x="0" y="0"/>
            <a:ext cx="1280160" cy="612648"/>
          </a:xfrm>
          <a:prstGeom prst="rect">
            <a:avLst/>
          </a:prstGeom>
          <a:solidFill>
            <a:srgbClr val="F6CD18"/>
          </a:solidFill>
          <a:ln w="12700">
            <a:solidFill>
              <a:srgbClr val="F6CD18"/>
            </a:solidFill>
            <a:prstDash val="solid"/>
          </a:ln>
        </p:spPr>
      </p:sp>
      <p:sp>
        <p:nvSpPr>
          <p:cNvPr id="6" name="Text 4"/>
          <p:cNvSpPr/>
          <p:nvPr/>
        </p:nvSpPr>
        <p:spPr>
          <a:xfrm>
            <a:off x="0" y="0"/>
            <a:ext cx="1280160" cy="612648"/>
          </a:xfrm>
          <a:prstGeom prst="rect">
            <a:avLst/>
          </a:prstGeom>
          <a:noFill/>
          <a:ln/>
        </p:spPr>
        <p:txBody>
          <a:bodyPr wrap="square" lIns="0" tIns="0" rIns="0" bIns="0" rtlCol="0" anchor="ctr"/>
          <a:lstStyle/>
          <a:p>
            <a:pPr algn="ctr" indent="0" marL="0">
              <a:buNone/>
            </a:pPr>
            <a:r>
              <a:rPr lang="en-US" sz="1600" b="1" dirty="0">
                <a:solidFill>
                  <a:srgbClr val="0A0F1A"/>
                </a:solidFill>
                <a:latin typeface="Calibri" pitchFamily="34" charset="0"/>
                <a:ea typeface="Calibri" pitchFamily="34" charset="-122"/>
                <a:cs typeface="Calibri" pitchFamily="34" charset="-120"/>
              </a:rPr>
              <a:t>#6</a:t>
            </a:r>
            <a:endParaRPr lang="en-US" sz="1600" dirty="0"/>
          </a:p>
        </p:txBody>
      </p:sp>
      <p:sp>
        <p:nvSpPr>
          <p:cNvPr id="7" name="Shape 5"/>
          <p:cNvSpPr/>
          <p:nvPr/>
        </p:nvSpPr>
        <p:spPr>
          <a:xfrm>
            <a:off x="365760" y="777240"/>
            <a:ext cx="2606040" cy="4041648"/>
          </a:xfrm>
          <a:prstGeom prst="rect">
            <a:avLst/>
          </a:prstGeom>
          <a:solidFill>
            <a:srgbClr val="111B2D"/>
          </a:solidFill>
          <a:ln w="12700">
            <a:solidFill>
              <a:srgbClr val="1E3050"/>
            </a:solidFill>
            <a:prstDash val="solid"/>
          </a:ln>
          <a:effectLst>
            <a:outerShdw sx="100000" sy="100000" kx="0" ky="0" algn="bl" rotWithShape="0" blurRad="88900" dist="25400" dir="8100000">
              <a:srgbClr val="000000">
                <a:alpha val="22000"/>
              </a:srgbClr>
            </a:outerShdw>
          </a:effectLst>
        </p:spPr>
      </p:sp>
      <p:sp>
        <p:nvSpPr>
          <p:cNvPr id="8" name="Shape 6"/>
          <p:cNvSpPr/>
          <p:nvPr/>
        </p:nvSpPr>
        <p:spPr>
          <a:xfrm>
            <a:off x="365760" y="777240"/>
            <a:ext cx="2606040" cy="50292"/>
          </a:xfrm>
          <a:prstGeom prst="rect">
            <a:avLst/>
          </a:prstGeom>
          <a:solidFill>
            <a:srgbClr val="F6CD18"/>
          </a:solidFill>
          <a:ln w="12700">
            <a:solidFill>
              <a:srgbClr val="F6CD18"/>
            </a:solidFill>
            <a:prstDash val="solid"/>
          </a:ln>
        </p:spPr>
      </p:sp>
      <p:sp>
        <p:nvSpPr>
          <p:cNvPr id="9" name="Text 7"/>
          <p:cNvSpPr/>
          <p:nvPr/>
        </p:nvSpPr>
        <p:spPr>
          <a:xfrm>
            <a:off x="502920" y="896112"/>
            <a:ext cx="2377440" cy="320040"/>
          </a:xfrm>
          <a:prstGeom prst="rect">
            <a:avLst/>
          </a:prstGeom>
          <a:noFill/>
          <a:ln/>
        </p:spPr>
        <p:txBody>
          <a:bodyPr wrap="square" lIns="0" tIns="0" rIns="0" bIns="0" rtlCol="0" anchor="ctr"/>
          <a:lstStyle/>
          <a:p>
            <a:pPr indent="0" marL="0">
              <a:buNone/>
            </a:pPr>
            <a:r>
              <a:rPr lang="en-US" sz="1200" b="1" dirty="0">
                <a:solidFill>
                  <a:srgbClr val="F6CD18"/>
                </a:solidFill>
                <a:latin typeface="Calibri" pitchFamily="34" charset="0"/>
                <a:ea typeface="Calibri" pitchFamily="34" charset="-122"/>
                <a:cs typeface="Calibri" pitchFamily="34" charset="-120"/>
              </a:rPr>
              <a:t>The situation</a:t>
            </a:r>
            <a:endParaRPr lang="en-US" sz="1200" dirty="0"/>
          </a:p>
        </p:txBody>
      </p:sp>
      <p:sp>
        <p:nvSpPr>
          <p:cNvPr id="10" name="Text 8"/>
          <p:cNvSpPr/>
          <p:nvPr/>
        </p:nvSpPr>
        <p:spPr>
          <a:xfrm>
            <a:off x="502920" y="1261872"/>
            <a:ext cx="2377440" cy="346557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Fabrikam Ltd keeps its HR policy library in PDF exports on a file share AND a SQLite DB that tracks version history and owners.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New employees constantly ask HR the same questions already answered in the handbook.</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Data source:</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SQLite DB (hr-policies.db)</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 files at \\hrserver\policies\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Requires: PSSQLite module</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ACL: deny external guests,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grant all internal employees</a:t>
            </a:r>
            <a:endParaRPr lang="en-US" sz="1050" dirty="0"/>
          </a:p>
          <a:p>
            <a:pPr indent="0" marL="0">
              <a:buNone/>
            </a:pP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Copilot prompts:</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"How many days paternity leave am I entitled to?"</a:t>
            </a:r>
            <a:endParaRPr lang="en-US" sz="1050" dirty="0"/>
          </a:p>
          <a:p>
            <a:pPr indent="0" marL="0">
              <a:buNone/>
            </a:pPr>
            <a:r>
              <a:rPr lang="en-US" sz="1050" dirty="0">
                <a:solidFill>
                  <a:srgbClr val="FFFFFF"/>
                </a:solidFill>
                <a:latin typeface="Calibri" pitchFamily="34" charset="0"/>
                <a:ea typeface="Calibri" pitchFamily="34" charset="-122"/>
                <a:cs typeface="Calibri" pitchFamily="34" charset="-120"/>
              </a:rPr>
              <a:t>"How do I submit an expense claim?"</a:t>
            </a:r>
            <a:endParaRPr lang="en-US" sz="1050" dirty="0"/>
          </a:p>
        </p:txBody>
      </p:sp>
      <p:sp>
        <p:nvSpPr>
          <p:cNvPr id="11" name="Shape 9"/>
          <p:cNvSpPr/>
          <p:nvPr/>
        </p:nvSpPr>
        <p:spPr>
          <a:xfrm>
            <a:off x="3090672" y="777240"/>
            <a:ext cx="5687568" cy="4041648"/>
          </a:xfrm>
          <a:prstGeom prst="rect">
            <a:avLst/>
          </a:prstGeom>
          <a:solidFill>
            <a:srgbClr val="060C16"/>
          </a:solidFill>
          <a:ln w="12700">
            <a:solidFill>
              <a:srgbClr val="1E3050"/>
            </a:solidFill>
            <a:prstDash val="solid"/>
          </a:ln>
        </p:spPr>
      </p:sp>
      <p:sp>
        <p:nvSpPr>
          <p:cNvPr id="12" name="Text 10"/>
          <p:cNvSpPr/>
          <p:nvPr/>
        </p:nvSpPr>
        <p:spPr>
          <a:xfrm>
            <a:off x="3218688" y="868680"/>
            <a:ext cx="5468112" cy="3858768"/>
          </a:xfrm>
          <a:prstGeom prst="rect">
            <a:avLst/>
          </a:prstGeom>
          <a:noFill/>
          <a:ln/>
        </p:spPr>
        <p:txBody>
          <a:bodyPr wrap="square" lIns="0" tIns="0" rIns="0" bIns="0" rtlCol="0" anchor="ctr"/>
          <a:lstStyle/>
          <a:p>
            <a:pPr indent="0" marL="0">
              <a:buNone/>
            </a:pPr>
            <a:r>
              <a:rPr lang="en-US" sz="850" dirty="0">
                <a:solidFill>
                  <a:srgbClr val="7ACED7"/>
                </a:solidFill>
                <a:latin typeface="Consolas" pitchFamily="34" charset="0"/>
                <a:ea typeface="Consolas" pitchFamily="34" charset="-122"/>
                <a:cs typeface="Consolas" pitchFamily="34" charset="-120"/>
              </a:rPr>
              <a:t>. .\connect-to-graph.ps1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Import-Module PSSQLite    # Install-Module PSSQLite</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$connectionId = "fabrikamHRPolicies"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$dbPath       = "\\hrserver\policies\hr-policies.db"</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$fileBase     = "\\hrserver\policies\documents"</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$portalBase   = "https://hr.fabrikam.com/policies"</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$acl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type="everyone";       value="everyone"; accessType="grant"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type="externalGuests"; value="everyone"; accessType="deny"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$policies = Invoke-SqliteQuery -DataSource $dbPath -Query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SELECT PolicyId, Title, Category, Owner, LastReviewed, FileName, Summary</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FROM   Policies  WHERE IsActive = 1</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foreach ($policy in $policies)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$filePath    = Join-Path $fileBase $policy.FileName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$fileContent = if (Test-Path $filePath) { Get-Content $filePath -Raw } else { $policy.Summary }</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$itemId  = "hrpolicy_$($policy.PolicyId)"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Policy: $($policy.Title)   Category: $($policy.Category)</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Owner: $($policy.Owner)   Last Reviewed: $($policy.LastReviewed)</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$fileContent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id = $itemId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properties = @{ title="$($policy.Category): $($policy.Title)"</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url="$portalBase/$($policy.PolicyId)"</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iconUrl="https://cdn-icons-png.flaticon.com/512/1055/1055687.png"</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lastModified=([datetime]$policy.LastReviewed).ToUniversalTime().ToString("o")</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author=$policy.Owner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content = @{ value=$content; type="text"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acl = $acl</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 | ConvertTo-Json -Depth 6</a:t>
            </a:r>
            <a:endParaRPr lang="en-US" sz="850" dirty="0"/>
          </a:p>
          <a:p>
            <a:pPr indent="0" marL="0">
              <a:buNone/>
            </a:pP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Invoke-MgGraphRequest -Method PUT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-Uri "https://graph.microsoft.com/v1.0/external/connections/$connectionId/items/$itemId" `</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-Body $body -ContentType "application/json"</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    Start-Sleep -Milliseconds 120</a:t>
            </a:r>
            <a:endParaRPr lang="en-US" sz="850" dirty="0"/>
          </a:p>
          <a:p>
            <a:pPr indent="0" marL="0">
              <a:buNone/>
            </a:pPr>
            <a:r>
              <a:rPr lang="en-US" sz="850" dirty="0">
                <a:solidFill>
                  <a:srgbClr val="7ACED7"/>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SCENARIO SUMMARY</a:t>
            </a:r>
            <a:endParaRPr lang="en-US" sz="1100" dirty="0"/>
          </a:p>
        </p:txBody>
      </p:sp>
      <p:sp>
        <p:nvSpPr>
          <p:cNvPr id="5" name="Text 3"/>
          <p:cNvSpPr/>
          <p:nvPr/>
        </p:nvSpPr>
        <p:spPr>
          <a:xfrm>
            <a:off x="457200" y="749808"/>
            <a:ext cx="8229600" cy="34747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Six industries -- six sources -- one reusable PowerShell pattern</a:t>
            </a:r>
            <a:endParaRPr lang="en-US" sz="1500" dirty="0"/>
          </a:p>
        </p:txBody>
      </p:sp>
      <p:sp>
        <p:nvSpPr>
          <p:cNvPr id="6" name="Shape 4"/>
          <p:cNvSpPr/>
          <p:nvPr/>
        </p:nvSpPr>
        <p:spPr>
          <a:xfrm>
            <a:off x="365760" y="1261872"/>
            <a:ext cx="8366760" cy="502920"/>
          </a:xfrm>
          <a:prstGeom prst="rect">
            <a:avLst/>
          </a:prstGeom>
          <a:solidFill>
            <a:srgbClr val="111B2D"/>
          </a:solidFill>
          <a:ln w="12700">
            <a:solidFill>
              <a:srgbClr val="1E3050"/>
            </a:solidFill>
            <a:prstDash val="solid"/>
          </a:ln>
        </p:spPr>
      </p:sp>
      <p:sp>
        <p:nvSpPr>
          <p:cNvPr id="7" name="Shape 5"/>
          <p:cNvSpPr/>
          <p:nvPr/>
        </p:nvSpPr>
        <p:spPr>
          <a:xfrm>
            <a:off x="365760" y="1261872"/>
            <a:ext cx="50292" cy="502920"/>
          </a:xfrm>
          <a:prstGeom prst="rect">
            <a:avLst/>
          </a:prstGeom>
          <a:solidFill>
            <a:srgbClr val="7ACED7"/>
          </a:solidFill>
          <a:ln w="12700">
            <a:solidFill>
              <a:srgbClr val="7ACED7"/>
            </a:solidFill>
            <a:prstDash val="solid"/>
          </a:ln>
        </p:spPr>
      </p:sp>
      <p:sp>
        <p:nvSpPr>
          <p:cNvPr id="8" name="Text 6"/>
          <p:cNvSpPr/>
          <p:nvPr/>
        </p:nvSpPr>
        <p:spPr>
          <a:xfrm>
            <a:off x="530352" y="1335024"/>
            <a:ext cx="320040" cy="347472"/>
          </a:xfrm>
          <a:prstGeom prst="rect">
            <a:avLst/>
          </a:prstGeom>
          <a:noFill/>
          <a:ln/>
        </p:spPr>
        <p:txBody>
          <a:bodyPr wrap="square" lIns="0" tIns="0" rIns="0" bIns="0" rtlCol="0" anchor="ctr"/>
          <a:lstStyle/>
          <a:p>
            <a:pPr algn="ctr" indent="0" marL="0">
              <a:buNone/>
            </a:pPr>
            <a:r>
              <a:rPr lang="en-US" sz="1300" b="1" dirty="0">
                <a:solidFill>
                  <a:srgbClr val="7ACED7"/>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32688" y="1353312"/>
            <a:ext cx="1207008" cy="320040"/>
          </a:xfrm>
          <a:prstGeom prst="rect">
            <a:avLst/>
          </a:prstGeom>
          <a:noFill/>
          <a:ln/>
        </p:spPr>
        <p:txBody>
          <a:bodyPr wrap="square" lIns="0" tIns="0" rIns="0" bIns="0" rtlCol="0" anchor="ctr"/>
          <a:lstStyle/>
          <a:p>
            <a:pPr indent="0" marL="0">
              <a:buNone/>
            </a:pPr>
            <a:r>
              <a:rPr lang="en-US" sz="1100" b="1" dirty="0">
                <a:solidFill>
                  <a:srgbClr val="7ACED7"/>
                </a:solidFill>
                <a:latin typeface="Calibri" pitchFamily="34" charset="0"/>
                <a:ea typeface="Calibri" pitchFamily="34" charset="-122"/>
                <a:cs typeface="Calibri" pitchFamily="34" charset="-120"/>
              </a:rPr>
              <a:t>Healthcare</a:t>
            </a:r>
            <a:endParaRPr lang="en-US" sz="1100" dirty="0"/>
          </a:p>
        </p:txBody>
      </p:sp>
      <p:sp>
        <p:nvSpPr>
          <p:cNvPr id="10" name="Text 8"/>
          <p:cNvSpPr/>
          <p:nvPr/>
        </p:nvSpPr>
        <p:spPr>
          <a:xfrm>
            <a:off x="2194560" y="1353312"/>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Network share (.docx/.txt)</a:t>
            </a:r>
            <a:endParaRPr lang="en-US" sz="1050" dirty="0"/>
          </a:p>
        </p:txBody>
      </p:sp>
      <p:sp>
        <p:nvSpPr>
          <p:cNvPr id="11" name="Text 9"/>
          <p:cNvSpPr/>
          <p:nvPr/>
        </p:nvSpPr>
        <p:spPr>
          <a:xfrm>
            <a:off x="4892040" y="1353312"/>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Clinical staff get instant protocol answers in Teams</a:t>
            </a:r>
            <a:endParaRPr lang="en-US" sz="1050" dirty="0"/>
          </a:p>
        </p:txBody>
      </p:sp>
      <p:sp>
        <p:nvSpPr>
          <p:cNvPr id="12" name="Shape 10"/>
          <p:cNvSpPr/>
          <p:nvPr/>
        </p:nvSpPr>
        <p:spPr>
          <a:xfrm>
            <a:off x="365760" y="1837944"/>
            <a:ext cx="8366760" cy="502920"/>
          </a:xfrm>
          <a:prstGeom prst="rect">
            <a:avLst/>
          </a:prstGeom>
          <a:solidFill>
            <a:srgbClr val="111B2D"/>
          </a:solidFill>
          <a:ln w="12700">
            <a:solidFill>
              <a:srgbClr val="1E3050"/>
            </a:solidFill>
            <a:prstDash val="solid"/>
          </a:ln>
        </p:spPr>
      </p:sp>
      <p:sp>
        <p:nvSpPr>
          <p:cNvPr id="13" name="Shape 11"/>
          <p:cNvSpPr/>
          <p:nvPr/>
        </p:nvSpPr>
        <p:spPr>
          <a:xfrm>
            <a:off x="365760" y="1837944"/>
            <a:ext cx="50292" cy="502920"/>
          </a:xfrm>
          <a:prstGeom prst="rect">
            <a:avLst/>
          </a:prstGeom>
          <a:solidFill>
            <a:srgbClr val="F6CD18"/>
          </a:solidFill>
          <a:ln w="12700">
            <a:solidFill>
              <a:srgbClr val="F6CD18"/>
            </a:solidFill>
            <a:prstDash val="solid"/>
          </a:ln>
        </p:spPr>
      </p:sp>
      <p:sp>
        <p:nvSpPr>
          <p:cNvPr id="14" name="Text 12"/>
          <p:cNvSpPr/>
          <p:nvPr/>
        </p:nvSpPr>
        <p:spPr>
          <a:xfrm>
            <a:off x="530352" y="1911096"/>
            <a:ext cx="320040" cy="347472"/>
          </a:xfrm>
          <a:prstGeom prst="rect">
            <a:avLst/>
          </a:prstGeom>
          <a:noFill/>
          <a:ln/>
        </p:spPr>
        <p:txBody>
          <a:bodyPr wrap="square" lIns="0" tIns="0" rIns="0" bIns="0" rtlCol="0" anchor="ctr"/>
          <a:lstStyle/>
          <a:p>
            <a:pPr algn="ctr" indent="0" marL="0">
              <a:buNone/>
            </a:pPr>
            <a:r>
              <a:rPr lang="en-US" sz="1300" b="1" dirty="0">
                <a:solidFill>
                  <a:srgbClr val="F6CD18"/>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932688" y="1929384"/>
            <a:ext cx="1207008" cy="320040"/>
          </a:xfrm>
          <a:prstGeom prst="rect">
            <a:avLst/>
          </a:prstGeom>
          <a:noFill/>
          <a:ln/>
        </p:spPr>
        <p:txBody>
          <a:bodyPr wrap="square" lIns="0" tIns="0" rIns="0" bIns="0" rtlCol="0" anchor="ctr"/>
          <a:lstStyle/>
          <a:p>
            <a:pPr indent="0" marL="0">
              <a:buNone/>
            </a:pPr>
            <a:r>
              <a:rPr lang="en-US" sz="1100" b="1" dirty="0">
                <a:solidFill>
                  <a:srgbClr val="F6CD18"/>
                </a:solidFill>
                <a:latin typeface="Calibri" pitchFamily="34" charset="0"/>
                <a:ea typeface="Calibri" pitchFamily="34" charset="-122"/>
                <a:cs typeface="Calibri" pitchFamily="34" charset="-120"/>
              </a:rPr>
              <a:t>Construction</a:t>
            </a:r>
            <a:endParaRPr lang="en-US" sz="1100" dirty="0"/>
          </a:p>
        </p:txBody>
      </p:sp>
      <p:sp>
        <p:nvSpPr>
          <p:cNvPr id="16" name="Text 14"/>
          <p:cNvSpPr/>
          <p:nvPr/>
        </p:nvSpPr>
        <p:spPr>
          <a:xfrm>
            <a:off x="2194560" y="1929384"/>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SQL Server (custom defect app)</a:t>
            </a:r>
            <a:endParaRPr lang="en-US" sz="1050" dirty="0"/>
          </a:p>
        </p:txBody>
      </p:sp>
      <p:sp>
        <p:nvSpPr>
          <p:cNvPr id="17" name="Text 15"/>
          <p:cNvSpPr/>
          <p:nvPr/>
        </p:nvSpPr>
        <p:spPr>
          <a:xfrm>
            <a:off x="4892040" y="1929384"/>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PMs query live defect data without switching apps</a:t>
            </a:r>
            <a:endParaRPr lang="en-US" sz="1050" dirty="0"/>
          </a:p>
        </p:txBody>
      </p:sp>
      <p:sp>
        <p:nvSpPr>
          <p:cNvPr id="18" name="Shape 16"/>
          <p:cNvSpPr/>
          <p:nvPr/>
        </p:nvSpPr>
        <p:spPr>
          <a:xfrm>
            <a:off x="365760" y="2414016"/>
            <a:ext cx="8366760" cy="502920"/>
          </a:xfrm>
          <a:prstGeom prst="rect">
            <a:avLst/>
          </a:prstGeom>
          <a:solidFill>
            <a:srgbClr val="111B2D"/>
          </a:solidFill>
          <a:ln w="12700">
            <a:solidFill>
              <a:srgbClr val="1E3050"/>
            </a:solidFill>
            <a:prstDash val="solid"/>
          </a:ln>
        </p:spPr>
      </p:sp>
      <p:sp>
        <p:nvSpPr>
          <p:cNvPr id="19" name="Shape 17"/>
          <p:cNvSpPr/>
          <p:nvPr/>
        </p:nvSpPr>
        <p:spPr>
          <a:xfrm>
            <a:off x="365760" y="2414016"/>
            <a:ext cx="50292" cy="502920"/>
          </a:xfrm>
          <a:prstGeom prst="rect">
            <a:avLst/>
          </a:prstGeom>
          <a:solidFill>
            <a:srgbClr val="3DD68C"/>
          </a:solidFill>
          <a:ln w="12700">
            <a:solidFill>
              <a:srgbClr val="3DD68C"/>
            </a:solidFill>
            <a:prstDash val="solid"/>
          </a:ln>
        </p:spPr>
      </p:sp>
      <p:sp>
        <p:nvSpPr>
          <p:cNvPr id="20" name="Text 18"/>
          <p:cNvSpPr/>
          <p:nvPr/>
        </p:nvSpPr>
        <p:spPr>
          <a:xfrm>
            <a:off x="530352" y="2487168"/>
            <a:ext cx="320040" cy="347472"/>
          </a:xfrm>
          <a:prstGeom prst="rect">
            <a:avLst/>
          </a:prstGeom>
          <a:noFill/>
          <a:ln/>
        </p:spPr>
        <p:txBody>
          <a:bodyPr wrap="square" lIns="0" tIns="0" rIns="0" bIns="0" rtlCol="0" anchor="ctr"/>
          <a:lstStyle/>
          <a:p>
            <a:pPr algn="ctr" indent="0" marL="0">
              <a:buNone/>
            </a:pPr>
            <a:r>
              <a:rPr lang="en-US" sz="1300" b="1" dirty="0">
                <a:solidFill>
                  <a:srgbClr val="3DD68C"/>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932688" y="2505456"/>
            <a:ext cx="1207008" cy="320040"/>
          </a:xfrm>
          <a:prstGeom prst="rect">
            <a:avLst/>
          </a:prstGeom>
          <a:noFill/>
          <a:ln/>
        </p:spPr>
        <p:txBody>
          <a:bodyPr wrap="square" lIns="0" tIns="0" rIns="0" bIns="0" rtlCol="0" anchor="ctr"/>
          <a:lstStyle/>
          <a:p>
            <a:pPr indent="0" marL="0">
              <a:buNone/>
            </a:pPr>
            <a:r>
              <a:rPr lang="en-US" sz="1100" b="1" dirty="0">
                <a:solidFill>
                  <a:srgbClr val="3DD68C"/>
                </a:solidFill>
                <a:latin typeface="Calibri" pitchFamily="34" charset="0"/>
                <a:ea typeface="Calibri" pitchFamily="34" charset="-122"/>
                <a:cs typeface="Calibri" pitchFamily="34" charset="-120"/>
              </a:rPr>
              <a:t>Retail</a:t>
            </a:r>
            <a:endParaRPr lang="en-US" sz="1100" dirty="0"/>
          </a:p>
        </p:txBody>
      </p:sp>
      <p:sp>
        <p:nvSpPr>
          <p:cNvPr id="22" name="Text 20"/>
          <p:cNvSpPr/>
          <p:nvPr/>
        </p:nvSpPr>
        <p:spPr>
          <a:xfrm>
            <a:off x="2194560" y="2505456"/>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REST API (product catalogue)</a:t>
            </a:r>
            <a:endParaRPr lang="en-US" sz="1050" dirty="0"/>
          </a:p>
        </p:txBody>
      </p:sp>
      <p:sp>
        <p:nvSpPr>
          <p:cNvPr id="23" name="Text 21"/>
          <p:cNvSpPr/>
          <p:nvPr/>
        </p:nvSpPr>
        <p:spPr>
          <a:xfrm>
            <a:off x="4892040" y="2505456"/>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Support agents answer allergen/stock questions in Outlook</a:t>
            </a:r>
            <a:endParaRPr lang="en-US" sz="1050" dirty="0"/>
          </a:p>
        </p:txBody>
      </p:sp>
      <p:sp>
        <p:nvSpPr>
          <p:cNvPr id="24" name="Shape 22"/>
          <p:cNvSpPr/>
          <p:nvPr/>
        </p:nvSpPr>
        <p:spPr>
          <a:xfrm>
            <a:off x="365760" y="2990088"/>
            <a:ext cx="8366760" cy="502920"/>
          </a:xfrm>
          <a:prstGeom prst="rect">
            <a:avLst/>
          </a:prstGeom>
          <a:solidFill>
            <a:srgbClr val="111B2D"/>
          </a:solidFill>
          <a:ln w="12700">
            <a:solidFill>
              <a:srgbClr val="1E3050"/>
            </a:solidFill>
            <a:prstDash val="solid"/>
          </a:ln>
        </p:spPr>
      </p:sp>
      <p:sp>
        <p:nvSpPr>
          <p:cNvPr id="25" name="Shape 23"/>
          <p:cNvSpPr/>
          <p:nvPr/>
        </p:nvSpPr>
        <p:spPr>
          <a:xfrm>
            <a:off x="365760" y="2990088"/>
            <a:ext cx="50292" cy="502920"/>
          </a:xfrm>
          <a:prstGeom prst="rect">
            <a:avLst/>
          </a:prstGeom>
          <a:solidFill>
            <a:srgbClr val="9B6DFF"/>
          </a:solidFill>
          <a:ln w="12700">
            <a:solidFill>
              <a:srgbClr val="9B6DFF"/>
            </a:solidFill>
            <a:prstDash val="solid"/>
          </a:ln>
        </p:spPr>
      </p:sp>
      <p:sp>
        <p:nvSpPr>
          <p:cNvPr id="26" name="Text 24"/>
          <p:cNvSpPr/>
          <p:nvPr/>
        </p:nvSpPr>
        <p:spPr>
          <a:xfrm>
            <a:off x="530352" y="3063240"/>
            <a:ext cx="320040" cy="347472"/>
          </a:xfrm>
          <a:prstGeom prst="rect">
            <a:avLst/>
          </a:prstGeom>
          <a:noFill/>
          <a:ln/>
        </p:spPr>
        <p:txBody>
          <a:bodyPr wrap="square" lIns="0" tIns="0" rIns="0" bIns="0" rtlCol="0" anchor="ctr"/>
          <a:lstStyle/>
          <a:p>
            <a:pPr algn="ctr" indent="0" marL="0">
              <a:buNone/>
            </a:pPr>
            <a:r>
              <a:rPr lang="en-US" sz="1300" b="1" dirty="0">
                <a:solidFill>
                  <a:srgbClr val="9B6D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932688" y="3081528"/>
            <a:ext cx="1207008" cy="320040"/>
          </a:xfrm>
          <a:prstGeom prst="rect">
            <a:avLst/>
          </a:prstGeom>
          <a:noFill/>
          <a:ln/>
        </p:spPr>
        <p:txBody>
          <a:bodyPr wrap="square" lIns="0" tIns="0" rIns="0" bIns="0" rtlCol="0" anchor="ctr"/>
          <a:lstStyle/>
          <a:p>
            <a:pPr indent="0" marL="0">
              <a:buNone/>
            </a:pPr>
            <a:r>
              <a:rPr lang="en-US" sz="1100" b="1" dirty="0">
                <a:solidFill>
                  <a:srgbClr val="9B6DFF"/>
                </a:solidFill>
                <a:latin typeface="Calibri" pitchFamily="34" charset="0"/>
                <a:ea typeface="Calibri" pitchFamily="34" charset="-122"/>
                <a:cs typeface="Calibri" pitchFamily="34" charset="-120"/>
              </a:rPr>
              <a:t>Education</a:t>
            </a:r>
            <a:endParaRPr lang="en-US" sz="1100" dirty="0"/>
          </a:p>
        </p:txBody>
      </p:sp>
      <p:sp>
        <p:nvSpPr>
          <p:cNvPr id="28" name="Text 26"/>
          <p:cNvSpPr/>
          <p:nvPr/>
        </p:nvSpPr>
        <p:spPr>
          <a:xfrm>
            <a:off x="2194560" y="3081528"/>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Legacy intranet JSON export</a:t>
            </a:r>
            <a:endParaRPr lang="en-US" sz="1050" dirty="0"/>
          </a:p>
        </p:txBody>
      </p:sp>
      <p:sp>
        <p:nvSpPr>
          <p:cNvPr id="29" name="Text 27"/>
          <p:cNvSpPr/>
          <p:nvPr/>
        </p:nvSpPr>
        <p:spPr>
          <a:xfrm>
            <a:off x="4892040" y="3081528"/>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Advisors answer student queries from a 10-year-old system</a:t>
            </a:r>
            <a:endParaRPr lang="en-US" sz="1050" dirty="0"/>
          </a:p>
        </p:txBody>
      </p:sp>
      <p:sp>
        <p:nvSpPr>
          <p:cNvPr id="30" name="Shape 28"/>
          <p:cNvSpPr/>
          <p:nvPr/>
        </p:nvSpPr>
        <p:spPr>
          <a:xfrm>
            <a:off x="365760" y="3566160"/>
            <a:ext cx="8366760" cy="502920"/>
          </a:xfrm>
          <a:prstGeom prst="rect">
            <a:avLst/>
          </a:prstGeom>
          <a:solidFill>
            <a:srgbClr val="111B2D"/>
          </a:solidFill>
          <a:ln w="12700">
            <a:solidFill>
              <a:srgbClr val="1E3050"/>
            </a:solidFill>
            <a:prstDash val="solid"/>
          </a:ln>
        </p:spPr>
      </p:sp>
      <p:sp>
        <p:nvSpPr>
          <p:cNvPr id="31" name="Shape 29"/>
          <p:cNvSpPr/>
          <p:nvPr/>
        </p:nvSpPr>
        <p:spPr>
          <a:xfrm>
            <a:off x="365760" y="3566160"/>
            <a:ext cx="50292" cy="502920"/>
          </a:xfrm>
          <a:prstGeom prst="rect">
            <a:avLst/>
          </a:prstGeom>
          <a:solidFill>
            <a:srgbClr val="7ACED7"/>
          </a:solidFill>
          <a:ln w="12700">
            <a:solidFill>
              <a:srgbClr val="7ACED7"/>
            </a:solidFill>
            <a:prstDash val="solid"/>
          </a:ln>
        </p:spPr>
      </p:sp>
      <p:sp>
        <p:nvSpPr>
          <p:cNvPr id="32" name="Text 30"/>
          <p:cNvSpPr/>
          <p:nvPr/>
        </p:nvSpPr>
        <p:spPr>
          <a:xfrm>
            <a:off x="530352" y="3639312"/>
            <a:ext cx="320040" cy="347472"/>
          </a:xfrm>
          <a:prstGeom prst="rect">
            <a:avLst/>
          </a:prstGeom>
          <a:noFill/>
          <a:ln/>
        </p:spPr>
        <p:txBody>
          <a:bodyPr wrap="square" lIns="0" tIns="0" rIns="0" bIns="0" rtlCol="0" anchor="ctr"/>
          <a:lstStyle/>
          <a:p>
            <a:pPr algn="ctr" indent="0" marL="0">
              <a:buNone/>
            </a:pPr>
            <a:r>
              <a:rPr lang="en-US" sz="1300" b="1" dirty="0">
                <a:solidFill>
                  <a:srgbClr val="7ACED7"/>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932688" y="3657600"/>
            <a:ext cx="1207008" cy="320040"/>
          </a:xfrm>
          <a:prstGeom prst="rect">
            <a:avLst/>
          </a:prstGeom>
          <a:noFill/>
          <a:ln/>
        </p:spPr>
        <p:txBody>
          <a:bodyPr wrap="square" lIns="0" tIns="0" rIns="0" bIns="0" rtlCol="0" anchor="ctr"/>
          <a:lstStyle/>
          <a:p>
            <a:pPr indent="0" marL="0">
              <a:buNone/>
            </a:pPr>
            <a:r>
              <a:rPr lang="en-US" sz="1100" b="1" dirty="0">
                <a:solidFill>
                  <a:srgbClr val="7ACED7"/>
                </a:solidFill>
                <a:latin typeface="Calibri" pitchFamily="34" charset="0"/>
                <a:ea typeface="Calibri" pitchFamily="34" charset="-122"/>
                <a:cs typeface="Calibri" pitchFamily="34" charset="-120"/>
              </a:rPr>
              <a:t>Manufacturing</a:t>
            </a:r>
            <a:endParaRPr lang="en-US" sz="1100" dirty="0"/>
          </a:p>
        </p:txBody>
      </p:sp>
      <p:sp>
        <p:nvSpPr>
          <p:cNvPr id="34" name="Text 32"/>
          <p:cNvSpPr/>
          <p:nvPr/>
        </p:nvSpPr>
        <p:spPr>
          <a:xfrm>
            <a:off x="2194560" y="3657600"/>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IoT gateway REST API</a:t>
            </a:r>
            <a:endParaRPr lang="en-US" sz="1050" dirty="0"/>
          </a:p>
        </p:txBody>
      </p:sp>
      <p:sp>
        <p:nvSpPr>
          <p:cNvPr id="35" name="Text 33"/>
          <p:cNvSpPr/>
          <p:nvPr/>
        </p:nvSpPr>
        <p:spPr>
          <a:xfrm>
            <a:off x="4892040" y="3657600"/>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Technicians query machine fault history on mobile Teams</a:t>
            </a:r>
            <a:endParaRPr lang="en-US" sz="1050" dirty="0"/>
          </a:p>
        </p:txBody>
      </p:sp>
      <p:sp>
        <p:nvSpPr>
          <p:cNvPr id="36" name="Shape 34"/>
          <p:cNvSpPr/>
          <p:nvPr/>
        </p:nvSpPr>
        <p:spPr>
          <a:xfrm>
            <a:off x="365760" y="4142232"/>
            <a:ext cx="8366760" cy="502920"/>
          </a:xfrm>
          <a:prstGeom prst="rect">
            <a:avLst/>
          </a:prstGeom>
          <a:solidFill>
            <a:srgbClr val="111B2D"/>
          </a:solidFill>
          <a:ln w="12700">
            <a:solidFill>
              <a:srgbClr val="1E3050"/>
            </a:solidFill>
            <a:prstDash val="solid"/>
          </a:ln>
        </p:spPr>
      </p:sp>
      <p:sp>
        <p:nvSpPr>
          <p:cNvPr id="37" name="Shape 35"/>
          <p:cNvSpPr/>
          <p:nvPr/>
        </p:nvSpPr>
        <p:spPr>
          <a:xfrm>
            <a:off x="365760" y="4142232"/>
            <a:ext cx="50292" cy="502920"/>
          </a:xfrm>
          <a:prstGeom prst="rect">
            <a:avLst/>
          </a:prstGeom>
          <a:solidFill>
            <a:srgbClr val="F6CD18"/>
          </a:solidFill>
          <a:ln w="12700">
            <a:solidFill>
              <a:srgbClr val="F6CD18"/>
            </a:solidFill>
            <a:prstDash val="solid"/>
          </a:ln>
        </p:spPr>
      </p:sp>
      <p:sp>
        <p:nvSpPr>
          <p:cNvPr id="38" name="Text 36"/>
          <p:cNvSpPr/>
          <p:nvPr/>
        </p:nvSpPr>
        <p:spPr>
          <a:xfrm>
            <a:off x="530352" y="4215384"/>
            <a:ext cx="320040" cy="347472"/>
          </a:xfrm>
          <a:prstGeom prst="rect">
            <a:avLst/>
          </a:prstGeom>
          <a:noFill/>
          <a:ln/>
        </p:spPr>
        <p:txBody>
          <a:bodyPr wrap="square" lIns="0" tIns="0" rIns="0" bIns="0" rtlCol="0" anchor="ctr"/>
          <a:lstStyle/>
          <a:p>
            <a:pPr algn="ctr" indent="0" marL="0">
              <a:buNone/>
            </a:pPr>
            <a:r>
              <a:rPr lang="en-US" sz="1300" b="1" dirty="0">
                <a:solidFill>
                  <a:srgbClr val="F6CD18"/>
                </a:solidFill>
                <a:latin typeface="Calibri" pitchFamily="34" charset="0"/>
                <a:ea typeface="Calibri" pitchFamily="34" charset="-122"/>
                <a:cs typeface="Calibri" pitchFamily="34" charset="-120"/>
              </a:rPr>
              <a:t>6</a:t>
            </a:r>
            <a:endParaRPr lang="en-US" sz="1300" dirty="0"/>
          </a:p>
        </p:txBody>
      </p:sp>
      <p:sp>
        <p:nvSpPr>
          <p:cNvPr id="39" name="Text 37"/>
          <p:cNvSpPr/>
          <p:nvPr/>
        </p:nvSpPr>
        <p:spPr>
          <a:xfrm>
            <a:off x="932688" y="4233672"/>
            <a:ext cx="1207008" cy="320040"/>
          </a:xfrm>
          <a:prstGeom prst="rect">
            <a:avLst/>
          </a:prstGeom>
          <a:noFill/>
          <a:ln/>
        </p:spPr>
        <p:txBody>
          <a:bodyPr wrap="square" lIns="0" tIns="0" rIns="0" bIns="0" rtlCol="0" anchor="ctr"/>
          <a:lstStyle/>
          <a:p>
            <a:pPr indent="0" marL="0">
              <a:buNone/>
            </a:pPr>
            <a:r>
              <a:rPr lang="en-US" sz="1100" b="1" dirty="0">
                <a:solidFill>
                  <a:srgbClr val="F6CD18"/>
                </a:solidFill>
                <a:latin typeface="Calibri" pitchFamily="34" charset="0"/>
                <a:ea typeface="Calibri" pitchFamily="34" charset="-122"/>
                <a:cs typeface="Calibri" pitchFamily="34" charset="-120"/>
              </a:rPr>
              <a:t>HR / Any</a:t>
            </a:r>
            <a:endParaRPr lang="en-US" sz="1100" dirty="0"/>
          </a:p>
        </p:txBody>
      </p:sp>
      <p:sp>
        <p:nvSpPr>
          <p:cNvPr id="40" name="Text 38"/>
          <p:cNvSpPr/>
          <p:nvPr/>
        </p:nvSpPr>
        <p:spPr>
          <a:xfrm>
            <a:off x="2194560" y="4233672"/>
            <a:ext cx="2633472" cy="320040"/>
          </a:xfrm>
          <a:prstGeom prst="rect">
            <a:avLst/>
          </a:prstGeom>
          <a:noFill/>
          <a:ln/>
        </p:spPr>
        <p:txBody>
          <a:bodyPr wrap="square" lIns="0" tIns="0" rIns="0" bIns="0" rtlCol="0" anchor="ctr"/>
          <a:lstStyle/>
          <a:p>
            <a:pPr indent="0" marL="0">
              <a:buNone/>
            </a:pPr>
            <a:r>
              <a:rPr lang="en-US" sz="1050" dirty="0">
                <a:solidFill>
                  <a:srgbClr val="8A9BB5"/>
                </a:solidFill>
                <a:latin typeface="Calibri" pitchFamily="34" charset="0"/>
                <a:ea typeface="Calibri" pitchFamily="34" charset="-122"/>
                <a:cs typeface="Calibri" pitchFamily="34" charset="-120"/>
              </a:rPr>
              <a:t>SQLite + file share</a:t>
            </a:r>
            <a:endParaRPr lang="en-US" sz="1050" dirty="0"/>
          </a:p>
        </p:txBody>
      </p:sp>
      <p:sp>
        <p:nvSpPr>
          <p:cNvPr id="41" name="Text 39"/>
          <p:cNvSpPr/>
          <p:nvPr/>
        </p:nvSpPr>
        <p:spPr>
          <a:xfrm>
            <a:off x="4892040" y="4233672"/>
            <a:ext cx="3749040" cy="3200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Employees self-serve policy questions, reducing HR inbox load</a:t>
            </a:r>
            <a:endParaRPr lang="en-US" sz="1050" dirty="0"/>
          </a:p>
        </p:txBody>
      </p:sp>
      <p:sp>
        <p:nvSpPr>
          <p:cNvPr id="42" name="Shape 40"/>
          <p:cNvSpPr/>
          <p:nvPr/>
        </p:nvSpPr>
        <p:spPr>
          <a:xfrm>
            <a:off x="365760" y="4818888"/>
            <a:ext cx="8366760" cy="182880"/>
          </a:xfrm>
          <a:prstGeom prst="rect">
            <a:avLst/>
          </a:prstGeom>
          <a:solidFill>
            <a:srgbClr val="111B2D"/>
          </a:solidFill>
          <a:ln w="12700">
            <a:solidFill>
              <a:srgbClr val="F6CD18"/>
            </a:solidFill>
            <a:prstDash val="solid"/>
          </a:ln>
        </p:spPr>
      </p:sp>
      <p:sp>
        <p:nvSpPr>
          <p:cNvPr id="43" name="Shape 41"/>
          <p:cNvSpPr/>
          <p:nvPr/>
        </p:nvSpPr>
        <p:spPr>
          <a:xfrm>
            <a:off x="365760" y="4818888"/>
            <a:ext cx="50292" cy="182880"/>
          </a:xfrm>
          <a:prstGeom prst="rect">
            <a:avLst/>
          </a:prstGeom>
          <a:solidFill>
            <a:srgbClr val="F6CD18"/>
          </a:solidFill>
          <a:ln w="12700">
            <a:solidFill>
              <a:srgbClr val="F6CD18"/>
            </a:solidFill>
            <a:prstDash val="solid"/>
          </a:ln>
        </p:spPr>
      </p:sp>
      <p:sp>
        <p:nvSpPr>
          <p:cNvPr id="44" name="Text 42"/>
          <p:cNvSpPr/>
          <p:nvPr/>
        </p:nvSpPr>
        <p:spPr>
          <a:xfrm>
            <a:off x="512064" y="4828032"/>
            <a:ext cx="8138160" cy="155448"/>
          </a:xfrm>
          <a:prstGeom prst="rect">
            <a:avLst/>
          </a:prstGeom>
          <a:noFill/>
          <a:ln/>
        </p:spPr>
        <p:txBody>
          <a:bodyPr wrap="square" lIns="0" tIns="0" rIns="0" bIns="0" rtlCol="0" anchor="ctr"/>
          <a:lstStyle/>
          <a:p>
            <a:pPr indent="0" marL="0">
              <a:buNone/>
            </a:pPr>
            <a:r>
              <a:rPr lang="en-US" sz="950" b="1" dirty="0">
                <a:solidFill>
                  <a:srgbClr val="F6CD18"/>
                </a:solidFill>
                <a:latin typeface="Calibri" pitchFamily="34" charset="0"/>
                <a:ea typeface="Calibri" pitchFamily="34" charset="-122"/>
                <a:cs typeface="Calibri" pitchFamily="34" charset="-120"/>
              </a:rPr>
              <a:t>All six use the same 4 steps and the same Push-ItemToGraph function -- only the EXTRACT section changes.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612648"/>
          </a:xfrm>
          <a:prstGeom prst="rect">
            <a:avLst/>
          </a:prstGeom>
          <a:solidFill>
            <a:srgbClr val="0D1520"/>
          </a:solidFill>
          <a:ln w="12700">
            <a:solidFill>
              <a:srgbClr val="0D1520"/>
            </a:solidFill>
            <a:prstDash val="solid"/>
          </a:ln>
        </p:spPr>
      </p:sp>
      <p:sp>
        <p:nvSpPr>
          <p:cNvPr id="3" name="Shape 1"/>
          <p:cNvSpPr/>
          <p:nvPr/>
        </p:nvSpPr>
        <p:spPr>
          <a:xfrm>
            <a:off x="0" y="612648"/>
            <a:ext cx="9144000" cy="20117"/>
          </a:xfrm>
          <a:prstGeom prst="rect">
            <a:avLst/>
          </a:prstGeom>
          <a:solidFill>
            <a:srgbClr val="F6CD18"/>
          </a:solidFill>
          <a:ln w="12700">
            <a:solidFill>
              <a:srgbClr val="F6CD18"/>
            </a:solidFill>
            <a:prstDash val="solid"/>
          </a:ln>
        </p:spPr>
      </p:sp>
      <p:sp>
        <p:nvSpPr>
          <p:cNvPr id="4" name="Text 2"/>
          <p:cNvSpPr/>
          <p:nvPr/>
        </p:nvSpPr>
        <p:spPr>
          <a:xfrm>
            <a:off x="457200" y="0"/>
            <a:ext cx="8229600" cy="612648"/>
          </a:xfrm>
          <a:prstGeom prst="rect">
            <a:avLst/>
          </a:prstGeom>
          <a:noFill/>
          <a:ln/>
        </p:spPr>
        <p:txBody>
          <a:bodyPr wrap="square" lIns="0" tIns="0" rIns="0" bIns="0" rtlCol="0" anchor="ctr"/>
          <a:lstStyle/>
          <a:p>
            <a:pPr indent="0" marL="0">
              <a:buNone/>
            </a:pPr>
            <a:r>
              <a:rPr lang="en-US" sz="1100" b="1" spc="300" kern="0" dirty="0">
                <a:solidFill>
                  <a:srgbClr val="7ACED7"/>
                </a:solidFill>
                <a:latin typeface="Calibri" pitchFamily="34" charset="0"/>
                <a:ea typeface="Calibri" pitchFamily="34" charset="-122"/>
                <a:cs typeface="Calibri" pitchFamily="34" charset="-120"/>
              </a:rPr>
              <a:t>TIPS, BEST PRACTICES &amp; TROUBLESHOOTING</a:t>
            </a:r>
            <a:endParaRPr lang="en-US" sz="1100" dirty="0"/>
          </a:p>
        </p:txBody>
      </p:sp>
      <p:sp>
        <p:nvSpPr>
          <p:cNvPr id="5" name="Shape 3"/>
          <p:cNvSpPr/>
          <p:nvPr/>
        </p:nvSpPr>
        <p:spPr>
          <a:xfrm>
            <a:off x="365760" y="749808"/>
            <a:ext cx="3977640" cy="4041648"/>
          </a:xfrm>
          <a:prstGeom prst="rect">
            <a:avLst/>
          </a:prstGeom>
          <a:solidFill>
            <a:srgbClr val="111B2D"/>
          </a:solidFill>
          <a:ln w="12700">
            <a:solidFill>
              <a:srgbClr val="1E3050"/>
            </a:solidFill>
            <a:prstDash val="solid"/>
          </a:ln>
          <a:effectLst>
            <a:outerShdw sx="100000" sy="100000" kx="0" ky="0" algn="bl" rotWithShape="0" blurRad="177800" dist="50800" dir="8100000">
              <a:srgbClr val="000000">
                <a:alpha val="35000"/>
              </a:srgbClr>
            </a:outerShdw>
          </a:effectLst>
        </p:spPr>
      </p:sp>
      <p:sp>
        <p:nvSpPr>
          <p:cNvPr id="6" name="Shape 4"/>
          <p:cNvSpPr/>
          <p:nvPr/>
        </p:nvSpPr>
        <p:spPr>
          <a:xfrm>
            <a:off x="365760" y="749808"/>
            <a:ext cx="3977640" cy="50292"/>
          </a:xfrm>
          <a:prstGeom prst="rect">
            <a:avLst/>
          </a:prstGeom>
          <a:solidFill>
            <a:srgbClr val="3DD68C"/>
          </a:solidFill>
          <a:ln w="12700">
            <a:solidFill>
              <a:srgbClr val="3DD68C"/>
            </a:solidFill>
            <a:prstDash val="solid"/>
          </a:ln>
        </p:spPr>
      </p:sp>
      <p:sp>
        <p:nvSpPr>
          <p:cNvPr id="7" name="Text 5"/>
          <p:cNvSpPr/>
          <p:nvPr/>
        </p:nvSpPr>
        <p:spPr>
          <a:xfrm>
            <a:off x="502920" y="841248"/>
            <a:ext cx="3703320" cy="320040"/>
          </a:xfrm>
          <a:prstGeom prst="rect">
            <a:avLst/>
          </a:prstGeom>
          <a:noFill/>
          <a:ln/>
        </p:spPr>
        <p:txBody>
          <a:bodyPr wrap="square" lIns="0" tIns="0" rIns="0" bIns="0" rtlCol="0" anchor="ctr"/>
          <a:lstStyle/>
          <a:p>
            <a:pPr indent="0" marL="0">
              <a:buNone/>
            </a:pPr>
            <a:r>
              <a:rPr lang="en-US" sz="1200" b="1" dirty="0">
                <a:solidFill>
                  <a:srgbClr val="3DD68C"/>
                </a:solidFill>
                <a:latin typeface="Calibri" pitchFamily="34" charset="0"/>
                <a:ea typeface="Calibri" pitchFamily="34" charset="-122"/>
                <a:cs typeface="Calibri" pitchFamily="34" charset="-120"/>
              </a:rPr>
              <a:t>Best Practices</a:t>
            </a:r>
            <a:endParaRPr lang="en-US" sz="1200" dirty="0"/>
          </a:p>
        </p:txBody>
      </p:sp>
      <p:sp>
        <p:nvSpPr>
          <p:cNvPr id="8" name="Text 6"/>
          <p:cNvSpPr/>
          <p:nvPr/>
        </p:nvSpPr>
        <p:spPr>
          <a:xfrm>
            <a:off x="502920" y="1280160"/>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Always set title, url &amp; iconUrl labels -- Copilot requires all three</a:t>
            </a:r>
            <a:endParaRPr lang="en-US" sz="1050" dirty="0"/>
          </a:p>
        </p:txBody>
      </p:sp>
      <p:sp>
        <p:nvSpPr>
          <p:cNvPr id="9" name="Text 7"/>
          <p:cNvSpPr/>
          <p:nvPr/>
        </p:nvSpPr>
        <p:spPr>
          <a:xfrm>
            <a:off x="502920" y="1682496"/>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Put richest text in content -- this is what Copilot reads for answers</a:t>
            </a:r>
            <a:endParaRPr lang="en-US" sz="1050" dirty="0"/>
          </a:p>
        </p:txBody>
      </p:sp>
      <p:sp>
        <p:nvSpPr>
          <p:cNvPr id="10" name="Text 8"/>
          <p:cNvSpPr/>
          <p:nvPr/>
        </p:nvSpPr>
        <p:spPr>
          <a:xfrm>
            <a:off x="502920" y="2084832"/>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Dates must be ISO 8601 UTC: $date.ToString("o")</a:t>
            </a:r>
            <a:endParaRPr lang="en-US" sz="1050" dirty="0"/>
          </a:p>
        </p:txBody>
      </p:sp>
      <p:sp>
        <p:nvSpPr>
          <p:cNvPr id="11" name="Text 9"/>
          <p:cNvSpPr/>
          <p:nvPr/>
        </p:nvSpPr>
        <p:spPr>
          <a:xfrm>
            <a:off x="502920" y="2487168"/>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URLs must be absolute (https://) -- Copilot opens them</a:t>
            </a:r>
            <a:endParaRPr lang="en-US" sz="1050" dirty="0"/>
          </a:p>
        </p:txBody>
      </p:sp>
      <p:sp>
        <p:nvSpPr>
          <p:cNvPr id="12" name="Text 10"/>
          <p:cNvSpPr/>
          <p:nvPr/>
        </p:nvSpPr>
        <p:spPr>
          <a:xfrm>
            <a:off x="502920" y="2889504"/>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Schema cannot change after creation -- plan it carefully</a:t>
            </a:r>
            <a:endParaRPr lang="en-US" sz="1050" dirty="0"/>
          </a:p>
        </p:txBody>
      </p:sp>
      <p:sp>
        <p:nvSpPr>
          <p:cNvPr id="13" name="Text 11"/>
          <p:cNvSpPr/>
          <p:nvPr/>
        </p:nvSpPr>
        <p:spPr>
          <a:xfrm>
            <a:off x="502920" y="3291840"/>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Item IDs: no spaces, URL-safe. Use UrlEncode or regex replace</a:t>
            </a:r>
            <a:endParaRPr lang="en-US" sz="1050" dirty="0"/>
          </a:p>
        </p:txBody>
      </p:sp>
      <p:sp>
        <p:nvSpPr>
          <p:cNvPr id="14" name="Text 12"/>
          <p:cNvSpPr/>
          <p:nvPr/>
        </p:nvSpPr>
        <p:spPr>
          <a:xfrm>
            <a:off x="502920" y="3694176"/>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API allows 25 concurrent ops -- add Start-Sleep between batches</a:t>
            </a:r>
            <a:endParaRPr lang="en-US" sz="1050" dirty="0"/>
          </a:p>
        </p:txBody>
      </p:sp>
      <p:sp>
        <p:nvSpPr>
          <p:cNvPr id="15" name="Text 13"/>
          <p:cNvSpPr/>
          <p:nvPr/>
        </p:nvSpPr>
        <p:spPr>
          <a:xfrm>
            <a:off x="502920" y="4096512"/>
            <a:ext cx="3703320" cy="34747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 Store all secrets in env vars, Azure Key Vault or Automation Credentials</a:t>
            </a:r>
            <a:endParaRPr lang="en-US" sz="1050" dirty="0"/>
          </a:p>
        </p:txBody>
      </p:sp>
      <p:sp>
        <p:nvSpPr>
          <p:cNvPr id="16" name="Shape 14"/>
          <p:cNvSpPr/>
          <p:nvPr/>
        </p:nvSpPr>
        <p:spPr>
          <a:xfrm>
            <a:off x="4572000" y="749808"/>
            <a:ext cx="4160520" cy="4041648"/>
          </a:xfrm>
          <a:prstGeom prst="rect">
            <a:avLst/>
          </a:prstGeom>
          <a:solidFill>
            <a:srgbClr val="111B2D"/>
          </a:solidFill>
          <a:ln w="12700">
            <a:solidFill>
              <a:srgbClr val="1E3050"/>
            </a:solidFill>
            <a:prstDash val="solid"/>
          </a:ln>
          <a:effectLst>
            <a:outerShdw sx="100000" sy="100000" kx="0" ky="0" algn="bl" rotWithShape="0" blurRad="177800" dist="50800" dir="8100000">
              <a:srgbClr val="000000">
                <a:alpha val="35000"/>
              </a:srgbClr>
            </a:outerShdw>
          </a:effectLst>
        </p:spPr>
      </p:sp>
      <p:sp>
        <p:nvSpPr>
          <p:cNvPr id="17" name="Shape 15"/>
          <p:cNvSpPr/>
          <p:nvPr/>
        </p:nvSpPr>
        <p:spPr>
          <a:xfrm>
            <a:off x="4572000" y="749808"/>
            <a:ext cx="4160520" cy="50292"/>
          </a:xfrm>
          <a:prstGeom prst="rect">
            <a:avLst/>
          </a:prstGeom>
          <a:solidFill>
            <a:srgbClr val="EE2659"/>
          </a:solidFill>
          <a:ln w="12700">
            <a:solidFill>
              <a:srgbClr val="EE2659"/>
            </a:solidFill>
            <a:prstDash val="solid"/>
          </a:ln>
        </p:spPr>
      </p:sp>
      <p:sp>
        <p:nvSpPr>
          <p:cNvPr id="18" name="Text 16"/>
          <p:cNvSpPr/>
          <p:nvPr/>
        </p:nvSpPr>
        <p:spPr>
          <a:xfrm>
            <a:off x="4709160" y="841248"/>
            <a:ext cx="3886200" cy="320040"/>
          </a:xfrm>
          <a:prstGeom prst="rect">
            <a:avLst/>
          </a:prstGeom>
          <a:noFill/>
          <a:ln/>
        </p:spPr>
        <p:txBody>
          <a:bodyPr wrap="square" lIns="0" tIns="0" rIns="0" bIns="0" rtlCol="0" anchor="ctr"/>
          <a:lstStyle/>
          <a:p>
            <a:pPr indent="0" marL="0">
              <a:buNone/>
            </a:pPr>
            <a:r>
              <a:rPr lang="en-US" sz="1200" b="1" dirty="0">
                <a:solidFill>
                  <a:srgbClr val="EE2659"/>
                </a:solidFill>
                <a:latin typeface="Calibri" pitchFamily="34" charset="0"/>
                <a:ea typeface="Calibri" pitchFamily="34" charset="-122"/>
                <a:cs typeface="Calibri" pitchFamily="34" charset="-120"/>
              </a:rPr>
              <a:t>Troubleshooting</a:t>
            </a:r>
            <a:endParaRPr lang="en-US" sz="1200" dirty="0"/>
          </a:p>
        </p:txBody>
      </p:sp>
      <p:sp>
        <p:nvSpPr>
          <p:cNvPr id="19" name="Text 17"/>
          <p:cNvSpPr/>
          <p:nvPr/>
        </p:nvSpPr>
        <p:spPr>
          <a:xfrm>
            <a:off x="4709160" y="126187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403 Forbidden</a:t>
            </a:r>
            <a:endParaRPr lang="en-US" sz="1000" dirty="0"/>
          </a:p>
        </p:txBody>
      </p:sp>
      <p:sp>
        <p:nvSpPr>
          <p:cNvPr id="20" name="Text 18"/>
          <p:cNvSpPr/>
          <p:nvPr/>
        </p:nvSpPr>
        <p:spPr>
          <a:xfrm>
            <a:off x="4709160" y="147218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Re-run setup.ps1, grant admin consent in Entra portal</a:t>
            </a:r>
            <a:endParaRPr lang="en-US" sz="1000" dirty="0"/>
          </a:p>
        </p:txBody>
      </p:sp>
      <p:sp>
        <p:nvSpPr>
          <p:cNvPr id="21" name="Text 19"/>
          <p:cNvSpPr/>
          <p:nvPr/>
        </p:nvSpPr>
        <p:spPr>
          <a:xfrm>
            <a:off x="4709160" y="176479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Schema stuck on provisioning</a:t>
            </a:r>
            <a:endParaRPr lang="en-US" sz="1000" dirty="0"/>
          </a:p>
        </p:txBody>
      </p:sp>
      <p:sp>
        <p:nvSpPr>
          <p:cNvPr id="22" name="Text 20"/>
          <p:cNvSpPr/>
          <p:nvPr/>
        </p:nvSpPr>
        <p:spPr>
          <a:xfrm>
            <a:off x="4709160" y="197510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Normal -- wait up to 10 min, keep polling, do NOT restart</a:t>
            </a:r>
            <a:endParaRPr lang="en-US" sz="1000" dirty="0"/>
          </a:p>
        </p:txBody>
      </p:sp>
      <p:sp>
        <p:nvSpPr>
          <p:cNvPr id="23" name="Text 21"/>
          <p:cNvSpPr/>
          <p:nvPr/>
        </p:nvSpPr>
        <p:spPr>
          <a:xfrm>
            <a:off x="4709160" y="226771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Items not in Copilot</a:t>
            </a:r>
            <a:endParaRPr lang="en-US" sz="1000" dirty="0"/>
          </a:p>
        </p:txBody>
      </p:sp>
      <p:sp>
        <p:nvSpPr>
          <p:cNvPr id="24" name="Text 22"/>
          <p:cNvSpPr/>
          <p:nvPr/>
        </p:nvSpPr>
        <p:spPr>
          <a:xfrm>
            <a:off x="4709160" y="247802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Enable 'Show results inline' in M365 Admin Center</a:t>
            </a:r>
            <a:endParaRPr lang="en-US" sz="1000" dirty="0"/>
          </a:p>
        </p:txBody>
      </p:sp>
      <p:sp>
        <p:nvSpPr>
          <p:cNvPr id="25" name="Text 23"/>
          <p:cNvSpPr/>
          <p:nvPr/>
        </p:nvSpPr>
        <p:spPr>
          <a:xfrm>
            <a:off x="4709160" y="277063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Items in Search, no snippet</a:t>
            </a:r>
            <a:endParaRPr lang="en-US" sz="1000" dirty="0"/>
          </a:p>
        </p:txBody>
      </p:sp>
      <p:sp>
        <p:nvSpPr>
          <p:cNvPr id="26" name="Text 24"/>
          <p:cNvSpPr/>
          <p:nvPr/>
        </p:nvSpPr>
        <p:spPr>
          <a:xfrm>
            <a:off x="4709160" y="298094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content property is missing or empty -- populate it</a:t>
            </a:r>
            <a:endParaRPr lang="en-US" sz="1000" dirty="0"/>
          </a:p>
        </p:txBody>
      </p:sp>
      <p:sp>
        <p:nvSpPr>
          <p:cNvPr id="27" name="Text 25"/>
          <p:cNvSpPr/>
          <p:nvPr/>
        </p:nvSpPr>
        <p:spPr>
          <a:xfrm>
            <a:off x="4709160" y="327355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iconUrl missing in results</a:t>
            </a:r>
            <a:endParaRPr lang="en-US" sz="1000" dirty="0"/>
          </a:p>
        </p:txBody>
      </p:sp>
      <p:sp>
        <p:nvSpPr>
          <p:cNvPr id="28" name="Text 26"/>
          <p:cNvSpPr/>
          <p:nvPr/>
        </p:nvSpPr>
        <p:spPr>
          <a:xfrm>
            <a:off x="4709160" y="348386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Label not applied to schema -- delete connection and recreate</a:t>
            </a:r>
            <a:endParaRPr lang="en-US" sz="1000" dirty="0"/>
          </a:p>
        </p:txBody>
      </p:sp>
      <p:sp>
        <p:nvSpPr>
          <p:cNvPr id="29" name="Text 27"/>
          <p:cNvSpPr/>
          <p:nvPr/>
        </p:nvSpPr>
        <p:spPr>
          <a:xfrm>
            <a:off x="4709160" y="3776472"/>
            <a:ext cx="3886200" cy="201168"/>
          </a:xfrm>
          <a:prstGeom prst="rect">
            <a:avLst/>
          </a:prstGeom>
          <a:noFill/>
          <a:ln/>
        </p:spPr>
        <p:txBody>
          <a:bodyPr wrap="square" lIns="0" tIns="0" rIns="0" bIns="0" rtlCol="0" anchor="ctr"/>
          <a:lstStyle/>
          <a:p>
            <a:pPr indent="0" marL="0">
              <a:buNone/>
            </a:pPr>
            <a:r>
              <a:rPr lang="en-US" sz="1000" b="1" dirty="0">
                <a:solidFill>
                  <a:srgbClr val="EE2659"/>
                </a:solidFill>
                <a:latin typeface="Calibri" pitchFamily="34" charset="0"/>
                <a:ea typeface="Calibri" pitchFamily="34" charset="-122"/>
                <a:cs typeface="Calibri" pitchFamily="34" charset="-120"/>
              </a:rPr>
              <a:t>Rate limit errors</a:t>
            </a:r>
            <a:endParaRPr lang="en-US" sz="1000" dirty="0"/>
          </a:p>
        </p:txBody>
      </p:sp>
      <p:sp>
        <p:nvSpPr>
          <p:cNvPr id="30" name="Text 28"/>
          <p:cNvSpPr/>
          <p:nvPr/>
        </p:nvSpPr>
        <p:spPr>
          <a:xfrm>
            <a:off x="4709160" y="3986784"/>
            <a:ext cx="388620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=&gt; Add Start-Sleep between batches; don't parallelise aggressively</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6CD18"/>
          </a:solidFill>
          <a:ln w="12700">
            <a:solidFill>
              <a:srgbClr val="F6CD18"/>
            </a:solidFill>
            <a:prstDash val="solid"/>
          </a:ln>
        </p:spPr>
      </p:sp>
      <p:sp>
        <p:nvSpPr>
          <p:cNvPr id="3" name="Text 1"/>
          <p:cNvSpPr/>
          <p:nvPr/>
        </p:nvSpPr>
        <p:spPr>
          <a:xfrm>
            <a:off x="457200" y="320040"/>
            <a:ext cx="5212080" cy="347472"/>
          </a:xfrm>
          <a:prstGeom prst="rect">
            <a:avLst/>
          </a:prstGeom>
          <a:noFill/>
          <a:ln/>
        </p:spPr>
        <p:txBody>
          <a:bodyPr wrap="square" lIns="0" tIns="0" rIns="0" bIns="0" rtlCol="0" anchor="ctr"/>
          <a:lstStyle/>
          <a:p>
            <a:pPr indent="0" marL="0">
              <a:buNone/>
            </a:pPr>
            <a:r>
              <a:rPr lang="en-US" sz="1000" b="1" spc="400" kern="0" dirty="0">
                <a:solidFill>
                  <a:srgbClr val="F6CD18"/>
                </a:solidFill>
                <a:latin typeface="Calibri" pitchFamily="34" charset="0"/>
                <a:ea typeface="Calibri" pitchFamily="34" charset="-122"/>
                <a:cs typeface="Calibri" pitchFamily="34" charset="-120"/>
              </a:rPr>
              <a:t>KEY TAKEAWAYS</a:t>
            </a:r>
            <a:endParaRPr lang="en-US" sz="1000" dirty="0"/>
          </a:p>
        </p:txBody>
      </p:sp>
      <p:sp>
        <p:nvSpPr>
          <p:cNvPr id="4" name="Shape 2"/>
          <p:cNvSpPr/>
          <p:nvPr/>
        </p:nvSpPr>
        <p:spPr>
          <a:xfrm>
            <a:off x="457200" y="777240"/>
            <a:ext cx="5212080" cy="749808"/>
          </a:xfrm>
          <a:prstGeom prst="rect">
            <a:avLst/>
          </a:prstGeom>
          <a:solidFill>
            <a:srgbClr val="111B2D"/>
          </a:solidFill>
          <a:ln w="12700">
            <a:solidFill>
              <a:srgbClr val="1E3050"/>
            </a:solidFill>
            <a:prstDash val="solid"/>
          </a:ln>
        </p:spPr>
      </p:sp>
      <p:sp>
        <p:nvSpPr>
          <p:cNvPr id="5" name="Shape 3"/>
          <p:cNvSpPr/>
          <p:nvPr/>
        </p:nvSpPr>
        <p:spPr>
          <a:xfrm>
            <a:off x="457200" y="777240"/>
            <a:ext cx="50292" cy="749808"/>
          </a:xfrm>
          <a:prstGeom prst="rect">
            <a:avLst/>
          </a:prstGeom>
          <a:solidFill>
            <a:srgbClr val="F6CD18"/>
          </a:solidFill>
          <a:ln w="12700">
            <a:solidFill>
              <a:srgbClr val="F6CD18"/>
            </a:solidFill>
            <a:prstDash val="solid"/>
          </a:ln>
        </p:spPr>
      </p:sp>
      <p:sp>
        <p:nvSpPr>
          <p:cNvPr id="6" name="Shape 4"/>
          <p:cNvSpPr/>
          <p:nvPr/>
        </p:nvSpPr>
        <p:spPr>
          <a:xfrm>
            <a:off x="594360" y="950976"/>
            <a:ext cx="384048" cy="384048"/>
          </a:xfrm>
          <a:prstGeom prst="ellipse">
            <a:avLst/>
          </a:prstGeom>
          <a:solidFill>
            <a:srgbClr val="F6CD18"/>
          </a:solidFill>
          <a:ln w="12700">
            <a:solidFill>
              <a:srgbClr val="F6CD18"/>
            </a:solidFill>
            <a:prstDash val="solid"/>
          </a:ln>
        </p:spPr>
      </p:sp>
      <p:sp>
        <p:nvSpPr>
          <p:cNvPr id="7" name="Text 5"/>
          <p:cNvSpPr/>
          <p:nvPr/>
        </p:nvSpPr>
        <p:spPr>
          <a:xfrm>
            <a:off x="594360" y="950976"/>
            <a:ext cx="384048" cy="384048"/>
          </a:xfrm>
          <a:prstGeom prst="rect">
            <a:avLst/>
          </a:prstGeom>
          <a:noFill/>
          <a:ln/>
        </p:spPr>
        <p:txBody>
          <a:bodyPr wrap="square" lIns="0" tIns="0" rIns="0" bIns="0" rtlCol="0" anchor="ctr"/>
          <a:lstStyle/>
          <a:p>
            <a:pPr algn="ctr" indent="0" marL="0">
              <a:buNone/>
            </a:pPr>
            <a:r>
              <a:rPr lang="en-US" sz="1400" b="1" dirty="0">
                <a:solidFill>
                  <a:srgbClr val="0A0F1A"/>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841248"/>
            <a:ext cx="4434840"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PowerShell + Graph SDK = your connector. No C#, no Azure Functions, no frameworks.</a:t>
            </a:r>
            <a:endParaRPr lang="en-US" sz="1100" dirty="0"/>
          </a:p>
        </p:txBody>
      </p:sp>
      <p:sp>
        <p:nvSpPr>
          <p:cNvPr id="9" name="Shape 7"/>
          <p:cNvSpPr/>
          <p:nvPr/>
        </p:nvSpPr>
        <p:spPr>
          <a:xfrm>
            <a:off x="457200" y="1664208"/>
            <a:ext cx="5212080" cy="749808"/>
          </a:xfrm>
          <a:prstGeom prst="rect">
            <a:avLst/>
          </a:prstGeom>
          <a:solidFill>
            <a:srgbClr val="111B2D"/>
          </a:solidFill>
          <a:ln w="12700">
            <a:solidFill>
              <a:srgbClr val="1E3050"/>
            </a:solidFill>
            <a:prstDash val="solid"/>
          </a:ln>
        </p:spPr>
      </p:sp>
      <p:sp>
        <p:nvSpPr>
          <p:cNvPr id="10" name="Shape 8"/>
          <p:cNvSpPr/>
          <p:nvPr/>
        </p:nvSpPr>
        <p:spPr>
          <a:xfrm>
            <a:off x="457200" y="1664208"/>
            <a:ext cx="50292" cy="749808"/>
          </a:xfrm>
          <a:prstGeom prst="rect">
            <a:avLst/>
          </a:prstGeom>
          <a:solidFill>
            <a:srgbClr val="F6CD18"/>
          </a:solidFill>
          <a:ln w="12700">
            <a:solidFill>
              <a:srgbClr val="F6CD18"/>
            </a:solidFill>
            <a:prstDash val="solid"/>
          </a:ln>
        </p:spPr>
      </p:sp>
      <p:sp>
        <p:nvSpPr>
          <p:cNvPr id="11" name="Shape 9"/>
          <p:cNvSpPr/>
          <p:nvPr/>
        </p:nvSpPr>
        <p:spPr>
          <a:xfrm>
            <a:off x="594360" y="1837944"/>
            <a:ext cx="384048" cy="384048"/>
          </a:xfrm>
          <a:prstGeom prst="ellipse">
            <a:avLst/>
          </a:prstGeom>
          <a:solidFill>
            <a:srgbClr val="F6CD18"/>
          </a:solidFill>
          <a:ln w="12700">
            <a:solidFill>
              <a:srgbClr val="F6CD18"/>
            </a:solidFill>
            <a:prstDash val="solid"/>
          </a:ln>
        </p:spPr>
      </p:sp>
      <p:sp>
        <p:nvSpPr>
          <p:cNvPr id="12" name="Text 10"/>
          <p:cNvSpPr/>
          <p:nvPr/>
        </p:nvSpPr>
        <p:spPr>
          <a:xfrm>
            <a:off x="594360" y="1837944"/>
            <a:ext cx="384048" cy="384048"/>
          </a:xfrm>
          <a:prstGeom prst="rect">
            <a:avLst/>
          </a:prstGeom>
          <a:noFill/>
          <a:ln/>
        </p:spPr>
        <p:txBody>
          <a:bodyPr wrap="square" lIns="0" tIns="0" rIns="0" bIns="0" rtlCol="0" anchor="ctr"/>
          <a:lstStyle/>
          <a:p>
            <a:pPr algn="ctr" indent="0" marL="0">
              <a:buNone/>
            </a:pPr>
            <a:r>
              <a:rPr lang="en-US" sz="1400" b="1" dirty="0">
                <a:solidFill>
                  <a:srgbClr val="0A0F1A"/>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097280" y="1728216"/>
            <a:ext cx="4434840"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4 steps: App =&gt; Connection =&gt; Schema =&gt; Push Items. Same pattern for every data source.</a:t>
            </a:r>
            <a:endParaRPr lang="en-US" sz="1100" dirty="0"/>
          </a:p>
        </p:txBody>
      </p:sp>
      <p:sp>
        <p:nvSpPr>
          <p:cNvPr id="14" name="Shape 12"/>
          <p:cNvSpPr/>
          <p:nvPr/>
        </p:nvSpPr>
        <p:spPr>
          <a:xfrm>
            <a:off x="457200" y="2551176"/>
            <a:ext cx="5212080" cy="749808"/>
          </a:xfrm>
          <a:prstGeom prst="rect">
            <a:avLst/>
          </a:prstGeom>
          <a:solidFill>
            <a:srgbClr val="111B2D"/>
          </a:solidFill>
          <a:ln w="12700">
            <a:solidFill>
              <a:srgbClr val="1E3050"/>
            </a:solidFill>
            <a:prstDash val="solid"/>
          </a:ln>
        </p:spPr>
      </p:sp>
      <p:sp>
        <p:nvSpPr>
          <p:cNvPr id="15" name="Shape 13"/>
          <p:cNvSpPr/>
          <p:nvPr/>
        </p:nvSpPr>
        <p:spPr>
          <a:xfrm>
            <a:off x="457200" y="2551176"/>
            <a:ext cx="50292" cy="749808"/>
          </a:xfrm>
          <a:prstGeom prst="rect">
            <a:avLst/>
          </a:prstGeom>
          <a:solidFill>
            <a:srgbClr val="F6CD18"/>
          </a:solidFill>
          <a:ln w="12700">
            <a:solidFill>
              <a:srgbClr val="F6CD18"/>
            </a:solidFill>
            <a:prstDash val="solid"/>
          </a:ln>
        </p:spPr>
      </p:sp>
      <p:sp>
        <p:nvSpPr>
          <p:cNvPr id="16" name="Shape 14"/>
          <p:cNvSpPr/>
          <p:nvPr/>
        </p:nvSpPr>
        <p:spPr>
          <a:xfrm>
            <a:off x="594360" y="2724912"/>
            <a:ext cx="384048" cy="384048"/>
          </a:xfrm>
          <a:prstGeom prst="ellipse">
            <a:avLst/>
          </a:prstGeom>
          <a:solidFill>
            <a:srgbClr val="F6CD18"/>
          </a:solidFill>
          <a:ln w="12700">
            <a:solidFill>
              <a:srgbClr val="F6CD18"/>
            </a:solidFill>
            <a:prstDash val="solid"/>
          </a:ln>
        </p:spPr>
      </p:sp>
      <p:sp>
        <p:nvSpPr>
          <p:cNvPr id="17" name="Text 15"/>
          <p:cNvSpPr/>
          <p:nvPr/>
        </p:nvSpPr>
        <p:spPr>
          <a:xfrm>
            <a:off x="594360" y="2724912"/>
            <a:ext cx="384048" cy="384048"/>
          </a:xfrm>
          <a:prstGeom prst="rect">
            <a:avLst/>
          </a:prstGeom>
          <a:noFill/>
          <a:ln/>
        </p:spPr>
        <p:txBody>
          <a:bodyPr wrap="square" lIns="0" tIns="0" rIns="0" bIns="0" rtlCol="0" anchor="ctr"/>
          <a:lstStyle/>
          <a:p>
            <a:pPr algn="ctr" indent="0" marL="0">
              <a:buNone/>
            </a:pPr>
            <a:r>
              <a:rPr lang="en-US" sz="1400" b="1" dirty="0">
                <a:solidFill>
                  <a:srgbClr val="0A0F1A"/>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97280" y="2615184"/>
            <a:ext cx="4434840"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 content property is everything. Rich text = better Copilot answers with citations.</a:t>
            </a:r>
            <a:endParaRPr lang="en-US" sz="1100" dirty="0"/>
          </a:p>
        </p:txBody>
      </p:sp>
      <p:sp>
        <p:nvSpPr>
          <p:cNvPr id="19" name="Shape 17"/>
          <p:cNvSpPr/>
          <p:nvPr/>
        </p:nvSpPr>
        <p:spPr>
          <a:xfrm>
            <a:off x="457200" y="3438144"/>
            <a:ext cx="5212080" cy="749808"/>
          </a:xfrm>
          <a:prstGeom prst="rect">
            <a:avLst/>
          </a:prstGeom>
          <a:solidFill>
            <a:srgbClr val="111B2D"/>
          </a:solidFill>
          <a:ln w="12700">
            <a:solidFill>
              <a:srgbClr val="1E3050"/>
            </a:solidFill>
            <a:prstDash val="solid"/>
          </a:ln>
        </p:spPr>
      </p:sp>
      <p:sp>
        <p:nvSpPr>
          <p:cNvPr id="20" name="Shape 18"/>
          <p:cNvSpPr/>
          <p:nvPr/>
        </p:nvSpPr>
        <p:spPr>
          <a:xfrm>
            <a:off x="457200" y="3438144"/>
            <a:ext cx="50292" cy="749808"/>
          </a:xfrm>
          <a:prstGeom prst="rect">
            <a:avLst/>
          </a:prstGeom>
          <a:solidFill>
            <a:srgbClr val="F6CD18"/>
          </a:solidFill>
          <a:ln w="12700">
            <a:solidFill>
              <a:srgbClr val="F6CD18"/>
            </a:solidFill>
            <a:prstDash val="solid"/>
          </a:ln>
        </p:spPr>
      </p:sp>
      <p:sp>
        <p:nvSpPr>
          <p:cNvPr id="21" name="Shape 19"/>
          <p:cNvSpPr/>
          <p:nvPr/>
        </p:nvSpPr>
        <p:spPr>
          <a:xfrm>
            <a:off x="594360" y="3611880"/>
            <a:ext cx="384048" cy="384048"/>
          </a:xfrm>
          <a:prstGeom prst="ellipse">
            <a:avLst/>
          </a:prstGeom>
          <a:solidFill>
            <a:srgbClr val="F6CD18"/>
          </a:solidFill>
          <a:ln w="12700">
            <a:solidFill>
              <a:srgbClr val="F6CD18"/>
            </a:solidFill>
            <a:prstDash val="solid"/>
          </a:ln>
        </p:spPr>
      </p:sp>
      <p:sp>
        <p:nvSpPr>
          <p:cNvPr id="22" name="Text 20"/>
          <p:cNvSpPr/>
          <p:nvPr/>
        </p:nvSpPr>
        <p:spPr>
          <a:xfrm>
            <a:off x="594360" y="3611880"/>
            <a:ext cx="384048" cy="384048"/>
          </a:xfrm>
          <a:prstGeom prst="rect">
            <a:avLst/>
          </a:prstGeom>
          <a:noFill/>
          <a:ln/>
        </p:spPr>
        <p:txBody>
          <a:bodyPr wrap="square" lIns="0" tIns="0" rIns="0" bIns="0" rtlCol="0" anchor="ctr"/>
          <a:lstStyle/>
          <a:p>
            <a:pPr algn="ctr" indent="0" marL="0">
              <a:buNone/>
            </a:pPr>
            <a:r>
              <a:rPr lang="en-US" sz="1400" b="1" dirty="0">
                <a:solidFill>
                  <a:srgbClr val="0A0F1A"/>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097280" y="3502152"/>
            <a:ext cx="4434840" cy="621792"/>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ACL is your security layer. Users only see items they are authorised to see.</a:t>
            </a:r>
            <a:endParaRPr lang="en-US" sz="1100" dirty="0"/>
          </a:p>
        </p:txBody>
      </p:sp>
      <p:sp>
        <p:nvSpPr>
          <p:cNvPr id="24" name="Shape 22"/>
          <p:cNvSpPr/>
          <p:nvPr/>
        </p:nvSpPr>
        <p:spPr>
          <a:xfrm>
            <a:off x="5989320" y="320040"/>
            <a:ext cx="2816352" cy="4160520"/>
          </a:xfrm>
          <a:prstGeom prst="rect">
            <a:avLst/>
          </a:prstGeom>
          <a:solidFill>
            <a:srgbClr val="111B2D"/>
          </a:solidFill>
          <a:ln w="12700">
            <a:solidFill>
              <a:srgbClr val="1E3050"/>
            </a:solidFill>
            <a:prstDash val="solid"/>
          </a:ln>
        </p:spPr>
      </p:sp>
      <p:sp>
        <p:nvSpPr>
          <p:cNvPr id="25" name="Shape 23"/>
          <p:cNvSpPr/>
          <p:nvPr/>
        </p:nvSpPr>
        <p:spPr>
          <a:xfrm>
            <a:off x="5989320" y="320040"/>
            <a:ext cx="2816352" cy="50292"/>
          </a:xfrm>
          <a:prstGeom prst="rect">
            <a:avLst/>
          </a:prstGeom>
          <a:solidFill>
            <a:srgbClr val="7ACED7"/>
          </a:solidFill>
          <a:ln w="12700">
            <a:solidFill>
              <a:srgbClr val="7ACED7"/>
            </a:solidFill>
            <a:prstDash val="solid"/>
          </a:ln>
        </p:spPr>
      </p:sp>
      <p:sp>
        <p:nvSpPr>
          <p:cNvPr id="26" name="Text 24"/>
          <p:cNvSpPr/>
          <p:nvPr/>
        </p:nvSpPr>
        <p:spPr>
          <a:xfrm>
            <a:off x="6126480" y="411480"/>
            <a:ext cx="2560320" cy="301752"/>
          </a:xfrm>
          <a:prstGeom prst="rect">
            <a:avLst/>
          </a:prstGeom>
          <a:noFill/>
          <a:ln/>
        </p:spPr>
        <p:txBody>
          <a:bodyPr wrap="square" lIns="0" tIns="0" rIns="0" bIns="0" rtlCol="0" anchor="ctr"/>
          <a:lstStyle/>
          <a:p>
            <a:pPr indent="0" marL="0">
              <a:buNone/>
            </a:pPr>
            <a:r>
              <a:rPr lang="en-US" sz="1000" b="1" spc="300" kern="0" dirty="0">
                <a:solidFill>
                  <a:srgbClr val="7ACED7"/>
                </a:solidFill>
                <a:latin typeface="Calibri" pitchFamily="34" charset="0"/>
                <a:ea typeface="Calibri" pitchFamily="34" charset="-122"/>
                <a:cs typeface="Calibri" pitchFamily="34" charset="-120"/>
              </a:rPr>
              <a:t>RESOURCES</a:t>
            </a:r>
            <a:endParaRPr lang="en-US" sz="1000" dirty="0"/>
          </a:p>
        </p:txBody>
      </p:sp>
      <p:sp>
        <p:nvSpPr>
          <p:cNvPr id="27" name="Text 25"/>
          <p:cNvSpPr/>
          <p:nvPr/>
        </p:nvSpPr>
        <p:spPr>
          <a:xfrm>
            <a:off x="6126480" y="868680"/>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Copilot Connectors overview</a:t>
            </a:r>
            <a:endParaRPr lang="en-US" sz="950" dirty="0"/>
          </a:p>
        </p:txBody>
      </p:sp>
      <p:sp>
        <p:nvSpPr>
          <p:cNvPr id="28" name="Text 26"/>
          <p:cNvSpPr/>
          <p:nvPr/>
        </p:nvSpPr>
        <p:spPr>
          <a:xfrm>
            <a:off x="6126480" y="1298448"/>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Connectors API overview</a:t>
            </a:r>
            <a:endParaRPr lang="en-US" sz="950" dirty="0"/>
          </a:p>
        </p:txBody>
      </p:sp>
      <p:sp>
        <p:nvSpPr>
          <p:cNvPr id="29" name="Text 27"/>
          <p:cNvSpPr/>
          <p:nvPr/>
        </p:nvSpPr>
        <p:spPr>
          <a:xfrm>
            <a:off x="6126480" y="1728216"/>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Graph PowerShell SDK (GitHub)</a:t>
            </a:r>
            <a:endParaRPr lang="en-US" sz="950" dirty="0"/>
          </a:p>
        </p:txBody>
      </p:sp>
      <p:sp>
        <p:nvSpPr>
          <p:cNvPr id="30" name="Text 28"/>
          <p:cNvSpPr/>
          <p:nvPr/>
        </p:nvSpPr>
        <p:spPr>
          <a:xfrm>
            <a:off x="6126480" y="2157984"/>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PnP Connectors Samples</a:t>
            </a:r>
            <a:endParaRPr lang="en-US" sz="950" dirty="0"/>
          </a:p>
        </p:txBody>
      </p:sp>
      <p:sp>
        <p:nvSpPr>
          <p:cNvPr id="31" name="Text 29"/>
          <p:cNvSpPr/>
          <p:nvPr/>
        </p:nvSpPr>
        <p:spPr>
          <a:xfrm>
            <a:off x="6126480" y="2587752"/>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PS + Markdown files sample</a:t>
            </a:r>
            <a:endParaRPr lang="en-US" sz="950" dirty="0"/>
          </a:p>
        </p:txBody>
      </p:sp>
      <p:sp>
        <p:nvSpPr>
          <p:cNvPr id="32" name="Text 30"/>
          <p:cNvSpPr/>
          <p:nvPr/>
        </p:nvSpPr>
        <p:spPr>
          <a:xfrm>
            <a:off x="6126480" y="3017520"/>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Dev Blog: Build a connector</a:t>
            </a:r>
            <a:endParaRPr lang="en-US" sz="950" dirty="0"/>
          </a:p>
        </p:txBody>
      </p:sp>
      <p:sp>
        <p:nvSpPr>
          <p:cNvPr id="33" name="Text 31"/>
          <p:cNvSpPr/>
          <p:nvPr/>
        </p:nvSpPr>
        <p:spPr>
          <a:xfrm>
            <a:off x="6126480" y="3447288"/>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Anatomy of a Graph connector</a:t>
            </a:r>
            <a:endParaRPr lang="en-US" sz="950" dirty="0"/>
          </a:p>
        </p:txBody>
      </p:sp>
      <p:sp>
        <p:nvSpPr>
          <p:cNvPr id="34" name="Text 32"/>
          <p:cNvSpPr/>
          <p:nvPr/>
        </p:nvSpPr>
        <p:spPr>
          <a:xfrm>
            <a:off x="6126480" y="3877056"/>
            <a:ext cx="2578608" cy="384048"/>
          </a:xfrm>
          <a:prstGeom prst="rect">
            <a:avLst/>
          </a:prstGeom>
          <a:noFill/>
          <a:ln/>
        </p:spPr>
        <p:txBody>
          <a:bodyPr wrap="square" lIns="0" tIns="0" rIns="0" bIns="0" rtlCol="0" anchor="ctr"/>
          <a:lstStyle/>
          <a:p>
            <a:pPr indent="0" marL="0">
              <a:buNone/>
            </a:pPr>
            <a:r>
              <a:rPr lang="en-US" sz="950" dirty="0">
                <a:solidFill>
                  <a:srgbClr val="8A9BB5"/>
                </a:solidFill>
                <a:latin typeface="Calibri" pitchFamily="34" charset="0"/>
                <a:ea typeface="Calibri" pitchFamily="34" charset="-122"/>
                <a:cs typeface="Calibri" pitchFamily="34" charset="-120"/>
              </a:rPr>
              <a:t>=&gt; Deploy connectors -- Admin Center</a:t>
            </a:r>
            <a:endParaRPr lang="en-US" sz="950" dirty="0"/>
          </a:p>
        </p:txBody>
      </p:sp>
      <p:sp>
        <p:nvSpPr>
          <p:cNvPr id="35" name="Shape 33"/>
          <p:cNvSpPr/>
          <p:nvPr/>
        </p:nvSpPr>
        <p:spPr>
          <a:xfrm>
            <a:off x="5989320" y="4151376"/>
            <a:ext cx="2816352" cy="658368"/>
          </a:xfrm>
          <a:prstGeom prst="rect">
            <a:avLst/>
          </a:prstGeom>
          <a:solidFill>
            <a:srgbClr val="F6CD18"/>
          </a:solidFill>
          <a:ln w="12700">
            <a:solidFill>
              <a:srgbClr val="F6CD18"/>
            </a:solidFill>
            <a:prstDash val="solid"/>
          </a:ln>
        </p:spPr>
      </p:sp>
      <p:sp>
        <p:nvSpPr>
          <p:cNvPr id="36" name="Text 34"/>
          <p:cNvSpPr/>
          <p:nvPr/>
        </p:nvSpPr>
        <p:spPr>
          <a:xfrm>
            <a:off x="6035040" y="4169664"/>
            <a:ext cx="2724912" cy="621792"/>
          </a:xfrm>
          <a:prstGeom prst="rect">
            <a:avLst/>
          </a:prstGeom>
          <a:noFill/>
          <a:ln/>
        </p:spPr>
        <p:txBody>
          <a:bodyPr wrap="square" lIns="0" tIns="0" rIns="0" bIns="0" rtlCol="0" anchor="ctr"/>
          <a:lstStyle/>
          <a:p>
            <a:pPr algn="ctr" indent="0" marL="0">
              <a:buNone/>
            </a:pPr>
            <a:r>
              <a:rPr lang="en-US" sz="2000" b="1" dirty="0">
                <a:solidFill>
                  <a:srgbClr val="0A0F1A"/>
                </a:solidFill>
                <a:latin typeface="Calibri" pitchFamily="34" charset="0"/>
                <a:ea typeface="Calibri" pitchFamily="34" charset="-122"/>
                <a:cs typeface="Calibri" pitchFamily="34" charset="-120"/>
              </a:rPr>
              <a:t>Questions?</a:t>
            </a:r>
            <a:endParaRPr lang="en-US" sz="2000" dirty="0"/>
          </a:p>
        </p:txBody>
      </p:sp>
      <p:sp>
        <p:nvSpPr>
          <p:cNvPr id="37" name="Shape 35"/>
          <p:cNvSpPr/>
          <p:nvPr/>
        </p:nvSpPr>
        <p:spPr>
          <a:xfrm>
            <a:off x="0" y="4754880"/>
            <a:ext cx="9144000" cy="388620"/>
          </a:xfrm>
          <a:prstGeom prst="rect">
            <a:avLst/>
          </a:prstGeom>
          <a:solidFill>
            <a:srgbClr val="0D1520"/>
          </a:solidFill>
          <a:ln w="12700">
            <a:solidFill>
              <a:srgbClr val="0D1520"/>
            </a:solidFill>
            <a:prstDash val="solid"/>
          </a:ln>
        </p:spPr>
      </p:sp>
      <p:sp>
        <p:nvSpPr>
          <p:cNvPr id="38" name="Shape 36"/>
          <p:cNvSpPr/>
          <p:nvPr/>
        </p:nvSpPr>
        <p:spPr>
          <a:xfrm>
            <a:off x="0" y="4754880"/>
            <a:ext cx="9144000" cy="22860"/>
          </a:xfrm>
          <a:prstGeom prst="rect">
            <a:avLst/>
          </a:prstGeom>
          <a:solidFill>
            <a:srgbClr val="F6CD18"/>
          </a:solidFill>
          <a:ln w="12700">
            <a:solidFill>
              <a:srgbClr val="F6CD18"/>
            </a:solidFill>
            <a:prstDash val="solid"/>
          </a:ln>
        </p:spPr>
      </p:sp>
      <p:sp>
        <p:nvSpPr>
          <p:cNvPr id="39" name="Text 37"/>
          <p:cNvSpPr/>
          <p:nvPr/>
        </p:nvSpPr>
        <p:spPr>
          <a:xfrm>
            <a:off x="274320" y="4791456"/>
            <a:ext cx="8595360" cy="347472"/>
          </a:xfrm>
          <a:prstGeom prst="rect">
            <a:avLst/>
          </a:prstGeom>
          <a:noFill/>
          <a:ln/>
        </p:spPr>
        <p:txBody>
          <a:bodyPr wrap="square" lIns="0" tIns="0" rIns="0" bIns="0" rtlCol="0" anchor="ctr"/>
          <a:lstStyle/>
          <a:p>
            <a:pPr algn="ctr" indent="0" marL="0">
              <a:buNone/>
            </a:pPr>
            <a:r>
              <a:rPr lang="en-US" sz="950" dirty="0">
                <a:solidFill>
                  <a:srgbClr val="8A9BB5"/>
                </a:solidFill>
                <a:latin typeface="Calibri" pitchFamily="34" charset="0"/>
                <a:ea typeface="Calibri" pitchFamily="34" charset="-122"/>
                <a:cs typeface="Calibri" pitchFamily="34" charset="-120"/>
              </a:rPr>
              <a:t>PowerShell Meets Copilot  |  Feeding AI with Your Own Data  |  Full guide + all scripts in companion markdown file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PowerShell Meets Copilot: Feeding AI with Your Own Data</dc:title>
  <dc:subject>PptxGenJS Presentation</dc:subject>
  <dc:creator>Rodrigo</dc:creator>
  <cp:lastModifiedBy>Rodrigo</cp:lastModifiedBy>
  <cp:revision>1</cp:revision>
  <dcterms:created xsi:type="dcterms:W3CDTF">2026-04-29T08:30:38Z</dcterms:created>
  <dcterms:modified xsi:type="dcterms:W3CDTF">2026-04-29T08:30:38Z</dcterms:modified>
</cp:coreProperties>
</file>